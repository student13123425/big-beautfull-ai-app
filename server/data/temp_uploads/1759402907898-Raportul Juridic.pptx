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0.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9.xml" ContentType="application/vnd.openxmlformats-officedocument.presentationml.slide+xml"/>
  <Override PartName="/ppt/slides/slide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61" r:id="rId4"/>
    <p:sldId id="263" r:id="rId5"/>
    <p:sldId id="265" r:id="rId6"/>
    <p:sldId id="267" r:id="rId7"/>
    <p:sldId id="269" r:id="rId8"/>
    <p:sldId id="271" r:id="rId9"/>
    <p:sldId id="273" r:id="rId10"/>
    <p:sldId id="274" r:id="rId11"/>
    <p:sldId id="276" r:id="rId12"/>
    <p:sldId id="279" r:id="rId13"/>
    <p:sldId id="281" r:id="rId14"/>
    <p:sldId id="283" r:id="rId15"/>
    <p:sldId id="285" r:id="rId16"/>
    <p:sldId id="288" r:id="rId17"/>
    <p:sldId id="289" r:id="rId18"/>
    <p:sldId id="290" r:id="rId19"/>
    <p:sldId id="294" r:id="rId20"/>
    <p:sldId id="298"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77051A6-5E01-48E9-919C-A5FF6E390453}" type="datetimeFigureOut">
              <a:rPr lang="en-US" smtClean="0"/>
              <a:pPr/>
              <a:t>19-Dec-24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A3E11A-56E3-4541-A7DD-309462816EC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7051A6-5E01-48E9-919C-A5FF6E390453}" type="datetimeFigureOut">
              <a:rPr lang="en-US" smtClean="0"/>
              <a:pPr/>
              <a:t>19-Dec-24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A3E11A-56E3-4541-A7DD-309462816EC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7051A6-5E01-48E9-919C-A5FF6E390453}" type="datetimeFigureOut">
              <a:rPr lang="en-US" smtClean="0"/>
              <a:pPr/>
              <a:t>19-Dec-24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A3E11A-56E3-4541-A7DD-309462816EC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77051A6-5E01-48E9-919C-A5FF6E390453}" type="datetimeFigureOut">
              <a:rPr lang="en-US" smtClean="0"/>
              <a:pPr/>
              <a:t>19-Dec-24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A3E11A-56E3-4541-A7DD-309462816EC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77051A6-5E01-48E9-919C-A5FF6E390453}" type="datetimeFigureOut">
              <a:rPr lang="en-US" smtClean="0"/>
              <a:pPr/>
              <a:t>19-Dec-24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A3E11A-56E3-4541-A7DD-309462816EC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77051A6-5E01-48E9-919C-A5FF6E390453}" type="datetimeFigureOut">
              <a:rPr lang="en-US" smtClean="0"/>
              <a:pPr/>
              <a:t>19-Dec-24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A3E11A-56E3-4541-A7DD-309462816EC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7051A6-5E01-48E9-919C-A5FF6E390453}" type="datetimeFigureOut">
              <a:rPr lang="en-US" smtClean="0"/>
              <a:pPr/>
              <a:t>19-Dec-24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A3E11A-56E3-4541-A7DD-309462816EC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7051A6-5E01-48E9-919C-A5FF6E390453}" type="datetimeFigureOut">
              <a:rPr lang="en-US" smtClean="0"/>
              <a:pPr/>
              <a:t>19-Dec-24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A3E11A-56E3-4541-A7DD-309462816EC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7051A6-5E01-48E9-919C-A5FF6E390453}" type="datetimeFigureOut">
              <a:rPr lang="en-US" smtClean="0"/>
              <a:pPr/>
              <a:t>19-Dec-24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A3E11A-56E3-4541-A7DD-309462816EC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7051A6-5E01-48E9-919C-A5FF6E390453}" type="datetimeFigureOut">
              <a:rPr lang="en-US" smtClean="0"/>
              <a:pPr/>
              <a:t>19-Dec-24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A3E11A-56E3-4541-A7DD-309462816EC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7051A6-5E01-48E9-919C-A5FF6E390453}" type="datetimeFigureOut">
              <a:rPr lang="en-US" smtClean="0"/>
              <a:pPr/>
              <a:t>19-Dec-24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A3E11A-56E3-4541-A7DD-309462816EC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7051A6-5E01-48E9-919C-A5FF6E390453}" type="datetimeFigureOut">
              <a:rPr lang="en-US" smtClean="0"/>
              <a:pPr/>
              <a:t>19-Dec-24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A3E11A-56E3-4541-A7DD-309462816EC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457200" y="152400"/>
            <a:ext cx="8229600" cy="381000"/>
          </a:xfrm>
        </p:spPr>
        <p:txBody>
          <a:bodyPr>
            <a:normAutofit fontScale="90000"/>
          </a:bodyPr>
          <a:lstStyle/>
          <a:p>
            <a:r>
              <a:rPr lang="ro-RO" sz="2500" b="1" dirty="0" smtClean="0">
                <a:latin typeface="+mn-lt"/>
              </a:rPr>
              <a:t>RAPORTUL JURIDIC CIVIL</a:t>
            </a:r>
          </a:p>
        </p:txBody>
      </p:sp>
      <p:sp>
        <p:nvSpPr>
          <p:cNvPr id="4" name="Content Placeholder 3"/>
          <p:cNvSpPr>
            <a:spLocks noGrp="1"/>
          </p:cNvSpPr>
          <p:nvPr>
            <p:ph idx="1"/>
          </p:nvPr>
        </p:nvSpPr>
        <p:spPr>
          <a:xfrm>
            <a:off x="457200" y="685800"/>
            <a:ext cx="8382000" cy="5791200"/>
          </a:xfrm>
        </p:spPr>
        <p:txBody>
          <a:bodyPr>
            <a:noAutofit/>
          </a:bodyPr>
          <a:lstStyle/>
          <a:p>
            <a:pPr algn="just">
              <a:spcBef>
                <a:spcPts val="0"/>
              </a:spcBef>
              <a:buFont typeface="Wingdings" pitchFamily="2" charset="2"/>
              <a:buChar char="Ø"/>
            </a:pPr>
            <a:r>
              <a:rPr lang="en-US" sz="2200" b="1" dirty="0" smtClean="0"/>
              <a:t>N</a:t>
            </a:r>
            <a:r>
              <a:rPr lang="ro-RO" sz="2200" b="1" dirty="0" smtClean="0"/>
              <a:t>OŢIUNE</a:t>
            </a:r>
            <a:r>
              <a:rPr lang="ro-RO" sz="2200" dirty="0" smtClean="0"/>
              <a:t> - Raportul juridic civil este relaţia socială, cu caracter patrimonial sau personal nepatrimonial, reglementată de norma juridică civilă</a:t>
            </a:r>
            <a:r>
              <a:rPr lang="en-US" sz="2200" dirty="0" smtClean="0"/>
              <a:t>.</a:t>
            </a:r>
          </a:p>
          <a:p>
            <a:pPr algn="just">
              <a:spcBef>
                <a:spcPts val="0"/>
              </a:spcBef>
              <a:buFont typeface="Wingdings" pitchFamily="2" charset="2"/>
              <a:buChar char="Ø"/>
            </a:pPr>
            <a:endParaRPr lang="en-US" sz="2200" dirty="0" smtClean="0"/>
          </a:p>
          <a:p>
            <a:pPr algn="just">
              <a:spcBef>
                <a:spcPts val="0"/>
              </a:spcBef>
              <a:buFont typeface="Wingdings" pitchFamily="2" charset="2"/>
              <a:buChar char="Ø"/>
            </a:pPr>
            <a:r>
              <a:rPr lang="ro-RO" sz="2200" b="1" dirty="0" smtClean="0"/>
              <a:t>Caracterele raportului juridic:</a:t>
            </a:r>
            <a:endParaRPr lang="en-US" sz="2200" b="1" dirty="0" smtClean="0"/>
          </a:p>
          <a:p>
            <a:pPr algn="just">
              <a:spcBef>
                <a:spcPts val="0"/>
              </a:spcBef>
              <a:buFont typeface="Wingdings" pitchFamily="2" charset="2"/>
              <a:buChar char="Ø"/>
            </a:pPr>
            <a:endParaRPr lang="ro-RO" sz="2200" b="1" dirty="0" smtClean="0"/>
          </a:p>
          <a:p>
            <a:pPr marL="514350" indent="-514350" algn="just">
              <a:spcBef>
                <a:spcPts val="0"/>
              </a:spcBef>
              <a:buFont typeface="+mj-lt"/>
              <a:buAutoNum type="alphaLcParenR"/>
            </a:pPr>
            <a:r>
              <a:rPr lang="ro-RO" sz="2200" dirty="0" smtClean="0"/>
              <a:t>are un </a:t>
            </a:r>
            <a:r>
              <a:rPr lang="ro-RO" sz="2200" b="1" i="1" u="sng" dirty="0" smtClean="0"/>
              <a:t>caracter social</a:t>
            </a:r>
            <a:r>
              <a:rPr lang="ro-RO" sz="2200" i="1" dirty="0" smtClean="0"/>
              <a:t>, </a:t>
            </a:r>
            <a:r>
              <a:rPr lang="ro-RO" sz="2200" dirty="0" smtClean="0"/>
              <a:t>respectiv un raport ce se stabileşte între oameni în calitate de subiecte individuale, persoane fizice, fie în calitate de subiecte colective, persoane juridice.</a:t>
            </a:r>
            <a:endParaRPr lang="en-US" sz="2200" dirty="0" smtClean="0"/>
          </a:p>
          <a:p>
            <a:pPr marL="514350" indent="-514350" algn="just">
              <a:spcBef>
                <a:spcPts val="0"/>
              </a:spcBef>
              <a:buFont typeface="+mj-lt"/>
              <a:buAutoNum type="alphaLcParenR"/>
            </a:pPr>
            <a:endParaRPr lang="en-US" sz="2200" dirty="0" smtClean="0"/>
          </a:p>
          <a:p>
            <a:pPr marL="514350" indent="-514350" algn="just">
              <a:spcBef>
                <a:spcPts val="0"/>
              </a:spcBef>
              <a:buFont typeface="+mj-lt"/>
              <a:buAutoNum type="alphaLcParenR"/>
            </a:pPr>
            <a:r>
              <a:rPr lang="ro-RO" sz="2200" dirty="0" smtClean="0"/>
              <a:t>are un </a:t>
            </a:r>
            <a:r>
              <a:rPr lang="ro-RO" sz="2200" b="1" i="1" u="sng" dirty="0" smtClean="0"/>
              <a:t>caracter voliţional</a:t>
            </a:r>
            <a:r>
              <a:rPr lang="ro-RO" sz="2200" i="1" dirty="0" smtClean="0"/>
              <a:t> </a:t>
            </a:r>
            <a:r>
              <a:rPr lang="ro-RO" sz="2200" dirty="0" smtClean="0"/>
              <a:t>care trebuie privit prin două aspecte:</a:t>
            </a:r>
          </a:p>
          <a:p>
            <a:pPr marL="609600" indent="-609600" algn="just">
              <a:spcBef>
                <a:spcPts val="0"/>
              </a:spcBef>
              <a:buFontTx/>
              <a:buNone/>
            </a:pPr>
            <a:r>
              <a:rPr lang="ro-RO" sz="2200" dirty="0" smtClean="0"/>
              <a:t>-</a:t>
            </a:r>
            <a:r>
              <a:rPr lang="en-US" sz="2200" dirty="0" smtClean="0"/>
              <a:t> 	</a:t>
            </a:r>
            <a:r>
              <a:rPr lang="ro-RO" sz="2200" dirty="0" smtClean="0"/>
              <a:t>raportul juridic este reglementat de norma juridică care exprimă voinţa legiuitorului; </a:t>
            </a:r>
            <a:r>
              <a:rPr lang="ro-RO" sz="2200" u="sng" dirty="0" smtClean="0"/>
              <a:t>este</a:t>
            </a:r>
            <a:r>
              <a:rPr lang="en-US" sz="2200" u="sng" dirty="0" smtClean="0"/>
              <a:t> </a:t>
            </a:r>
            <a:r>
              <a:rPr lang="ro-RO" sz="2200" u="sng" dirty="0" smtClean="0"/>
              <a:t>expresia voinţei de stat</a:t>
            </a:r>
            <a:r>
              <a:rPr lang="ro-RO" sz="2200" dirty="0" smtClean="0"/>
              <a:t>;</a:t>
            </a:r>
          </a:p>
          <a:p>
            <a:pPr marL="609600" indent="-609600" algn="just">
              <a:spcBef>
                <a:spcPts val="0"/>
              </a:spcBef>
              <a:buFontTx/>
              <a:buChar char="-"/>
            </a:pPr>
            <a:r>
              <a:rPr lang="ro-RO" sz="2200" dirty="0" smtClean="0"/>
              <a:t>raportul juridic civil exprimă voinţa subiectelor de drept participante la acel raport.</a:t>
            </a:r>
            <a:endParaRPr lang="en-US" sz="2200" dirty="0" smtClean="0"/>
          </a:p>
          <a:p>
            <a:pPr marL="609600" indent="-609600" algn="just">
              <a:spcBef>
                <a:spcPts val="0"/>
              </a:spcBef>
              <a:buFontTx/>
              <a:buChar char="-"/>
            </a:pPr>
            <a:endParaRPr lang="en-US" sz="2200" dirty="0" smtClean="0"/>
          </a:p>
          <a:p>
            <a:pPr marL="609600" indent="-609600" algn="just">
              <a:spcBef>
                <a:spcPts val="0"/>
              </a:spcBef>
              <a:buNone/>
            </a:pPr>
            <a:r>
              <a:rPr lang="en-US" sz="2200" dirty="0" smtClean="0"/>
              <a:t>c)      </a:t>
            </a:r>
            <a:r>
              <a:rPr lang="ro-RO" sz="2200" b="1" u="sng" dirty="0" smtClean="0"/>
              <a:t>se naşte şi se desfăşoară în conformitate cu norma juridică</a:t>
            </a:r>
            <a:r>
              <a:rPr lang="ro-RO" sz="2200" dirty="0" smtClean="0"/>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8229600" cy="609600"/>
          </a:xfrm>
        </p:spPr>
        <p:txBody>
          <a:bodyPr>
            <a:normAutofit/>
          </a:bodyPr>
          <a:lstStyle/>
          <a:p>
            <a:r>
              <a:rPr lang="ro-RO" sz="2500" b="1" dirty="0" smtClean="0">
                <a:latin typeface="+mn-lt"/>
              </a:rPr>
              <a:t>RAPORTUL JURIDIC CIVIL</a:t>
            </a:r>
            <a:endParaRPr lang="en-US" sz="2500" dirty="0">
              <a:latin typeface="+mn-lt"/>
            </a:endParaRPr>
          </a:p>
        </p:txBody>
      </p:sp>
      <p:sp>
        <p:nvSpPr>
          <p:cNvPr id="5122" name="Content Placeholder 2"/>
          <p:cNvSpPr>
            <a:spLocks noGrp="1"/>
          </p:cNvSpPr>
          <p:nvPr>
            <p:ph idx="1"/>
          </p:nvPr>
        </p:nvSpPr>
        <p:spPr>
          <a:xfrm>
            <a:off x="457200" y="914400"/>
            <a:ext cx="8229600" cy="5562600"/>
          </a:xfrm>
        </p:spPr>
        <p:txBody>
          <a:bodyPr>
            <a:noAutofit/>
          </a:bodyPr>
          <a:lstStyle/>
          <a:p>
            <a:pPr algn="just">
              <a:buNone/>
            </a:pPr>
            <a:r>
              <a:rPr lang="en-US" sz="2300" b="1" dirty="0" smtClean="0">
                <a:latin typeface="Calibri" pitchFamily="34" charset="0"/>
                <a:cs typeface="Calibri" pitchFamily="34" charset="0"/>
              </a:rPr>
              <a:t>	</a:t>
            </a:r>
            <a:r>
              <a:rPr lang="ro-RO" sz="2300" b="1" dirty="0" smtClean="0">
                <a:latin typeface="Calibri" pitchFamily="34" charset="0"/>
                <a:cs typeface="Calibri" pitchFamily="34" charset="0"/>
              </a:rPr>
              <a:t>Caracterele raportului juridic</a:t>
            </a:r>
            <a:r>
              <a:rPr lang="en-US" sz="2300" b="1" dirty="0" smtClean="0">
                <a:latin typeface="Calibri" pitchFamily="34" charset="0"/>
                <a:cs typeface="Calibri" pitchFamily="34" charset="0"/>
              </a:rPr>
              <a:t> CIVIL:</a:t>
            </a:r>
          </a:p>
          <a:p>
            <a:pPr algn="just">
              <a:buNone/>
            </a:pPr>
            <a:endParaRPr lang="en-US" sz="2300" dirty="0" smtClean="0">
              <a:latin typeface="Calibri" pitchFamily="34" charset="0"/>
              <a:cs typeface="Calibri" pitchFamily="34" charset="0"/>
            </a:endParaRPr>
          </a:p>
          <a:p>
            <a:pPr algn="just">
              <a:buFontTx/>
              <a:buAutoNum type="alphaLcParenR"/>
            </a:pPr>
            <a:r>
              <a:rPr lang="ro-RO" sz="2300" dirty="0" smtClean="0">
                <a:latin typeface="Calibri" pitchFamily="34" charset="0"/>
                <a:cs typeface="Calibri" pitchFamily="34" charset="0"/>
              </a:rPr>
              <a:t>raportul juridic civil este un raport juridic în care </a:t>
            </a:r>
            <a:r>
              <a:rPr lang="ro-RO" sz="2300" b="1" i="1" u="sng" dirty="0" smtClean="0">
                <a:latin typeface="Calibri" pitchFamily="34" charset="0"/>
                <a:cs typeface="Calibri" pitchFamily="34" charset="0"/>
              </a:rPr>
              <a:t>părţile au o poziţie de egalitate juridică</a:t>
            </a:r>
            <a:r>
              <a:rPr lang="ro-RO" sz="2300" b="1" i="1" dirty="0" smtClean="0">
                <a:latin typeface="Calibri" pitchFamily="34" charset="0"/>
                <a:cs typeface="Calibri" pitchFamily="34" charset="0"/>
              </a:rPr>
              <a:t>.</a:t>
            </a:r>
            <a:endParaRPr lang="en-US" sz="2300" b="1" i="1" dirty="0" smtClean="0">
              <a:latin typeface="Calibri" pitchFamily="34" charset="0"/>
              <a:cs typeface="Calibri" pitchFamily="34" charset="0"/>
            </a:endParaRPr>
          </a:p>
          <a:p>
            <a:pPr algn="just">
              <a:buFontTx/>
              <a:buAutoNum type="alphaLcParenR"/>
            </a:pPr>
            <a:endParaRPr lang="ro-RO" sz="2300" b="1" i="1" dirty="0" smtClean="0">
              <a:latin typeface="Calibri" pitchFamily="34" charset="0"/>
              <a:cs typeface="Calibri" pitchFamily="34" charset="0"/>
            </a:endParaRPr>
          </a:p>
          <a:p>
            <a:pPr algn="just" eaLnBrk="1" hangingPunct="1">
              <a:buFontTx/>
              <a:buNone/>
            </a:pPr>
            <a:r>
              <a:rPr lang="ro-RO" sz="2300" dirty="0" smtClean="0">
                <a:latin typeface="Calibri" pitchFamily="34" charset="0"/>
                <a:cs typeface="Calibri" pitchFamily="34" charset="0"/>
              </a:rPr>
              <a:t>b) </a:t>
            </a:r>
            <a:r>
              <a:rPr lang="en-US" sz="2300" dirty="0">
                <a:latin typeface="Calibri" pitchFamily="34" charset="0"/>
                <a:cs typeface="Calibri" pitchFamily="34" charset="0"/>
              </a:rPr>
              <a:t>r</a:t>
            </a:r>
            <a:r>
              <a:rPr lang="ro-RO" sz="2300" dirty="0" smtClean="0">
                <a:latin typeface="Calibri" pitchFamily="34" charset="0"/>
                <a:cs typeface="Calibri" pitchFamily="34" charset="0"/>
              </a:rPr>
              <a:t>aportul juridic de drept civil este un raport juridic în care părţile au o poziţie specială faţă de unele norme de drept civil, în sensul că </a:t>
            </a:r>
            <a:r>
              <a:rPr lang="ro-RO" sz="2300" b="1" i="1" dirty="0" smtClean="0">
                <a:latin typeface="Calibri" pitchFamily="34" charset="0"/>
                <a:cs typeface="Calibri" pitchFamily="34" charset="0"/>
              </a:rPr>
              <a:t>le pot înlocui cu propria lor reglementare.</a:t>
            </a:r>
          </a:p>
          <a:p>
            <a:pPr algn="just">
              <a:buNone/>
            </a:pPr>
            <a:endParaRPr lang="en-US" sz="2300" dirty="0" smtClean="0">
              <a:latin typeface="Calibri" pitchFamily="34" charset="0"/>
              <a:cs typeface="Calibri" pitchFamily="34" charset="0"/>
            </a:endParaRPr>
          </a:p>
          <a:p>
            <a:pPr algn="just">
              <a:buNone/>
            </a:pPr>
            <a:r>
              <a:rPr lang="en-US" sz="2300" dirty="0" smtClean="0">
                <a:latin typeface="Calibri" pitchFamily="34" charset="0"/>
                <a:cs typeface="Calibri" pitchFamily="34" charset="0"/>
              </a:rPr>
              <a:t>	</a:t>
            </a:r>
            <a:r>
              <a:rPr lang="ro-RO" sz="2300" dirty="0" smtClean="0">
                <a:latin typeface="Calibri" pitchFamily="34" charset="0"/>
                <a:cs typeface="Calibri" pitchFamily="34" charset="0"/>
              </a:rPr>
              <a:t>Codul civil stabilește: „</a:t>
            </a:r>
            <a:r>
              <a:rPr lang="ro-RO" sz="2300" i="1" u="sng" dirty="0" smtClean="0">
                <a:latin typeface="Calibri" pitchFamily="34" charset="0"/>
                <a:cs typeface="Calibri" pitchFamily="34" charset="0"/>
              </a:rPr>
              <a:t>Convenţiile legal făcute au putere </a:t>
            </a:r>
            <a:r>
              <a:rPr lang="ro-RO" sz="2300" i="1" u="sng" dirty="0">
                <a:latin typeface="Calibri" pitchFamily="34" charset="0"/>
                <a:cs typeface="Calibri" pitchFamily="34" charset="0"/>
              </a:rPr>
              <a:t>de lege între părţile contractante</a:t>
            </a:r>
            <a:r>
              <a:rPr lang="ro-RO" sz="2300" dirty="0">
                <a:latin typeface="Calibri" pitchFamily="34" charset="0"/>
                <a:cs typeface="Calibri" pitchFamily="34" charset="0"/>
              </a:rPr>
              <a:t>”. </a:t>
            </a:r>
            <a:endParaRPr lang="en-US" sz="2300" dirty="0" smtClean="0">
              <a:latin typeface="Calibri" pitchFamily="34" charset="0"/>
              <a:cs typeface="Calibri" pitchFamily="34" charset="0"/>
            </a:endParaRPr>
          </a:p>
          <a:p>
            <a:pPr algn="just">
              <a:buNone/>
            </a:pPr>
            <a:r>
              <a:rPr lang="en-US" sz="2300" dirty="0" smtClean="0">
                <a:latin typeface="Calibri" pitchFamily="34" charset="0"/>
                <a:cs typeface="Calibri" pitchFamily="34" charset="0"/>
              </a:rPr>
              <a:t>	</a:t>
            </a:r>
            <a:r>
              <a:rPr lang="vi-VN" sz="2300" dirty="0" smtClean="0">
                <a:latin typeface="Calibri" pitchFamily="34" charset="0"/>
                <a:cs typeface="Calibri" pitchFamily="34" charset="0"/>
              </a:rPr>
              <a:t>Nu </a:t>
            </a:r>
            <a:r>
              <a:rPr lang="vi-VN" sz="2300" dirty="0">
                <a:latin typeface="Calibri" pitchFamily="34" charset="0"/>
                <a:cs typeface="Calibri" pitchFamily="34" charset="0"/>
              </a:rPr>
              <a:t>se poate deroga prin convenţii sau acte juridice unilaterale de la legile care interesează ordinea publică sau de la bunele </a:t>
            </a:r>
            <a:r>
              <a:rPr lang="vi-VN" sz="2300" dirty="0" smtClean="0">
                <a:latin typeface="Calibri" pitchFamily="34" charset="0"/>
                <a:cs typeface="Calibri" pitchFamily="34" charset="0"/>
              </a:rPr>
              <a:t>morav</a:t>
            </a:r>
            <a:r>
              <a:rPr lang="ro-RO" sz="2300" dirty="0" smtClean="0">
                <a:latin typeface="Calibri" pitchFamily="34" charset="0"/>
                <a:cs typeface="Calibri" pitchFamily="34" charset="0"/>
              </a:rPr>
              <a:t>uri.</a:t>
            </a:r>
            <a:endParaRPr lang="ro-RO" sz="2300" dirty="0">
              <a:latin typeface="Calibri" pitchFamily="34" charset="0"/>
              <a:cs typeface="Calibri"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792162"/>
          </a:xfrm>
        </p:spPr>
        <p:txBody>
          <a:bodyPr>
            <a:normAutofit fontScale="90000"/>
          </a:bodyPr>
          <a:lstStyle/>
          <a:p>
            <a:r>
              <a:rPr lang="ro-RO" sz="2500" b="1" dirty="0" smtClean="0">
                <a:latin typeface="Calibri" pitchFamily="34" charset="0"/>
                <a:cs typeface="Calibri" pitchFamily="34" charset="0"/>
              </a:rPr>
              <a:t>RAPORTUL JURIDIC CIVIL</a:t>
            </a:r>
            <a:r>
              <a:rPr lang="en-US" sz="2500" b="1" dirty="0" smtClean="0">
                <a:latin typeface="Calibri" pitchFamily="34" charset="0"/>
                <a:cs typeface="Calibri" pitchFamily="34" charset="0"/>
              </a:rPr>
              <a:t/>
            </a:r>
            <a:br>
              <a:rPr lang="en-US" sz="2500" b="1" dirty="0" smtClean="0">
                <a:latin typeface="Calibri" pitchFamily="34" charset="0"/>
                <a:cs typeface="Calibri" pitchFamily="34" charset="0"/>
              </a:rPr>
            </a:br>
            <a:r>
              <a:rPr lang="ro-RO" sz="2500" b="1" dirty="0" smtClean="0">
                <a:latin typeface="Calibri" pitchFamily="34" charset="0"/>
                <a:cs typeface="Calibri" pitchFamily="34" charset="0"/>
              </a:rPr>
              <a:t>Structura raportului juridic civil</a:t>
            </a:r>
            <a:endParaRPr lang="en-US" sz="2500" dirty="0">
              <a:latin typeface="Calibri" pitchFamily="34" charset="0"/>
              <a:cs typeface="Calibri" pitchFamily="34" charset="0"/>
            </a:endParaRPr>
          </a:p>
        </p:txBody>
      </p:sp>
      <p:sp>
        <p:nvSpPr>
          <p:cNvPr id="6146" name="Rectangle 3"/>
          <p:cNvSpPr>
            <a:spLocks noGrp="1" noChangeArrowheads="1"/>
          </p:cNvSpPr>
          <p:nvPr>
            <p:ph idx="1"/>
          </p:nvPr>
        </p:nvSpPr>
        <p:spPr>
          <a:xfrm>
            <a:off x="457200" y="1143000"/>
            <a:ext cx="8229600" cy="5410200"/>
          </a:xfrm>
        </p:spPr>
        <p:txBody>
          <a:bodyPr>
            <a:noAutofit/>
          </a:bodyPr>
          <a:lstStyle/>
          <a:p>
            <a:pPr algn="just">
              <a:lnSpc>
                <a:spcPct val="90000"/>
              </a:lnSpc>
              <a:buFontTx/>
              <a:buNone/>
            </a:pPr>
            <a:r>
              <a:rPr lang="ro-RO" sz="2100" b="1" dirty="0" smtClean="0">
                <a:latin typeface="Calibri" pitchFamily="34" charset="0"/>
                <a:cs typeface="Calibri" pitchFamily="34" charset="0"/>
              </a:rPr>
              <a:t>Structura raportului juridic civil</a:t>
            </a:r>
            <a:r>
              <a:rPr lang="en-US" sz="2100" b="1" dirty="0" smtClean="0">
                <a:latin typeface="Calibri" pitchFamily="34" charset="0"/>
                <a:cs typeface="Calibri" pitchFamily="34" charset="0"/>
              </a:rPr>
              <a:t>:</a:t>
            </a:r>
            <a:endParaRPr lang="en-US" sz="2100" i="1" dirty="0" smtClean="0">
              <a:latin typeface="Calibri" pitchFamily="34" charset="0"/>
              <a:cs typeface="Calibri" pitchFamily="34" charset="0"/>
            </a:endParaRPr>
          </a:p>
          <a:p>
            <a:pPr algn="just">
              <a:lnSpc>
                <a:spcPct val="90000"/>
              </a:lnSpc>
              <a:buFontTx/>
              <a:buNone/>
            </a:pPr>
            <a:r>
              <a:rPr lang="ro-RO" sz="2100" i="1" dirty="0" smtClean="0">
                <a:latin typeface="Calibri" pitchFamily="34" charset="0"/>
                <a:cs typeface="Calibri" pitchFamily="34" charset="0"/>
              </a:rPr>
              <a:t>1</a:t>
            </a:r>
            <a:r>
              <a:rPr lang="ro-RO" sz="2100" dirty="0" smtClean="0">
                <a:latin typeface="Calibri" pitchFamily="34" charset="0"/>
                <a:cs typeface="Calibri" pitchFamily="34" charset="0"/>
              </a:rPr>
              <a:t>. </a:t>
            </a:r>
            <a:r>
              <a:rPr lang="ro-RO" sz="2100" i="1" dirty="0" smtClean="0">
                <a:latin typeface="Calibri" pitchFamily="34" charset="0"/>
                <a:cs typeface="Calibri" pitchFamily="34" charset="0"/>
              </a:rPr>
              <a:t>Subiectele;</a:t>
            </a:r>
            <a:r>
              <a:rPr lang="ro-RO" sz="2100" dirty="0" smtClean="0">
                <a:latin typeface="Calibri" pitchFamily="34" charset="0"/>
                <a:cs typeface="Calibri" pitchFamily="34" charset="0"/>
              </a:rPr>
              <a:t> </a:t>
            </a:r>
          </a:p>
          <a:p>
            <a:pPr algn="just">
              <a:lnSpc>
                <a:spcPct val="90000"/>
              </a:lnSpc>
              <a:buFontTx/>
              <a:buNone/>
            </a:pPr>
            <a:r>
              <a:rPr lang="ro-RO" sz="2100" i="1" dirty="0" smtClean="0">
                <a:latin typeface="Calibri" pitchFamily="34" charset="0"/>
                <a:cs typeface="Calibri" pitchFamily="34" charset="0"/>
              </a:rPr>
              <a:t>2. Conţinutul</a:t>
            </a:r>
            <a:r>
              <a:rPr lang="ro-RO" sz="2100" dirty="0" smtClean="0">
                <a:latin typeface="Calibri" pitchFamily="34" charset="0"/>
                <a:cs typeface="Calibri" pitchFamily="34" charset="0"/>
              </a:rPr>
              <a:t>;</a:t>
            </a:r>
          </a:p>
          <a:p>
            <a:pPr algn="just">
              <a:lnSpc>
                <a:spcPct val="90000"/>
              </a:lnSpc>
              <a:buFontTx/>
              <a:buNone/>
            </a:pPr>
            <a:r>
              <a:rPr lang="ro-RO" sz="2100" i="1" dirty="0" smtClean="0">
                <a:latin typeface="Calibri" pitchFamily="34" charset="0"/>
                <a:cs typeface="Calibri" pitchFamily="34" charset="0"/>
              </a:rPr>
              <a:t>3. Obiectul</a:t>
            </a:r>
            <a:r>
              <a:rPr lang="ro-RO" sz="2100" dirty="0" smtClean="0">
                <a:latin typeface="Calibri" pitchFamily="34" charset="0"/>
                <a:cs typeface="Calibri" pitchFamily="34" charset="0"/>
              </a:rPr>
              <a:t>.</a:t>
            </a:r>
          </a:p>
          <a:p>
            <a:pPr algn="just">
              <a:lnSpc>
                <a:spcPct val="90000"/>
              </a:lnSpc>
              <a:buFontTx/>
              <a:buNone/>
            </a:pPr>
            <a:r>
              <a:rPr lang="ro-RO" sz="2100" b="1" dirty="0" smtClean="0">
                <a:latin typeface="Calibri" pitchFamily="34" charset="0"/>
                <a:cs typeface="Calibri" pitchFamily="34" charset="0"/>
              </a:rPr>
              <a:t> </a:t>
            </a:r>
            <a:endParaRPr lang="en-US" sz="2100" b="1" dirty="0" smtClean="0">
              <a:latin typeface="Calibri" pitchFamily="34" charset="0"/>
              <a:cs typeface="Calibri" pitchFamily="34" charset="0"/>
            </a:endParaRPr>
          </a:p>
          <a:p>
            <a:pPr algn="just">
              <a:lnSpc>
                <a:spcPct val="90000"/>
              </a:lnSpc>
              <a:buFontTx/>
              <a:buNone/>
            </a:pPr>
            <a:r>
              <a:rPr lang="ro-RO" sz="2100" b="1" i="1" dirty="0" smtClean="0">
                <a:latin typeface="Calibri" pitchFamily="34" charset="0"/>
                <a:cs typeface="Calibri" pitchFamily="34" charset="0"/>
              </a:rPr>
              <a:t>1</a:t>
            </a:r>
            <a:r>
              <a:rPr lang="ro-RO" sz="2100" b="1" dirty="0" smtClean="0">
                <a:latin typeface="Calibri" pitchFamily="34" charset="0"/>
                <a:cs typeface="Calibri" pitchFamily="34" charset="0"/>
              </a:rPr>
              <a:t>. </a:t>
            </a:r>
            <a:r>
              <a:rPr lang="ro-RO" sz="2100" b="1" i="1" dirty="0" smtClean="0">
                <a:latin typeface="Calibri" pitchFamily="34" charset="0"/>
                <a:cs typeface="Calibri" pitchFamily="34" charset="0"/>
              </a:rPr>
              <a:t>Subiectele </a:t>
            </a:r>
            <a:r>
              <a:rPr lang="ro-RO" sz="2100" dirty="0" smtClean="0">
                <a:latin typeface="Calibri" pitchFamily="34" charset="0"/>
                <a:cs typeface="Calibri" pitchFamily="34" charset="0"/>
              </a:rPr>
              <a:t>- subiectele raportului juridic civil sunt persoane care au calitatea de a fi </a:t>
            </a:r>
            <a:r>
              <a:rPr lang="ro-RO" sz="2100" u="sng" dirty="0" smtClean="0">
                <a:latin typeface="Calibri" pitchFamily="34" charset="0"/>
                <a:cs typeface="Calibri" pitchFamily="34" charset="0"/>
              </a:rPr>
              <a:t>titulare de drepturi subiective şi de obligaţii civile</a:t>
            </a:r>
            <a:r>
              <a:rPr lang="ro-RO" sz="2100" dirty="0" smtClean="0">
                <a:latin typeface="Calibri" pitchFamily="34" charset="0"/>
                <a:cs typeface="Calibri" pitchFamily="34" charset="0"/>
              </a:rPr>
              <a:t>. </a:t>
            </a:r>
          </a:p>
          <a:p>
            <a:pPr algn="just">
              <a:lnSpc>
                <a:spcPct val="90000"/>
              </a:lnSpc>
              <a:buFontTx/>
              <a:buNone/>
            </a:pPr>
            <a:r>
              <a:rPr lang="en-US" sz="2100" dirty="0" smtClean="0">
                <a:latin typeface="Calibri" pitchFamily="34" charset="0"/>
                <a:cs typeface="Calibri" pitchFamily="34" charset="0"/>
              </a:rPr>
              <a:t>	</a:t>
            </a:r>
            <a:r>
              <a:rPr lang="ro-RO" sz="2100" dirty="0" smtClean="0">
                <a:latin typeface="Calibri" pitchFamily="34" charset="0"/>
                <a:cs typeface="Calibri" pitchFamily="34" charset="0"/>
              </a:rPr>
              <a:t>Persoana care este </a:t>
            </a:r>
            <a:r>
              <a:rPr lang="ro-RO" sz="2100" u="sng" dirty="0" smtClean="0">
                <a:latin typeface="Calibri" pitchFamily="34" charset="0"/>
                <a:cs typeface="Calibri" pitchFamily="34" charset="0"/>
              </a:rPr>
              <a:t>titulară de drepturi civile</a:t>
            </a:r>
            <a:r>
              <a:rPr lang="ro-RO" sz="2100" dirty="0" smtClean="0">
                <a:latin typeface="Calibri" pitchFamily="34" charset="0"/>
                <a:cs typeface="Calibri" pitchFamily="34" charset="0"/>
              </a:rPr>
              <a:t> se numeşte </a:t>
            </a:r>
            <a:r>
              <a:rPr lang="ro-RO" sz="2100" b="1" u="sng" dirty="0" smtClean="0">
                <a:latin typeface="Calibri" pitchFamily="34" charset="0"/>
                <a:cs typeface="Calibri" pitchFamily="34" charset="0"/>
              </a:rPr>
              <a:t>subiect activ</a:t>
            </a:r>
            <a:r>
              <a:rPr lang="en-US" sz="2100" dirty="0" smtClean="0">
                <a:latin typeface="Calibri" pitchFamily="34" charset="0"/>
                <a:cs typeface="Calibri" pitchFamily="34" charset="0"/>
              </a:rPr>
              <a:t> al </a:t>
            </a:r>
            <a:r>
              <a:rPr lang="en-US" sz="2100" dirty="0" err="1" smtClean="0">
                <a:latin typeface="Calibri" pitchFamily="34" charset="0"/>
                <a:cs typeface="Calibri" pitchFamily="34" charset="0"/>
              </a:rPr>
              <a:t>raportului</a:t>
            </a:r>
            <a:r>
              <a:rPr lang="en-US" sz="2100" dirty="0" smtClean="0">
                <a:latin typeface="Calibri" pitchFamily="34" charset="0"/>
                <a:cs typeface="Calibri" pitchFamily="34" charset="0"/>
              </a:rPr>
              <a:t> </a:t>
            </a:r>
            <a:r>
              <a:rPr lang="en-US" sz="2100" dirty="0" err="1" smtClean="0">
                <a:latin typeface="Calibri" pitchFamily="34" charset="0"/>
                <a:cs typeface="Calibri" pitchFamily="34" charset="0"/>
              </a:rPr>
              <a:t>juridic</a:t>
            </a:r>
            <a:r>
              <a:rPr lang="ro-RO" sz="2100" dirty="0" smtClean="0">
                <a:latin typeface="Calibri" pitchFamily="34" charset="0"/>
                <a:cs typeface="Calibri" pitchFamily="34" charset="0"/>
              </a:rPr>
              <a:t>, iar </a:t>
            </a:r>
            <a:r>
              <a:rPr lang="ro-RO" sz="2100" u="sng" dirty="0" smtClean="0">
                <a:latin typeface="Calibri" pitchFamily="34" charset="0"/>
                <a:cs typeface="Calibri" pitchFamily="34" charset="0"/>
              </a:rPr>
              <a:t>persoana care este titulară de obligaţii</a:t>
            </a:r>
            <a:r>
              <a:rPr lang="ro-RO" sz="2100" dirty="0" smtClean="0">
                <a:latin typeface="Calibri" pitchFamily="34" charset="0"/>
                <a:cs typeface="Calibri" pitchFamily="34" charset="0"/>
              </a:rPr>
              <a:t> se numeşte </a:t>
            </a:r>
            <a:r>
              <a:rPr lang="ro-RO" sz="2100" b="1" u="sng" dirty="0" smtClean="0">
                <a:latin typeface="Calibri" pitchFamily="34" charset="0"/>
                <a:cs typeface="Calibri" pitchFamily="34" charset="0"/>
              </a:rPr>
              <a:t>subiect pasiv</a:t>
            </a:r>
            <a:r>
              <a:rPr lang="ro-RO" sz="2100" dirty="0" smtClean="0">
                <a:latin typeface="Calibri" pitchFamily="34" charset="0"/>
                <a:cs typeface="Calibri" pitchFamily="34" charset="0"/>
              </a:rPr>
              <a:t> al raportului juridic</a:t>
            </a:r>
            <a:r>
              <a:rPr lang="en-US" sz="2100" dirty="0" smtClean="0">
                <a:latin typeface="Calibri" pitchFamily="34" charset="0"/>
                <a:cs typeface="Calibri" pitchFamily="34" charset="0"/>
              </a:rPr>
              <a:t>.</a:t>
            </a:r>
          </a:p>
          <a:p>
            <a:pPr algn="just"/>
            <a:r>
              <a:rPr lang="ro-RO" sz="2100" dirty="0" smtClean="0">
                <a:latin typeface="Calibri" pitchFamily="34" charset="0"/>
                <a:cs typeface="Calibri" pitchFamily="34" charset="0"/>
              </a:rPr>
              <a:t>În dreptul civil există două mari categorii de subiecte şi anume:</a:t>
            </a:r>
          </a:p>
          <a:p>
            <a:pPr algn="just">
              <a:buFontTx/>
              <a:buNone/>
            </a:pPr>
            <a:r>
              <a:rPr lang="ro-RO" sz="2100" dirty="0" smtClean="0">
                <a:latin typeface="Calibri" pitchFamily="34" charset="0"/>
                <a:cs typeface="Calibri" pitchFamily="34" charset="0"/>
              </a:rPr>
              <a:t>	- </a:t>
            </a:r>
            <a:r>
              <a:rPr lang="ro-RO" sz="2100" b="1" u="sng" dirty="0" smtClean="0">
                <a:latin typeface="Calibri" pitchFamily="34" charset="0"/>
                <a:cs typeface="Calibri" pitchFamily="34" charset="0"/>
              </a:rPr>
              <a:t>persoanele fizice</a:t>
            </a:r>
            <a:r>
              <a:rPr lang="ro-RO" sz="2100" dirty="0" smtClean="0">
                <a:latin typeface="Calibri" pitchFamily="34" charset="0"/>
                <a:cs typeface="Calibri" pitchFamily="34" charset="0"/>
              </a:rPr>
              <a:t> sunt oamenii consideraţi în individualitatea lor, ca titulari de drepturi şi obligaţii civile.</a:t>
            </a:r>
          </a:p>
          <a:p>
            <a:pPr algn="just">
              <a:buFontTx/>
              <a:buNone/>
            </a:pPr>
            <a:r>
              <a:rPr lang="ro-RO" sz="2100" dirty="0" smtClean="0">
                <a:latin typeface="Calibri" pitchFamily="34" charset="0"/>
                <a:cs typeface="Calibri" pitchFamily="34" charset="0"/>
              </a:rPr>
              <a:t>	- </a:t>
            </a:r>
            <a:r>
              <a:rPr lang="ro-RO" sz="2100" b="1" u="sng" dirty="0" smtClean="0">
                <a:latin typeface="Calibri" pitchFamily="34" charset="0"/>
                <a:cs typeface="Calibri" pitchFamily="34" charset="0"/>
              </a:rPr>
              <a:t>persoanele juridice</a:t>
            </a:r>
            <a:r>
              <a:rPr lang="ro-RO" sz="2100" dirty="0" smtClean="0">
                <a:latin typeface="Calibri" pitchFamily="34" charset="0"/>
                <a:cs typeface="Calibri" pitchFamily="34" charset="0"/>
              </a:rPr>
              <a:t> sunt subiecte colective de drept civil, titulare de drepturi subiective şi de obligaţii civile.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639762"/>
          </a:xfrm>
        </p:spPr>
        <p:txBody>
          <a:bodyPr>
            <a:normAutofit fontScale="90000"/>
          </a:bodyPr>
          <a:lstStyle/>
          <a:p>
            <a:r>
              <a:rPr lang="ro-RO" sz="2500" b="1" dirty="0" smtClean="0">
                <a:latin typeface="Calibri" pitchFamily="34" charset="0"/>
                <a:cs typeface="Calibri" pitchFamily="34" charset="0"/>
              </a:rPr>
              <a:t>RAPORTUL JURIDIC CIVIL</a:t>
            </a:r>
            <a:r>
              <a:rPr lang="en-US" sz="2500" b="1" dirty="0" smtClean="0">
                <a:latin typeface="Calibri" pitchFamily="34" charset="0"/>
                <a:cs typeface="Calibri" pitchFamily="34" charset="0"/>
              </a:rPr>
              <a:t/>
            </a:r>
            <a:br>
              <a:rPr lang="en-US" sz="2500" b="1" dirty="0" smtClean="0">
                <a:latin typeface="Calibri" pitchFamily="34" charset="0"/>
                <a:cs typeface="Calibri" pitchFamily="34" charset="0"/>
              </a:rPr>
            </a:br>
            <a:r>
              <a:rPr lang="en-US" sz="2500" b="1" dirty="0" smtClean="0">
                <a:latin typeface="Calibri" pitchFamily="34" charset="0"/>
                <a:cs typeface="Calibri" pitchFamily="34" charset="0"/>
              </a:rPr>
              <a:t>1. </a:t>
            </a:r>
            <a:r>
              <a:rPr lang="en-US" sz="2500" b="1" dirty="0" err="1" smtClean="0">
                <a:latin typeface="Calibri" pitchFamily="34" charset="0"/>
                <a:cs typeface="Calibri" pitchFamily="34" charset="0"/>
              </a:rPr>
              <a:t>Subiectele</a:t>
            </a:r>
            <a:r>
              <a:rPr lang="en-US" sz="2500" b="1" dirty="0" smtClean="0">
                <a:latin typeface="Calibri" pitchFamily="34" charset="0"/>
                <a:cs typeface="Calibri" pitchFamily="34" charset="0"/>
              </a:rPr>
              <a:t> RJC</a:t>
            </a:r>
            <a:endParaRPr lang="en-US" sz="2500" dirty="0">
              <a:latin typeface="Calibri" pitchFamily="34" charset="0"/>
              <a:cs typeface="Calibri" pitchFamily="34" charset="0"/>
            </a:endParaRPr>
          </a:p>
        </p:txBody>
      </p:sp>
      <p:sp>
        <p:nvSpPr>
          <p:cNvPr id="8194" name="Rectangle 3"/>
          <p:cNvSpPr>
            <a:spLocks noGrp="1" noChangeArrowheads="1"/>
          </p:cNvSpPr>
          <p:nvPr>
            <p:ph idx="1"/>
          </p:nvPr>
        </p:nvSpPr>
        <p:spPr>
          <a:xfrm>
            <a:off x="457200" y="1066800"/>
            <a:ext cx="8229600" cy="5562600"/>
          </a:xfrm>
        </p:spPr>
        <p:txBody>
          <a:bodyPr>
            <a:normAutofit/>
          </a:bodyPr>
          <a:lstStyle/>
          <a:p>
            <a:pPr algn="just">
              <a:buFont typeface="Wingdings" pitchFamily="2" charset="2"/>
              <a:buChar char="Ø"/>
            </a:pPr>
            <a:endParaRPr lang="ro-RO" sz="2300" dirty="0" smtClean="0">
              <a:latin typeface="Calibri" pitchFamily="34" charset="0"/>
              <a:cs typeface="Calibri" pitchFamily="34" charset="0"/>
            </a:endParaRPr>
          </a:p>
          <a:p>
            <a:pPr algn="just">
              <a:buFont typeface="Wingdings" pitchFamily="2" charset="2"/>
              <a:buChar char="Ø"/>
            </a:pPr>
            <a:r>
              <a:rPr lang="ro-RO" sz="2300" dirty="0" smtClean="0">
                <a:latin typeface="Calibri" pitchFamily="34" charset="0"/>
                <a:cs typeface="Calibri" pitchFamily="34" charset="0"/>
              </a:rPr>
              <a:t>Condiţiile ce trebuie îndeplinite pentru ca </a:t>
            </a:r>
            <a:r>
              <a:rPr lang="en-US" sz="2300" dirty="0" smtClean="0">
                <a:latin typeface="Calibri" pitchFamily="34" charset="0"/>
                <a:cs typeface="Calibri" pitchFamily="34" charset="0"/>
              </a:rPr>
              <a:t>o </a:t>
            </a:r>
            <a:r>
              <a:rPr lang="en-US" sz="2300" dirty="0" err="1" smtClean="0">
                <a:latin typeface="Calibri" pitchFamily="34" charset="0"/>
                <a:cs typeface="Calibri" pitchFamily="34" charset="0"/>
              </a:rPr>
              <a:t>persoan</a:t>
            </a:r>
            <a:r>
              <a:rPr lang="ro-RO" sz="2300" dirty="0" smtClean="0">
                <a:latin typeface="Calibri" pitchFamily="34" charset="0"/>
                <a:cs typeface="Calibri" pitchFamily="34" charset="0"/>
              </a:rPr>
              <a:t>ă să aibă calitatea de persoană juridică:</a:t>
            </a:r>
          </a:p>
          <a:p>
            <a:pPr algn="just">
              <a:buFontTx/>
              <a:buChar char="-"/>
            </a:pPr>
            <a:r>
              <a:rPr lang="ro-RO" sz="2300" dirty="0" smtClean="0">
                <a:latin typeface="Calibri" pitchFamily="34" charset="0"/>
                <a:cs typeface="Calibri" pitchFamily="34" charset="0"/>
              </a:rPr>
              <a:t>să aibă o organizare de sine stătătoare;</a:t>
            </a:r>
          </a:p>
          <a:p>
            <a:pPr algn="just">
              <a:buFontTx/>
              <a:buChar char="-"/>
            </a:pPr>
            <a:r>
              <a:rPr lang="ro-RO" sz="2300" dirty="0" smtClean="0">
                <a:latin typeface="Calibri" pitchFamily="34" charset="0"/>
                <a:cs typeface="Calibri" pitchFamily="34" charset="0"/>
              </a:rPr>
              <a:t>să aibă un patrimoniu propriu, distinct de al altor persoane; </a:t>
            </a:r>
          </a:p>
          <a:p>
            <a:pPr algn="just">
              <a:buFontTx/>
              <a:buChar char="-"/>
            </a:pPr>
            <a:r>
              <a:rPr lang="ro-RO" sz="2300" dirty="0" smtClean="0">
                <a:latin typeface="Calibri" pitchFamily="34" charset="0"/>
                <a:cs typeface="Calibri" pitchFamily="34" charset="0"/>
              </a:rPr>
              <a:t>să aibă un scop determinat, în acord cu interesele societăţii.</a:t>
            </a:r>
          </a:p>
          <a:p>
            <a:pPr algn="just">
              <a:buNone/>
            </a:pPr>
            <a:endParaRPr lang="ro-RO" sz="2300" dirty="0" smtClean="0">
              <a:latin typeface="Calibri" pitchFamily="34" charset="0"/>
              <a:cs typeface="Calibri" pitchFamily="34" charset="0"/>
            </a:endParaRPr>
          </a:p>
          <a:p>
            <a:pPr algn="just">
              <a:buFont typeface="Wingdings" pitchFamily="2" charset="2"/>
              <a:buChar char="Ø"/>
            </a:pPr>
            <a:r>
              <a:rPr lang="ro-RO" sz="2300" dirty="0" smtClean="0">
                <a:latin typeface="Calibri" pitchFamily="34" charset="0"/>
                <a:cs typeface="Calibri" pitchFamily="34" charset="0"/>
              </a:rPr>
              <a:t>Persoanele juridice sunt de drept public sau de drept privat.</a:t>
            </a:r>
            <a:endParaRPr lang="ro-RO" sz="2300" dirty="0">
              <a:latin typeface="Calibri" pitchFamily="34" charset="0"/>
              <a:cs typeface="Calibri" pitchFamily="34" charset="0"/>
            </a:endParaRPr>
          </a:p>
          <a:p>
            <a:pPr algn="just">
              <a:buFont typeface="Wingdings" pitchFamily="2" charset="2"/>
              <a:buChar char="Ø"/>
            </a:pPr>
            <a:r>
              <a:rPr lang="vi-VN" sz="2300" dirty="0">
                <a:latin typeface="Calibri" pitchFamily="34" charset="0"/>
                <a:cs typeface="Calibri" pitchFamily="34" charset="0"/>
              </a:rPr>
              <a:t>Persoanele juridice </a:t>
            </a:r>
            <a:r>
              <a:rPr lang="vi-VN" sz="2300" b="1" u="sng" dirty="0">
                <a:latin typeface="Calibri" pitchFamily="34" charset="0"/>
                <a:cs typeface="Calibri" pitchFamily="34" charset="0"/>
              </a:rPr>
              <a:t>de drept privat</a:t>
            </a:r>
            <a:r>
              <a:rPr lang="vi-VN" sz="2300" dirty="0">
                <a:latin typeface="Calibri" pitchFamily="34" charset="0"/>
                <a:cs typeface="Calibri" pitchFamily="34" charset="0"/>
              </a:rPr>
              <a:t> se pot constitui, în mod liber, în una dintre formele prevăzute de lege</a:t>
            </a:r>
            <a:r>
              <a:rPr lang="vi-VN" sz="2300" dirty="0" smtClean="0">
                <a:latin typeface="Calibri" pitchFamily="34" charset="0"/>
                <a:cs typeface="Calibri" pitchFamily="34" charset="0"/>
              </a:rPr>
              <a:t>.</a:t>
            </a:r>
            <a:endParaRPr lang="ro-RO" sz="2300" dirty="0" smtClean="0">
              <a:latin typeface="Calibri" pitchFamily="34" charset="0"/>
              <a:cs typeface="Calibri" pitchFamily="34" charset="0"/>
            </a:endParaRPr>
          </a:p>
          <a:p>
            <a:pPr algn="just">
              <a:buFont typeface="Wingdings" pitchFamily="2" charset="2"/>
              <a:buChar char="Ø"/>
            </a:pPr>
            <a:r>
              <a:rPr lang="vi-VN" sz="2300" dirty="0" smtClean="0">
                <a:latin typeface="Calibri" pitchFamily="34" charset="0"/>
                <a:cs typeface="Calibri" pitchFamily="34" charset="0"/>
              </a:rPr>
              <a:t>Persoanele juridice </a:t>
            </a:r>
            <a:r>
              <a:rPr lang="vi-VN" sz="2300" b="1" u="sng" dirty="0" smtClean="0">
                <a:latin typeface="Calibri" pitchFamily="34" charset="0"/>
                <a:cs typeface="Calibri" pitchFamily="34" charset="0"/>
              </a:rPr>
              <a:t>de drept public </a:t>
            </a:r>
            <a:r>
              <a:rPr lang="vi-VN" sz="2300" dirty="0" smtClean="0">
                <a:latin typeface="Calibri" pitchFamily="34" charset="0"/>
                <a:cs typeface="Calibri" pitchFamily="34" charset="0"/>
              </a:rPr>
              <a:t>se înfiinţează prin lege.</a:t>
            </a:r>
            <a:endParaRPr lang="ro-RO" sz="2300" dirty="0" smtClean="0">
              <a:latin typeface="Calibri" pitchFamily="34" charset="0"/>
              <a:cs typeface="Calibri"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563562"/>
          </a:xfrm>
        </p:spPr>
        <p:txBody>
          <a:bodyPr>
            <a:normAutofit fontScale="90000"/>
          </a:bodyPr>
          <a:lstStyle/>
          <a:p>
            <a:r>
              <a:rPr lang="ro-RO" sz="2500" b="1" dirty="0" smtClean="0">
                <a:latin typeface="Calibri" pitchFamily="34" charset="0"/>
                <a:cs typeface="Calibri" pitchFamily="34" charset="0"/>
              </a:rPr>
              <a:t>RAPORTUL JURIDIC CIVIL</a:t>
            </a:r>
            <a:r>
              <a:rPr lang="en-US" sz="2500" b="1" dirty="0" smtClean="0">
                <a:latin typeface="Calibri" pitchFamily="34" charset="0"/>
                <a:cs typeface="Calibri" pitchFamily="34" charset="0"/>
              </a:rPr>
              <a:t/>
            </a:r>
            <a:br>
              <a:rPr lang="en-US" sz="2500" b="1" dirty="0" smtClean="0">
                <a:latin typeface="Calibri" pitchFamily="34" charset="0"/>
                <a:cs typeface="Calibri" pitchFamily="34" charset="0"/>
              </a:rPr>
            </a:br>
            <a:r>
              <a:rPr lang="en-US" sz="2500" b="1" dirty="0" smtClean="0">
                <a:latin typeface="Calibri" pitchFamily="34" charset="0"/>
                <a:cs typeface="Calibri" pitchFamily="34" charset="0"/>
              </a:rPr>
              <a:t>1. </a:t>
            </a:r>
            <a:r>
              <a:rPr lang="en-US" sz="2500" b="1" dirty="0" err="1" smtClean="0">
                <a:latin typeface="Calibri" pitchFamily="34" charset="0"/>
                <a:cs typeface="Calibri" pitchFamily="34" charset="0"/>
              </a:rPr>
              <a:t>Subiectele</a:t>
            </a:r>
            <a:r>
              <a:rPr lang="en-US" sz="2500" b="1" dirty="0" smtClean="0">
                <a:latin typeface="Calibri" pitchFamily="34" charset="0"/>
                <a:cs typeface="Calibri" pitchFamily="34" charset="0"/>
              </a:rPr>
              <a:t> RJC</a:t>
            </a:r>
            <a:endParaRPr lang="en-US" sz="2500" dirty="0"/>
          </a:p>
        </p:txBody>
      </p:sp>
      <p:sp>
        <p:nvSpPr>
          <p:cNvPr id="10242" name="Rectangle 3"/>
          <p:cNvSpPr>
            <a:spLocks noGrp="1" noChangeArrowheads="1"/>
          </p:cNvSpPr>
          <p:nvPr>
            <p:ph idx="1"/>
          </p:nvPr>
        </p:nvSpPr>
        <p:spPr>
          <a:xfrm>
            <a:off x="457200" y="1066800"/>
            <a:ext cx="8229600" cy="5486400"/>
          </a:xfrm>
        </p:spPr>
        <p:txBody>
          <a:bodyPr>
            <a:noAutofit/>
          </a:bodyPr>
          <a:lstStyle/>
          <a:p>
            <a:pPr marL="91440" indent="0" algn="just">
              <a:spcBef>
                <a:spcPts val="0"/>
              </a:spcBef>
              <a:buFont typeface="Wingdings" pitchFamily="2" charset="2"/>
              <a:buChar char="Ø"/>
            </a:pPr>
            <a:r>
              <a:rPr lang="ro-RO" sz="2200" dirty="0" smtClean="0">
                <a:latin typeface="Calibri" pitchFamily="34" charset="0"/>
                <a:cs typeface="Calibri" pitchFamily="34" charset="0"/>
              </a:rPr>
              <a:t>Pentru ca subiectele RJC să poată avea drepturi şi obligaţii, este necesar să deţină </a:t>
            </a:r>
            <a:r>
              <a:rPr lang="ro-RO" sz="2200" b="1" u="sng" dirty="0" smtClean="0">
                <a:latin typeface="Calibri" pitchFamily="34" charset="0"/>
                <a:cs typeface="Calibri" pitchFamily="34" charset="0"/>
              </a:rPr>
              <a:t>capacitate juridică civilă.</a:t>
            </a:r>
          </a:p>
          <a:p>
            <a:pPr marL="91440" indent="0" algn="just">
              <a:spcBef>
                <a:spcPts val="0"/>
              </a:spcBef>
              <a:buFont typeface="Wingdings" pitchFamily="2" charset="2"/>
              <a:buChar char="Ø"/>
            </a:pPr>
            <a:endParaRPr lang="ro-RO" sz="2200" dirty="0" smtClean="0">
              <a:latin typeface="Calibri" pitchFamily="34" charset="0"/>
              <a:cs typeface="Calibri" pitchFamily="34" charset="0"/>
            </a:endParaRPr>
          </a:p>
          <a:p>
            <a:pPr marL="91440" indent="0" algn="just">
              <a:spcBef>
                <a:spcPts val="0"/>
              </a:spcBef>
              <a:buFont typeface="Wingdings" pitchFamily="2" charset="2"/>
              <a:buChar char="Ø"/>
            </a:pPr>
            <a:r>
              <a:rPr lang="ro-RO" sz="2200" u="sng" dirty="0" smtClean="0">
                <a:latin typeface="Calibri" pitchFamily="34" charset="0"/>
                <a:cs typeface="Calibri" pitchFamily="34" charset="0"/>
              </a:rPr>
              <a:t>Capacitatea civilă a subiectelor</a:t>
            </a:r>
            <a:r>
              <a:rPr lang="ro-RO" sz="2200" dirty="0" smtClean="0">
                <a:latin typeface="Calibri" pitchFamily="34" charset="0"/>
                <a:cs typeface="Calibri" pitchFamily="34" charset="0"/>
              </a:rPr>
              <a:t> raportului juridic civil – este dată </a:t>
            </a:r>
            <a:r>
              <a:rPr lang="ro-RO" sz="2200" b="1" u="sng" dirty="0" smtClean="0">
                <a:latin typeface="Calibri" pitchFamily="34" charset="0"/>
                <a:cs typeface="Calibri" pitchFamily="34" charset="0"/>
              </a:rPr>
              <a:t>de calitatea persoanelor fizice şi juridice de a fi subiecte de drept civil</a:t>
            </a:r>
            <a:r>
              <a:rPr lang="ro-RO" sz="2200" dirty="0" smtClean="0">
                <a:latin typeface="Calibri" pitchFamily="34" charset="0"/>
                <a:cs typeface="Calibri" pitchFamily="34" charset="0"/>
              </a:rPr>
              <a:t>. </a:t>
            </a:r>
          </a:p>
          <a:p>
            <a:pPr marL="91440" indent="0" algn="just">
              <a:spcBef>
                <a:spcPts val="0"/>
              </a:spcBef>
              <a:buFont typeface="Wingdings" pitchFamily="2" charset="2"/>
              <a:buChar char="Ø"/>
            </a:pPr>
            <a:endParaRPr lang="ro-RO" sz="2200" dirty="0" smtClean="0">
              <a:latin typeface="Calibri" pitchFamily="34" charset="0"/>
              <a:cs typeface="Calibri" pitchFamily="34" charset="0"/>
            </a:endParaRPr>
          </a:p>
          <a:p>
            <a:pPr marL="91440" indent="0" algn="just">
              <a:spcBef>
                <a:spcPts val="0"/>
              </a:spcBef>
              <a:buFont typeface="Wingdings" pitchFamily="2" charset="2"/>
              <a:buChar char="Ø"/>
            </a:pPr>
            <a:r>
              <a:rPr lang="ro-RO" sz="2200" dirty="0" smtClean="0">
                <a:latin typeface="Calibri" pitchFamily="34" charset="0"/>
                <a:cs typeface="Calibri" pitchFamily="34" charset="0"/>
              </a:rPr>
              <a:t>NOŢUNE Capacitatea civilă– reprezintă aptitudinea unei persoane de a avea drepturi şi obligaţii civile, de a-şi exercita drepturile şi de a-şi asuma obligaţii pin încheierea de acte juridice civile.</a:t>
            </a:r>
          </a:p>
          <a:p>
            <a:pPr marL="91440" algn="just">
              <a:buFont typeface="Wingdings" pitchFamily="2" charset="2"/>
              <a:buChar char="Ø"/>
            </a:pPr>
            <a:r>
              <a:rPr lang="ro-RO" sz="2200" dirty="0" smtClean="0">
                <a:latin typeface="Calibri" pitchFamily="34" charset="0"/>
                <a:cs typeface="Calibri" pitchFamily="34" charset="0"/>
              </a:rPr>
              <a:t>Capacitatea juridică civilă are două </a:t>
            </a:r>
            <a:r>
              <a:rPr lang="ro-RO" sz="2200" b="1" dirty="0" smtClean="0">
                <a:latin typeface="Calibri" pitchFamily="34" charset="0"/>
                <a:cs typeface="Calibri" pitchFamily="34" charset="0"/>
              </a:rPr>
              <a:t>elemente componente</a:t>
            </a:r>
            <a:r>
              <a:rPr lang="ro-RO" sz="2200" dirty="0" smtClean="0">
                <a:latin typeface="Calibri" pitchFamily="34" charset="0"/>
                <a:cs typeface="Calibri" pitchFamily="34" charset="0"/>
              </a:rPr>
              <a:t>: </a:t>
            </a:r>
          </a:p>
          <a:p>
            <a:pPr marL="205740" indent="-457200" algn="just">
              <a:buFont typeface="+mj-lt"/>
              <a:buAutoNum type="alphaUcPeriod"/>
            </a:pPr>
            <a:r>
              <a:rPr lang="ro-RO" sz="2200" b="1" u="sng" dirty="0" smtClean="0">
                <a:latin typeface="Calibri" pitchFamily="34" charset="0"/>
                <a:cs typeface="Calibri" pitchFamily="34" charset="0"/>
              </a:rPr>
              <a:t>capacitatea de folosinţă</a:t>
            </a:r>
            <a:r>
              <a:rPr lang="ro-RO" sz="2200" dirty="0" smtClean="0">
                <a:latin typeface="Calibri" pitchFamily="34" charset="0"/>
                <a:cs typeface="Calibri" pitchFamily="34" charset="0"/>
              </a:rPr>
              <a:t> - este aptitudinea generală a persoanei de a avea drepturi şi obligaţii civile.</a:t>
            </a:r>
          </a:p>
          <a:p>
            <a:pPr marL="205740" indent="-457200" algn="just">
              <a:buFont typeface="+mj-lt"/>
              <a:buAutoNum type="alphaUcPeriod"/>
            </a:pPr>
            <a:r>
              <a:rPr lang="ro-RO" sz="2200" b="1" u="sng" dirty="0" smtClean="0">
                <a:latin typeface="Calibri" pitchFamily="34" charset="0"/>
                <a:cs typeface="Calibri" pitchFamily="34" charset="0"/>
              </a:rPr>
              <a:t>capacitatea de exerciţiu</a:t>
            </a:r>
            <a:r>
              <a:rPr lang="ro-RO" sz="2200" b="1" dirty="0" smtClean="0">
                <a:latin typeface="Calibri" pitchFamily="34" charset="0"/>
                <a:cs typeface="Calibri" pitchFamily="34" charset="0"/>
              </a:rPr>
              <a:t> - </a:t>
            </a:r>
            <a:r>
              <a:rPr lang="ro-RO" sz="2200" dirty="0" smtClean="0">
                <a:latin typeface="Calibri" pitchFamily="34" charset="0"/>
                <a:cs typeface="Calibri" pitchFamily="34" charset="0"/>
              </a:rPr>
              <a:t>aptitudinea persoanei de a-şi exercita drepturile şi de a-şi asuma obligaţii civile, prin încheierea de acte juridice civile.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8229600" cy="609600"/>
          </a:xfrm>
        </p:spPr>
        <p:txBody>
          <a:bodyPr>
            <a:normAutofit fontScale="90000"/>
          </a:bodyPr>
          <a:lstStyle/>
          <a:p>
            <a:r>
              <a:rPr lang="ro-RO" sz="2500" b="1" dirty="0" smtClean="0">
                <a:latin typeface="Calibri" pitchFamily="34" charset="0"/>
                <a:cs typeface="Calibri" pitchFamily="34" charset="0"/>
              </a:rPr>
              <a:t>RAPORTUL JURIDIC CIVIL</a:t>
            </a:r>
            <a:r>
              <a:rPr lang="en-US" sz="2500" b="1" dirty="0" smtClean="0">
                <a:latin typeface="Calibri" pitchFamily="34" charset="0"/>
                <a:cs typeface="Calibri" pitchFamily="34" charset="0"/>
              </a:rPr>
              <a:t/>
            </a:r>
            <a:br>
              <a:rPr lang="en-US" sz="2500" b="1" dirty="0" smtClean="0">
                <a:latin typeface="Calibri" pitchFamily="34" charset="0"/>
                <a:cs typeface="Calibri" pitchFamily="34" charset="0"/>
              </a:rPr>
            </a:br>
            <a:r>
              <a:rPr lang="en-US" sz="2500" b="1" dirty="0" smtClean="0">
                <a:latin typeface="Calibri" pitchFamily="34" charset="0"/>
                <a:cs typeface="Calibri" pitchFamily="34" charset="0"/>
              </a:rPr>
              <a:t>1. </a:t>
            </a:r>
            <a:r>
              <a:rPr lang="en-US" sz="2500" b="1" dirty="0" err="1" smtClean="0">
                <a:latin typeface="Calibri" pitchFamily="34" charset="0"/>
                <a:cs typeface="Calibri" pitchFamily="34" charset="0"/>
              </a:rPr>
              <a:t>Subiectele</a:t>
            </a:r>
            <a:r>
              <a:rPr lang="en-US" sz="2500" b="1" dirty="0" smtClean="0">
                <a:latin typeface="Calibri" pitchFamily="34" charset="0"/>
                <a:cs typeface="Calibri" pitchFamily="34" charset="0"/>
              </a:rPr>
              <a:t> RJC</a:t>
            </a:r>
            <a:endParaRPr lang="en-US" sz="2500" dirty="0"/>
          </a:p>
        </p:txBody>
      </p:sp>
      <p:sp>
        <p:nvSpPr>
          <p:cNvPr id="12290" name="Rectangle 3"/>
          <p:cNvSpPr>
            <a:spLocks noGrp="1" noChangeArrowheads="1"/>
          </p:cNvSpPr>
          <p:nvPr>
            <p:ph idx="1"/>
          </p:nvPr>
        </p:nvSpPr>
        <p:spPr>
          <a:xfrm>
            <a:off x="457200" y="914400"/>
            <a:ext cx="8458200" cy="5562600"/>
          </a:xfrm>
        </p:spPr>
        <p:txBody>
          <a:bodyPr>
            <a:normAutofit/>
          </a:bodyPr>
          <a:lstStyle/>
          <a:p>
            <a:pPr marL="91440" indent="182880" algn="just">
              <a:spcBef>
                <a:spcPts val="0"/>
              </a:spcBef>
              <a:buFontTx/>
              <a:buNone/>
            </a:pPr>
            <a:endParaRPr lang="ro-RO" sz="2100" b="1" i="1" dirty="0" smtClean="0">
              <a:latin typeface="Calibri" pitchFamily="34" charset="0"/>
              <a:cs typeface="Calibri" pitchFamily="34" charset="0"/>
            </a:endParaRPr>
          </a:p>
          <a:p>
            <a:pPr marL="91440" indent="182880" algn="just">
              <a:spcBef>
                <a:spcPts val="0"/>
              </a:spcBef>
              <a:buFontTx/>
              <a:buNone/>
            </a:pPr>
            <a:r>
              <a:rPr lang="ro-RO" sz="2100" b="1" i="1" dirty="0" smtClean="0">
                <a:latin typeface="Calibri" pitchFamily="34" charset="0"/>
                <a:cs typeface="Calibri" pitchFamily="34" charset="0"/>
              </a:rPr>
              <a:t>A. Capacitatea juridică civilă a persoanelor</a:t>
            </a:r>
            <a:r>
              <a:rPr lang="ro-RO" sz="2100" b="1" dirty="0" smtClean="0">
                <a:latin typeface="Calibri" pitchFamily="34" charset="0"/>
                <a:cs typeface="Calibri" pitchFamily="34" charset="0"/>
              </a:rPr>
              <a:t> </a:t>
            </a:r>
            <a:r>
              <a:rPr lang="ro-RO" sz="2100" b="1" i="1" dirty="0" smtClean="0">
                <a:latin typeface="Calibri" pitchFamily="34" charset="0"/>
                <a:cs typeface="Calibri" pitchFamily="34" charset="0"/>
              </a:rPr>
              <a:t>fizice.</a:t>
            </a:r>
          </a:p>
          <a:p>
            <a:pPr marL="91440" indent="182880" algn="just">
              <a:spcBef>
                <a:spcPts val="0"/>
              </a:spcBef>
              <a:buFontTx/>
              <a:buNone/>
            </a:pPr>
            <a:endParaRPr lang="ro-RO" sz="2100" b="1" i="1" dirty="0" smtClean="0">
              <a:latin typeface="Calibri" pitchFamily="34" charset="0"/>
              <a:cs typeface="Calibri" pitchFamily="34" charset="0"/>
            </a:endParaRPr>
          </a:p>
          <a:p>
            <a:pPr marL="91440" indent="182880" algn="just">
              <a:spcBef>
                <a:spcPts val="0"/>
              </a:spcBef>
              <a:buFontTx/>
              <a:buNone/>
            </a:pPr>
            <a:r>
              <a:rPr lang="ro-RO" sz="2100" b="1" i="1" dirty="0" smtClean="0">
                <a:latin typeface="Calibri" pitchFamily="34" charset="0"/>
                <a:cs typeface="Calibri" pitchFamily="34" charset="0"/>
              </a:rPr>
              <a:t>a. Capacitatea de folosinţă.</a:t>
            </a:r>
          </a:p>
          <a:p>
            <a:pPr marL="91440" indent="182880" algn="just">
              <a:spcBef>
                <a:spcPts val="0"/>
              </a:spcBef>
              <a:buFontTx/>
              <a:buNone/>
            </a:pPr>
            <a:r>
              <a:rPr lang="ro-RO" sz="2100" dirty="0" smtClean="0">
                <a:latin typeface="Calibri" pitchFamily="34" charset="0"/>
                <a:cs typeface="Calibri" pitchFamily="34" charset="0"/>
              </a:rPr>
              <a:t>Legea recunoaşte </a:t>
            </a:r>
            <a:r>
              <a:rPr lang="ro-RO" sz="2100" b="1" u="sng" dirty="0" smtClean="0">
                <a:latin typeface="Calibri" pitchFamily="34" charset="0"/>
                <a:cs typeface="Calibri" pitchFamily="34" charset="0"/>
              </a:rPr>
              <a:t>tuturor persoanelor fizice</a:t>
            </a:r>
            <a:r>
              <a:rPr lang="ro-RO" sz="2100" dirty="0" smtClean="0">
                <a:latin typeface="Calibri" pitchFamily="34" charset="0"/>
                <a:cs typeface="Calibri" pitchFamily="34" charset="0"/>
              </a:rPr>
              <a:t> fără nici o deosebire, aptitudinea de a fi titulare de drepturi şi de obligaţii. </a:t>
            </a:r>
          </a:p>
          <a:p>
            <a:pPr marL="91440" indent="182880" algn="just">
              <a:spcBef>
                <a:spcPts val="0"/>
              </a:spcBef>
              <a:buFontTx/>
              <a:buNone/>
            </a:pPr>
            <a:r>
              <a:rPr lang="ro-RO" sz="2100" u="sng" dirty="0" smtClean="0">
                <a:latin typeface="Calibri" pitchFamily="34" charset="0"/>
                <a:cs typeface="Calibri" pitchFamily="34" charset="0"/>
              </a:rPr>
              <a:t>Nicio persoană fizică nu poate fi lipsită de capacitatea de folosinţă</a:t>
            </a:r>
            <a:r>
              <a:rPr lang="ro-RO" sz="2100" dirty="0" smtClean="0">
                <a:latin typeface="Calibri" pitchFamily="34" charset="0"/>
                <a:cs typeface="Calibri" pitchFamily="34" charset="0"/>
              </a:rPr>
              <a:t>, iar limitarea ei nu poate avea loc decât în cazurile anume prevăzute de lege.</a:t>
            </a:r>
          </a:p>
          <a:p>
            <a:pPr marL="91440" indent="182880" algn="just">
              <a:spcBef>
                <a:spcPts val="0"/>
              </a:spcBef>
              <a:buFontTx/>
              <a:buNone/>
            </a:pPr>
            <a:r>
              <a:rPr lang="ro-RO" sz="2100" dirty="0" smtClean="0">
                <a:latin typeface="Calibri" pitchFamily="34" charset="0"/>
                <a:cs typeface="Calibri" pitchFamily="34" charset="0"/>
              </a:rPr>
              <a:t>Începutul capacităţii de folosinţă îl constituie momentul naşterii fiinţei umane.</a:t>
            </a:r>
          </a:p>
          <a:p>
            <a:pPr marL="91440" indent="182880" algn="just">
              <a:spcBef>
                <a:spcPts val="0"/>
              </a:spcBef>
              <a:buFontTx/>
              <a:buNone/>
            </a:pPr>
            <a:r>
              <a:rPr lang="ro-RO" sz="2100" dirty="0" smtClean="0">
                <a:latin typeface="Calibri" pitchFamily="34" charset="0"/>
                <a:cs typeface="Calibri" pitchFamily="34" charset="0"/>
              </a:rPr>
              <a:t>Drepturile copilului sunt recunoscute de la momentul concepţiei, cu condiţia să se nască viu.</a:t>
            </a:r>
          </a:p>
          <a:p>
            <a:pPr marL="91440" indent="182880" algn="just">
              <a:spcBef>
                <a:spcPts val="0"/>
              </a:spcBef>
              <a:buFontTx/>
              <a:buNone/>
            </a:pPr>
            <a:r>
              <a:rPr lang="ro-RO" sz="2100" dirty="0" smtClean="0">
                <a:latin typeface="Calibri" pitchFamily="34" charset="0"/>
                <a:cs typeface="Calibri" pitchFamily="34" charset="0"/>
              </a:rPr>
              <a:t>Încetarea capacităţii de folosinţă are loc odată cu decesul persoanei fizice când încetează calitatea sa de subiect de drept. Data morţii este data trecută în certificatul de deces sau, după caz, data trecută în hotărârea judecătorească declarativă de moarte.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563562"/>
          </a:xfrm>
        </p:spPr>
        <p:txBody>
          <a:bodyPr>
            <a:normAutofit fontScale="90000"/>
          </a:bodyPr>
          <a:lstStyle/>
          <a:p>
            <a:r>
              <a:rPr lang="ro-RO" sz="2500" b="1" dirty="0" smtClean="0">
                <a:latin typeface="Calibri" pitchFamily="34" charset="0"/>
                <a:cs typeface="Calibri" pitchFamily="34" charset="0"/>
              </a:rPr>
              <a:t>RAPORTUL JURIDIC CIVIL</a:t>
            </a:r>
            <a:r>
              <a:rPr lang="en-US" sz="2500" b="1" dirty="0" smtClean="0">
                <a:latin typeface="Calibri" pitchFamily="34" charset="0"/>
                <a:cs typeface="Calibri" pitchFamily="34" charset="0"/>
              </a:rPr>
              <a:t/>
            </a:r>
            <a:br>
              <a:rPr lang="en-US" sz="2500" b="1" dirty="0" smtClean="0">
                <a:latin typeface="Calibri" pitchFamily="34" charset="0"/>
                <a:cs typeface="Calibri" pitchFamily="34" charset="0"/>
              </a:rPr>
            </a:br>
            <a:r>
              <a:rPr lang="en-US" sz="2500" b="1" dirty="0" smtClean="0">
                <a:latin typeface="Calibri" pitchFamily="34" charset="0"/>
                <a:cs typeface="Calibri" pitchFamily="34" charset="0"/>
              </a:rPr>
              <a:t>1. </a:t>
            </a:r>
            <a:r>
              <a:rPr lang="en-US" sz="2500" b="1" dirty="0" err="1" smtClean="0">
                <a:latin typeface="Calibri" pitchFamily="34" charset="0"/>
                <a:cs typeface="Calibri" pitchFamily="34" charset="0"/>
              </a:rPr>
              <a:t>Subiectele</a:t>
            </a:r>
            <a:r>
              <a:rPr lang="en-US" sz="2500" b="1" dirty="0" smtClean="0">
                <a:latin typeface="Calibri" pitchFamily="34" charset="0"/>
                <a:cs typeface="Calibri" pitchFamily="34" charset="0"/>
              </a:rPr>
              <a:t> RJC</a:t>
            </a:r>
            <a:endParaRPr lang="en-US" sz="2500" dirty="0"/>
          </a:p>
        </p:txBody>
      </p:sp>
      <p:sp>
        <p:nvSpPr>
          <p:cNvPr id="14338" name="Rectangle 3"/>
          <p:cNvSpPr>
            <a:spLocks noGrp="1" noChangeArrowheads="1"/>
          </p:cNvSpPr>
          <p:nvPr>
            <p:ph idx="1"/>
          </p:nvPr>
        </p:nvSpPr>
        <p:spPr>
          <a:xfrm>
            <a:off x="457200" y="990600"/>
            <a:ext cx="8229600" cy="5638800"/>
          </a:xfrm>
        </p:spPr>
        <p:txBody>
          <a:bodyPr>
            <a:noAutofit/>
          </a:bodyPr>
          <a:lstStyle/>
          <a:p>
            <a:pPr marL="91440" indent="-182880" algn="just">
              <a:spcBef>
                <a:spcPts val="0"/>
              </a:spcBef>
              <a:buFontTx/>
              <a:buNone/>
            </a:pPr>
            <a:r>
              <a:rPr lang="ro-RO" sz="2100" b="1" dirty="0" smtClean="0">
                <a:latin typeface="Calibri" pitchFamily="34" charset="0"/>
                <a:cs typeface="Calibri" pitchFamily="34" charset="0"/>
              </a:rPr>
              <a:t>b. Capacitatea de exerciţiu -  Deplină </a:t>
            </a:r>
            <a:r>
              <a:rPr lang="ro-RO" sz="2100" dirty="0" smtClean="0">
                <a:latin typeface="Calibri" pitchFamily="34" charset="0"/>
                <a:cs typeface="Calibri" pitchFamily="34" charset="0"/>
              </a:rPr>
              <a:t>se </a:t>
            </a:r>
            <a:r>
              <a:rPr lang="ro-RO" sz="2100" dirty="0">
                <a:latin typeface="Calibri" pitchFamily="34" charset="0"/>
                <a:cs typeface="Calibri" pitchFamily="34" charset="0"/>
              </a:rPr>
              <a:t>dobândeşte la vârsta de 18 ani. </a:t>
            </a:r>
            <a:endParaRPr lang="ro-RO" sz="2100" dirty="0" smtClean="0">
              <a:latin typeface="Calibri" pitchFamily="34" charset="0"/>
              <a:cs typeface="Calibri" pitchFamily="34" charset="0"/>
            </a:endParaRPr>
          </a:p>
          <a:p>
            <a:pPr marL="91440" indent="-182880" algn="just">
              <a:spcBef>
                <a:spcPts val="0"/>
              </a:spcBef>
              <a:buFontTx/>
              <a:buNone/>
            </a:pPr>
            <a:endParaRPr lang="ro-RO" sz="2100" dirty="0" smtClean="0">
              <a:latin typeface="Calibri" pitchFamily="34" charset="0"/>
              <a:cs typeface="Calibri" pitchFamily="34" charset="0"/>
            </a:endParaRPr>
          </a:p>
          <a:p>
            <a:pPr marL="91440" indent="-182880" algn="just">
              <a:spcBef>
                <a:spcPts val="0"/>
              </a:spcBef>
              <a:buFont typeface="Wingdings" pitchFamily="2" charset="2"/>
              <a:buChar char="Ø"/>
            </a:pPr>
            <a:r>
              <a:rPr lang="ro-RO" sz="2100" dirty="0" smtClean="0">
                <a:latin typeface="Calibri" pitchFamily="34" charset="0"/>
                <a:cs typeface="Calibri" pitchFamily="34" charset="0"/>
              </a:rPr>
              <a:t> Prin căsătorie, m</a:t>
            </a:r>
            <a:r>
              <a:rPr lang="vi-VN" sz="2100" dirty="0" smtClean="0">
                <a:latin typeface="Calibri" pitchFamily="34" charset="0"/>
                <a:cs typeface="Calibri" pitchFamily="34" charset="0"/>
              </a:rPr>
              <a:t>inorul dobândeşte</a:t>
            </a:r>
            <a:r>
              <a:rPr lang="ro-RO" sz="2100" dirty="0" smtClean="0">
                <a:latin typeface="Calibri" pitchFamily="34" charset="0"/>
                <a:cs typeface="Calibri" pitchFamily="34" charset="0"/>
              </a:rPr>
              <a:t> </a:t>
            </a:r>
            <a:r>
              <a:rPr lang="vi-VN" sz="2100" dirty="0" smtClean="0">
                <a:latin typeface="Calibri" pitchFamily="34" charset="0"/>
                <a:cs typeface="Calibri" pitchFamily="34" charset="0"/>
              </a:rPr>
              <a:t>capacitatea </a:t>
            </a:r>
            <a:r>
              <a:rPr lang="vi-VN" sz="2100" dirty="0">
                <a:latin typeface="Calibri" pitchFamily="34" charset="0"/>
                <a:cs typeface="Calibri" pitchFamily="34" charset="0"/>
              </a:rPr>
              <a:t>deplină de exerciţiu. </a:t>
            </a:r>
            <a:endParaRPr lang="ro-RO" sz="2100" dirty="0" smtClean="0">
              <a:latin typeface="Calibri" pitchFamily="34" charset="0"/>
              <a:cs typeface="Calibri" pitchFamily="34" charset="0"/>
            </a:endParaRPr>
          </a:p>
          <a:p>
            <a:pPr marL="91440" indent="-182880" algn="just">
              <a:spcBef>
                <a:spcPts val="0"/>
              </a:spcBef>
              <a:buFont typeface="Wingdings" pitchFamily="2" charset="2"/>
              <a:buChar char="Ø"/>
            </a:pPr>
            <a:r>
              <a:rPr lang="vi-VN" sz="2100" dirty="0" smtClean="0">
                <a:latin typeface="Calibri" pitchFamily="34" charset="0"/>
                <a:cs typeface="Calibri" pitchFamily="34" charset="0"/>
              </a:rPr>
              <a:t>Pentru </a:t>
            </a:r>
            <a:r>
              <a:rPr lang="vi-VN" sz="2100" dirty="0">
                <a:latin typeface="Calibri" pitchFamily="34" charset="0"/>
                <a:cs typeface="Calibri" pitchFamily="34" charset="0"/>
              </a:rPr>
              <a:t>motive temeinice, instanţa de tutelă poate recunoaşte </a:t>
            </a:r>
            <a:r>
              <a:rPr lang="vi-VN" sz="2100" dirty="0" smtClean="0">
                <a:latin typeface="Calibri" pitchFamily="34" charset="0"/>
                <a:cs typeface="Calibri" pitchFamily="34" charset="0"/>
              </a:rPr>
              <a:t>minorului</a:t>
            </a:r>
            <a:r>
              <a:rPr lang="ro-RO" sz="2100" dirty="0" smtClean="0">
                <a:latin typeface="Calibri" pitchFamily="34" charset="0"/>
                <a:cs typeface="Calibri" pitchFamily="34" charset="0"/>
              </a:rPr>
              <a:t> </a:t>
            </a:r>
            <a:r>
              <a:rPr lang="vi-VN" sz="2100" dirty="0" smtClean="0">
                <a:latin typeface="Calibri" pitchFamily="34" charset="0"/>
                <a:cs typeface="Calibri" pitchFamily="34" charset="0"/>
              </a:rPr>
              <a:t>care </a:t>
            </a:r>
            <a:r>
              <a:rPr lang="vi-VN" sz="2100" dirty="0">
                <a:latin typeface="Calibri" pitchFamily="34" charset="0"/>
                <a:cs typeface="Calibri" pitchFamily="34" charset="0"/>
              </a:rPr>
              <a:t>a împlinit vârsta de 16 ani capacitatea deplină de exerciţiu</a:t>
            </a:r>
            <a:r>
              <a:rPr lang="ro-RO" sz="2100" dirty="0">
                <a:latin typeface="Calibri" pitchFamily="34" charset="0"/>
                <a:cs typeface="Calibri" pitchFamily="34" charset="0"/>
              </a:rPr>
              <a:t>.</a:t>
            </a:r>
          </a:p>
          <a:p>
            <a:pPr marL="91440" indent="-182880" algn="just">
              <a:spcBef>
                <a:spcPts val="0"/>
              </a:spcBef>
              <a:buFont typeface="Wingdings" pitchFamily="2" charset="2"/>
              <a:buChar char="Ø"/>
            </a:pPr>
            <a:r>
              <a:rPr lang="ro-RO" sz="2100" b="1" u="sng" dirty="0" smtClean="0">
                <a:latin typeface="Calibri" pitchFamily="34" charset="0"/>
                <a:cs typeface="Calibri" pitchFamily="34" charset="0"/>
              </a:rPr>
              <a:t>Sunt lipsite complet de capacitatea de exerciţiu</a:t>
            </a:r>
            <a:r>
              <a:rPr lang="ro-RO" sz="2100" dirty="0" smtClean="0">
                <a:latin typeface="Calibri" pitchFamily="34" charset="0"/>
                <a:cs typeface="Calibri" pitchFamily="34" charset="0"/>
              </a:rPr>
              <a:t>: </a:t>
            </a:r>
          </a:p>
          <a:p>
            <a:pPr marL="91440" indent="-182880" algn="just">
              <a:spcBef>
                <a:spcPts val="0"/>
              </a:spcBef>
              <a:buFontTx/>
              <a:buChar char="-"/>
            </a:pPr>
            <a:r>
              <a:rPr lang="ro-RO" sz="2100" dirty="0" smtClean="0">
                <a:latin typeface="Calibri" pitchFamily="34" charset="0"/>
                <a:cs typeface="Calibri" pitchFamily="34" charset="0"/>
              </a:rPr>
              <a:t>minorii care nu au împlinit vârsta de 14 ani;</a:t>
            </a:r>
          </a:p>
          <a:p>
            <a:pPr marL="91440" indent="-182880" algn="just">
              <a:spcBef>
                <a:spcPts val="0"/>
              </a:spcBef>
              <a:buNone/>
            </a:pPr>
            <a:r>
              <a:rPr lang="ro-RO" sz="2100" dirty="0" smtClean="0">
                <a:latin typeface="Calibri" pitchFamily="34" charset="0"/>
                <a:cs typeface="Calibri" pitchFamily="34" charset="0"/>
              </a:rPr>
              <a:t>- persoanele puse sub interdicţie judecătorească.</a:t>
            </a:r>
          </a:p>
          <a:p>
            <a:pPr marL="91440" indent="-182880" algn="just">
              <a:spcBef>
                <a:spcPts val="0"/>
              </a:spcBef>
              <a:buFont typeface="Wingdings" pitchFamily="2" charset="2"/>
              <a:buChar char="Ø"/>
            </a:pPr>
            <a:r>
              <a:rPr lang="ro-RO" sz="2100" dirty="0" smtClean="0">
                <a:latin typeface="Calibri" pitchFamily="34" charset="0"/>
                <a:cs typeface="Calibri" pitchFamily="34" charset="0"/>
              </a:rPr>
              <a:t>Pentru aceste persoane, actele juridice se încheie de reprezentanţii lor legali (părinţi sau tutore, după caz).</a:t>
            </a:r>
          </a:p>
          <a:p>
            <a:pPr marL="91440" indent="-182880" algn="just">
              <a:spcBef>
                <a:spcPts val="0"/>
              </a:spcBef>
              <a:buFont typeface="Wingdings" pitchFamily="2" charset="2"/>
              <a:buChar char="Ø"/>
            </a:pPr>
            <a:r>
              <a:rPr lang="ro-RO" sz="2100" b="1" u="sng" dirty="0" smtClean="0">
                <a:latin typeface="Calibri" pitchFamily="34" charset="0"/>
                <a:cs typeface="Calibri" pitchFamily="34" charset="0"/>
              </a:rPr>
              <a:t>Minorul între 14 şi 18 ani are capacitatea de exerciţiu restrânsă</a:t>
            </a:r>
            <a:r>
              <a:rPr lang="ro-RO" sz="2100" dirty="0" smtClean="0">
                <a:latin typeface="Calibri" pitchFamily="34" charset="0"/>
                <a:cs typeface="Calibri" pitchFamily="34" charset="0"/>
              </a:rPr>
              <a:t>. El participă personal la încheierea actelor juridice, având încuviinţarea prealabilă a ocrotitorului legal.</a:t>
            </a:r>
          </a:p>
          <a:p>
            <a:pPr marL="91440" indent="-182880" algn="just">
              <a:spcBef>
                <a:spcPts val="0"/>
              </a:spcBef>
              <a:buFont typeface="Wingdings" pitchFamily="2" charset="2"/>
              <a:buChar char="Ø"/>
            </a:pPr>
            <a:r>
              <a:rPr lang="ro-RO" sz="2100" dirty="0" smtClean="0">
                <a:latin typeface="Calibri" pitchFamily="34" charset="0"/>
                <a:cs typeface="Calibri" pitchFamily="34" charset="0"/>
              </a:rPr>
              <a:t>Încetarea capacităţii de exerciţiu a persoanelor fizice are loc:</a:t>
            </a:r>
          </a:p>
          <a:p>
            <a:pPr marL="91440" indent="-182880" algn="just">
              <a:spcBef>
                <a:spcPts val="0"/>
              </a:spcBef>
              <a:buFontTx/>
              <a:buChar char="-"/>
            </a:pPr>
            <a:r>
              <a:rPr lang="ro-RO" sz="2100" dirty="0" smtClean="0">
                <a:latin typeface="Calibri" pitchFamily="34" charset="0"/>
                <a:cs typeface="Calibri" pitchFamily="34" charset="0"/>
              </a:rPr>
              <a:t>odată cu încetarea capacităţii de folosinţă (la decesul persoanei fizice);</a:t>
            </a:r>
          </a:p>
          <a:p>
            <a:pPr marL="91440" indent="-182880" algn="just">
              <a:spcBef>
                <a:spcPts val="0"/>
              </a:spcBef>
              <a:buFontTx/>
              <a:buChar char="-"/>
            </a:pPr>
            <a:r>
              <a:rPr lang="ro-RO" sz="2100" dirty="0" smtClean="0">
                <a:latin typeface="Calibri" pitchFamily="34" charset="0"/>
                <a:cs typeface="Calibri" pitchFamily="34" charset="0"/>
              </a:rPr>
              <a:t>prin punerea sub interdicţie judecătorească.</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563562"/>
          </a:xfrm>
        </p:spPr>
        <p:txBody>
          <a:bodyPr>
            <a:normAutofit fontScale="90000"/>
          </a:bodyPr>
          <a:lstStyle/>
          <a:p>
            <a:r>
              <a:rPr lang="ro-RO" sz="2300" b="1" dirty="0" smtClean="0">
                <a:latin typeface="Calibri" pitchFamily="34" charset="0"/>
                <a:cs typeface="Calibri" pitchFamily="34" charset="0"/>
              </a:rPr>
              <a:t>RAPORTUL JURIDIC CIVIL</a:t>
            </a:r>
            <a:r>
              <a:rPr lang="en-US" sz="2300" b="1" dirty="0" smtClean="0">
                <a:latin typeface="Calibri" pitchFamily="34" charset="0"/>
                <a:cs typeface="Calibri" pitchFamily="34" charset="0"/>
              </a:rPr>
              <a:t/>
            </a:r>
            <a:br>
              <a:rPr lang="en-US" sz="2300" b="1" dirty="0" smtClean="0">
                <a:latin typeface="Calibri" pitchFamily="34" charset="0"/>
                <a:cs typeface="Calibri" pitchFamily="34" charset="0"/>
              </a:rPr>
            </a:br>
            <a:r>
              <a:rPr lang="en-US" sz="2300" b="1" dirty="0" smtClean="0">
                <a:latin typeface="Calibri" pitchFamily="34" charset="0"/>
                <a:cs typeface="Calibri" pitchFamily="34" charset="0"/>
              </a:rPr>
              <a:t>1. </a:t>
            </a:r>
            <a:r>
              <a:rPr lang="en-US" sz="2300" b="1" dirty="0" err="1" smtClean="0">
                <a:latin typeface="Calibri" pitchFamily="34" charset="0"/>
                <a:cs typeface="Calibri" pitchFamily="34" charset="0"/>
              </a:rPr>
              <a:t>Subiectele</a:t>
            </a:r>
            <a:r>
              <a:rPr lang="en-US" sz="2300" b="1" dirty="0" smtClean="0">
                <a:latin typeface="Calibri" pitchFamily="34" charset="0"/>
                <a:cs typeface="Calibri" pitchFamily="34" charset="0"/>
              </a:rPr>
              <a:t> RJC</a:t>
            </a:r>
            <a:endParaRPr lang="en-US" sz="2300" dirty="0"/>
          </a:p>
        </p:txBody>
      </p:sp>
      <p:sp>
        <p:nvSpPr>
          <p:cNvPr id="16386" name="Rectangle 3"/>
          <p:cNvSpPr>
            <a:spLocks noGrp="1" noChangeArrowheads="1"/>
          </p:cNvSpPr>
          <p:nvPr>
            <p:ph idx="1"/>
          </p:nvPr>
        </p:nvSpPr>
        <p:spPr>
          <a:xfrm>
            <a:off x="457200" y="990600"/>
            <a:ext cx="8229600" cy="5638800"/>
          </a:xfrm>
        </p:spPr>
        <p:txBody>
          <a:bodyPr>
            <a:normAutofit/>
          </a:bodyPr>
          <a:lstStyle/>
          <a:p>
            <a:pPr marL="91440" indent="0" algn="just">
              <a:spcBef>
                <a:spcPts val="0"/>
              </a:spcBef>
              <a:buFontTx/>
              <a:buNone/>
            </a:pPr>
            <a:r>
              <a:rPr lang="ro-RO" sz="2300" b="1" i="1" dirty="0" smtClean="0">
                <a:latin typeface="Calibri" pitchFamily="34" charset="0"/>
                <a:cs typeface="Calibri" pitchFamily="34" charset="0"/>
              </a:rPr>
              <a:t>B. Capacitatea juridică civilă a persoanelor juridice</a:t>
            </a:r>
            <a:endParaRPr lang="ro-RO" sz="2300" dirty="0" smtClean="0">
              <a:latin typeface="Calibri" pitchFamily="34" charset="0"/>
              <a:cs typeface="Calibri" pitchFamily="34" charset="0"/>
            </a:endParaRPr>
          </a:p>
          <a:p>
            <a:pPr marL="91440" indent="0" algn="just">
              <a:spcBef>
                <a:spcPts val="0"/>
              </a:spcBef>
              <a:buFontTx/>
              <a:buNone/>
            </a:pPr>
            <a:endParaRPr lang="ro-RO" sz="2300" b="1" dirty="0" smtClean="0">
              <a:latin typeface="Calibri" pitchFamily="34" charset="0"/>
              <a:cs typeface="Calibri" pitchFamily="34" charset="0"/>
            </a:endParaRPr>
          </a:p>
          <a:p>
            <a:pPr marL="91440" indent="0" algn="just">
              <a:spcBef>
                <a:spcPts val="0"/>
              </a:spcBef>
              <a:buFontTx/>
              <a:buNone/>
            </a:pPr>
            <a:r>
              <a:rPr lang="ro-RO" sz="2300" b="1" dirty="0" smtClean="0">
                <a:latin typeface="Calibri" pitchFamily="34" charset="0"/>
                <a:cs typeface="Calibri" pitchFamily="34" charset="0"/>
              </a:rPr>
              <a:t>a. capacitatea de folosinţă a persoanelor juridice</a:t>
            </a:r>
            <a:r>
              <a:rPr lang="ro-RO" sz="2300" dirty="0" smtClean="0">
                <a:latin typeface="Calibri" pitchFamily="34" charset="0"/>
                <a:cs typeface="Calibri" pitchFamily="34" charset="0"/>
              </a:rPr>
              <a:t> - este aptitudinea subiectului colectiv de drept civil de a avea drepturi şi obligaţii civile.</a:t>
            </a:r>
          </a:p>
          <a:p>
            <a:pPr marL="91440" indent="0" algn="just">
              <a:spcBef>
                <a:spcPts val="0"/>
              </a:spcBef>
              <a:buFont typeface="Wingdings" pitchFamily="2" charset="2"/>
              <a:buChar char="Ø"/>
            </a:pPr>
            <a:r>
              <a:rPr lang="ro-RO" sz="2300" dirty="0" smtClean="0">
                <a:latin typeface="Calibri" pitchFamily="34" charset="0"/>
                <a:cs typeface="Calibri" pitchFamily="34" charset="0"/>
              </a:rPr>
              <a:t> Dobândirea capacităţii de folosinţă a persoanelor juridice are loc la data înregistrării sau la o altă dată stabilită în distincţiile făcute de lege. </a:t>
            </a:r>
          </a:p>
          <a:p>
            <a:pPr marL="91440" indent="0" algn="just">
              <a:spcBef>
                <a:spcPts val="0"/>
              </a:spcBef>
              <a:buFont typeface="Wingdings" pitchFamily="2" charset="2"/>
              <a:buChar char="Ø"/>
            </a:pPr>
            <a:r>
              <a:rPr lang="ro-RO" sz="2300" dirty="0" smtClean="0">
                <a:latin typeface="Calibri" pitchFamily="34" charset="0"/>
                <a:cs typeface="Calibri" pitchFamily="34" charset="0"/>
              </a:rPr>
              <a:t> Conţinutul capacităţii de folosinţă a persoanelor juridice este determinat de obiectul său de activitate. </a:t>
            </a:r>
          </a:p>
          <a:p>
            <a:pPr marL="91440" indent="0" algn="just">
              <a:spcBef>
                <a:spcPts val="0"/>
              </a:spcBef>
              <a:buFont typeface="Wingdings" pitchFamily="2" charset="2"/>
              <a:buChar char="Ø"/>
            </a:pPr>
            <a:r>
              <a:rPr lang="ro-RO" sz="2300" dirty="0" smtClean="0">
                <a:latin typeface="Calibri" pitchFamily="34" charset="0"/>
                <a:cs typeface="Calibri" pitchFamily="34" charset="0"/>
              </a:rPr>
              <a:t> Persoana juridică nu poate avea decât acele drepturi care corespund scopului ei, stabilit prin lege, actul de înfiinţare sau statut</a:t>
            </a:r>
            <a:r>
              <a:rPr lang="en-US" sz="2300" dirty="0" smtClean="0">
                <a:latin typeface="Calibri" pitchFamily="34" charset="0"/>
                <a:cs typeface="Calibri" pitchFamily="34" charset="0"/>
              </a:rPr>
              <a:t> – </a:t>
            </a:r>
            <a:r>
              <a:rPr lang="en-US" sz="2300" b="1" dirty="0" err="1" smtClean="0">
                <a:latin typeface="Calibri" pitchFamily="34" charset="0"/>
                <a:cs typeface="Calibri" pitchFamily="34" charset="0"/>
              </a:rPr>
              <a:t>principiul</a:t>
            </a:r>
            <a:r>
              <a:rPr lang="en-US" sz="2300" b="1" dirty="0" smtClean="0">
                <a:latin typeface="Calibri" pitchFamily="34" charset="0"/>
                <a:cs typeface="Calibri" pitchFamily="34" charset="0"/>
              </a:rPr>
              <a:t> </a:t>
            </a:r>
            <a:r>
              <a:rPr lang="en-US" sz="2300" b="1" dirty="0" err="1" smtClean="0">
                <a:latin typeface="Calibri" pitchFamily="34" charset="0"/>
                <a:cs typeface="Calibri" pitchFamily="34" charset="0"/>
              </a:rPr>
              <a:t>specialit</a:t>
            </a:r>
            <a:r>
              <a:rPr lang="ro-RO" sz="2300" b="1" dirty="0" smtClean="0">
                <a:latin typeface="Calibri" pitchFamily="34" charset="0"/>
                <a:cs typeface="Calibri" pitchFamily="34" charset="0"/>
              </a:rPr>
              <a:t>ăţii</a:t>
            </a:r>
            <a:r>
              <a:rPr lang="ro-RO" sz="2300" dirty="0" smtClean="0">
                <a:latin typeface="Calibri" pitchFamily="34" charset="0"/>
                <a:cs typeface="Calibri" pitchFamily="34" charset="0"/>
              </a:rPr>
              <a:t> capacităţii civile. </a:t>
            </a:r>
          </a:p>
          <a:p>
            <a:pPr marL="91440" indent="0" algn="just">
              <a:spcBef>
                <a:spcPts val="0"/>
              </a:spcBef>
              <a:buFont typeface="Wingdings" pitchFamily="2" charset="2"/>
              <a:buChar char="Ø"/>
            </a:pPr>
            <a:r>
              <a:rPr lang="ro-RO" sz="2300" dirty="0" smtClean="0">
                <a:latin typeface="Calibri" pitchFamily="34" charset="0"/>
                <a:cs typeface="Calibri" pitchFamily="34" charset="0"/>
              </a:rPr>
              <a:t> Încetarea capacităţii de folosinţă a persoanei juridice are loc ca urmare a încetării funcţionării persoanei juridice respective.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563562"/>
          </a:xfrm>
        </p:spPr>
        <p:txBody>
          <a:bodyPr>
            <a:noAutofit/>
          </a:bodyPr>
          <a:lstStyle/>
          <a:p>
            <a:r>
              <a:rPr lang="ro-RO" sz="2200" b="1" dirty="0" smtClean="0">
                <a:latin typeface="Calibri" pitchFamily="34" charset="0"/>
                <a:cs typeface="Calibri" pitchFamily="34" charset="0"/>
              </a:rPr>
              <a:t>RAPORTUL JURIDIC CIVIL</a:t>
            </a:r>
            <a:r>
              <a:rPr lang="en-US" sz="2200" b="1" dirty="0" smtClean="0">
                <a:latin typeface="Calibri" pitchFamily="34" charset="0"/>
                <a:cs typeface="Calibri" pitchFamily="34" charset="0"/>
              </a:rPr>
              <a:t/>
            </a:r>
            <a:br>
              <a:rPr lang="en-US" sz="2200" b="1" dirty="0" smtClean="0">
                <a:latin typeface="Calibri" pitchFamily="34" charset="0"/>
                <a:cs typeface="Calibri" pitchFamily="34" charset="0"/>
              </a:rPr>
            </a:br>
            <a:r>
              <a:rPr lang="en-US" sz="2200" b="1" dirty="0" smtClean="0">
                <a:latin typeface="Calibri" pitchFamily="34" charset="0"/>
                <a:cs typeface="Calibri" pitchFamily="34" charset="0"/>
              </a:rPr>
              <a:t>1. </a:t>
            </a:r>
            <a:r>
              <a:rPr lang="en-US" sz="2200" b="1" dirty="0" err="1" smtClean="0">
                <a:latin typeface="Calibri" pitchFamily="34" charset="0"/>
                <a:cs typeface="Calibri" pitchFamily="34" charset="0"/>
              </a:rPr>
              <a:t>Subiectele</a:t>
            </a:r>
            <a:r>
              <a:rPr lang="en-US" sz="2200" b="1" dirty="0" smtClean="0">
                <a:latin typeface="Calibri" pitchFamily="34" charset="0"/>
                <a:cs typeface="Calibri" pitchFamily="34" charset="0"/>
              </a:rPr>
              <a:t> RJC</a:t>
            </a:r>
            <a:endParaRPr lang="en-US" sz="2200" dirty="0"/>
          </a:p>
        </p:txBody>
      </p:sp>
      <p:sp>
        <p:nvSpPr>
          <p:cNvPr id="18434" name="Rectangle 3"/>
          <p:cNvSpPr>
            <a:spLocks noGrp="1" noChangeArrowheads="1"/>
          </p:cNvSpPr>
          <p:nvPr>
            <p:ph idx="1"/>
          </p:nvPr>
        </p:nvSpPr>
        <p:spPr>
          <a:xfrm>
            <a:off x="457200" y="1295400"/>
            <a:ext cx="8229600" cy="5334000"/>
          </a:xfrm>
        </p:spPr>
        <p:txBody>
          <a:bodyPr>
            <a:normAutofit/>
          </a:bodyPr>
          <a:lstStyle/>
          <a:p>
            <a:pPr>
              <a:buFontTx/>
              <a:buNone/>
            </a:pPr>
            <a:endParaRPr lang="ro-RO" sz="2500" b="1" dirty="0" smtClean="0">
              <a:latin typeface="Calibri" pitchFamily="34" charset="0"/>
              <a:cs typeface="Calibri" pitchFamily="34" charset="0"/>
            </a:endParaRPr>
          </a:p>
          <a:p>
            <a:pPr>
              <a:buFontTx/>
              <a:buNone/>
            </a:pPr>
            <a:r>
              <a:rPr lang="ro-RO" sz="2500" b="1" dirty="0" smtClean="0">
                <a:latin typeface="Calibri" pitchFamily="34" charset="0"/>
                <a:cs typeface="Calibri" pitchFamily="34" charset="0"/>
              </a:rPr>
              <a:t>b. capacitatea de exerciţiu a persoanelor juridice</a:t>
            </a:r>
            <a:r>
              <a:rPr lang="ro-RO" sz="2500" dirty="0" smtClean="0">
                <a:latin typeface="Calibri" pitchFamily="34" charset="0"/>
                <a:cs typeface="Calibri" pitchFamily="34" charset="0"/>
              </a:rPr>
              <a:t> </a:t>
            </a:r>
          </a:p>
          <a:p>
            <a:pPr>
              <a:buFontTx/>
              <a:buNone/>
            </a:pPr>
            <a:endParaRPr lang="ro-RO" sz="2500" dirty="0" smtClean="0">
              <a:latin typeface="Calibri" pitchFamily="34" charset="0"/>
              <a:cs typeface="Calibri" pitchFamily="34" charset="0"/>
            </a:endParaRPr>
          </a:p>
          <a:p>
            <a:pPr algn="just">
              <a:buFont typeface="Wingdings" pitchFamily="2" charset="2"/>
              <a:buChar char="Ø"/>
            </a:pPr>
            <a:r>
              <a:rPr lang="ro-RO" sz="2500" dirty="0" smtClean="0">
                <a:latin typeface="Calibri" pitchFamily="34" charset="0"/>
                <a:cs typeface="Calibri" pitchFamily="34" charset="0"/>
              </a:rPr>
              <a:t>Reprezintă aptitudinea acestora de a exercita drepturile şi de a-şi asuma şi îndeplini obligaţiile prin încheierea de acte juridice civile.</a:t>
            </a:r>
          </a:p>
          <a:p>
            <a:pPr algn="just">
              <a:buFont typeface="Wingdings" pitchFamily="2" charset="2"/>
              <a:buChar char="Ø"/>
            </a:pPr>
            <a:r>
              <a:rPr lang="ro-RO" sz="2500" dirty="0" smtClean="0">
                <a:latin typeface="Calibri" pitchFamily="34" charset="0"/>
                <a:cs typeface="Calibri" pitchFamily="34" charset="0"/>
              </a:rPr>
              <a:t>Capacitatea de exerciţiu a persoanelor juridice se realizează prin intermediul organelor sale de conducere (administrator, consiliu de administraţie, preşedinte, consiliu director etc.). </a:t>
            </a:r>
          </a:p>
          <a:p>
            <a:pPr algn="just">
              <a:buFont typeface="Wingdings" pitchFamily="2" charset="2"/>
              <a:buChar char="Ø"/>
            </a:pPr>
            <a:r>
              <a:rPr lang="ro-RO" sz="2500" dirty="0" smtClean="0">
                <a:latin typeface="Calibri" pitchFamily="34" charset="0"/>
                <a:cs typeface="Calibri" pitchFamily="34" charset="0"/>
              </a:rPr>
              <a:t>Sfârşitul capacităţii de exerciţiu a persoanelor juridice corespunde încetării capacităţii de folosinţă a acesteia.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639762"/>
          </a:xfrm>
        </p:spPr>
        <p:txBody>
          <a:bodyPr>
            <a:normAutofit fontScale="90000"/>
          </a:bodyPr>
          <a:lstStyle/>
          <a:p>
            <a:r>
              <a:rPr lang="ro-RO" sz="2500" b="1" dirty="0" smtClean="0">
                <a:latin typeface="Calibri" pitchFamily="34" charset="0"/>
                <a:cs typeface="Calibri" pitchFamily="34" charset="0"/>
              </a:rPr>
              <a:t>RAPORTUL JURIDIC CIVIL</a:t>
            </a:r>
            <a:r>
              <a:rPr lang="en-US" sz="2500" b="1" dirty="0" smtClean="0">
                <a:latin typeface="Calibri" pitchFamily="34" charset="0"/>
                <a:cs typeface="Calibri" pitchFamily="34" charset="0"/>
              </a:rPr>
              <a:t/>
            </a:r>
            <a:br>
              <a:rPr lang="en-US" sz="2500" b="1" dirty="0" smtClean="0">
                <a:latin typeface="Calibri" pitchFamily="34" charset="0"/>
                <a:cs typeface="Calibri" pitchFamily="34" charset="0"/>
              </a:rPr>
            </a:br>
            <a:r>
              <a:rPr lang="ro-RO" sz="2500" b="1" dirty="0" smtClean="0">
                <a:latin typeface="Calibri" pitchFamily="34" charset="0"/>
                <a:cs typeface="Calibri" pitchFamily="34" charset="0"/>
              </a:rPr>
              <a:t>2. Conţinutul raportului juridic civil</a:t>
            </a:r>
            <a:endParaRPr lang="en-US" sz="2500" dirty="0">
              <a:latin typeface="Calibri" pitchFamily="34" charset="0"/>
              <a:cs typeface="Calibri" pitchFamily="34" charset="0"/>
            </a:endParaRPr>
          </a:p>
        </p:txBody>
      </p:sp>
      <p:sp>
        <p:nvSpPr>
          <p:cNvPr id="19458" name="Rectangle 3"/>
          <p:cNvSpPr>
            <a:spLocks noGrp="1" noChangeArrowheads="1"/>
          </p:cNvSpPr>
          <p:nvPr>
            <p:ph idx="1"/>
          </p:nvPr>
        </p:nvSpPr>
        <p:spPr>
          <a:xfrm>
            <a:off x="457200" y="1143000"/>
            <a:ext cx="8229600" cy="5410200"/>
          </a:xfrm>
        </p:spPr>
        <p:txBody>
          <a:bodyPr>
            <a:normAutofit/>
          </a:bodyPr>
          <a:lstStyle/>
          <a:p>
            <a:pPr algn="just">
              <a:buFont typeface="Wingdings" pitchFamily="2" charset="2"/>
              <a:buChar char="Ø"/>
            </a:pPr>
            <a:r>
              <a:rPr lang="ro-RO" sz="2200" b="1" u="sng" dirty="0" smtClean="0">
                <a:latin typeface="Calibri" pitchFamily="34" charset="0"/>
                <a:cs typeface="Calibri" pitchFamily="34" charset="0"/>
              </a:rPr>
              <a:t>Conţinutul</a:t>
            </a:r>
            <a:r>
              <a:rPr lang="ro-RO" sz="2200" b="1" dirty="0" smtClean="0">
                <a:latin typeface="Calibri" pitchFamily="34" charset="0"/>
                <a:cs typeface="Calibri" pitchFamily="34" charset="0"/>
              </a:rPr>
              <a:t> raportului juridic civil: </a:t>
            </a:r>
            <a:r>
              <a:rPr lang="ro-RO" sz="2200" dirty="0" smtClean="0">
                <a:latin typeface="Calibri" pitchFamily="34" charset="0"/>
                <a:cs typeface="Calibri" pitchFamily="34" charset="0"/>
              </a:rPr>
              <a:t>înseamnă totalitatea drepturilor subiective şi a obligaţiilor civile ce revin părţilor participante la raportul juridic civil.</a:t>
            </a:r>
          </a:p>
          <a:p>
            <a:pPr algn="just">
              <a:buFont typeface="Wingdings" pitchFamily="2" charset="2"/>
              <a:buChar char="Ø"/>
            </a:pPr>
            <a:endParaRPr lang="ro-RO" sz="2200" dirty="0" smtClean="0">
              <a:latin typeface="Calibri" pitchFamily="34" charset="0"/>
              <a:cs typeface="Calibri" pitchFamily="34" charset="0"/>
            </a:endParaRPr>
          </a:p>
          <a:p>
            <a:pPr algn="just">
              <a:buFont typeface="Wingdings" pitchFamily="2" charset="2"/>
              <a:buChar char="Ø"/>
            </a:pPr>
            <a:r>
              <a:rPr lang="ro-RO" sz="2200" b="1" u="sng" dirty="0" smtClean="0">
                <a:latin typeface="Calibri" pitchFamily="34" charset="0"/>
                <a:cs typeface="Calibri" pitchFamily="34" charset="0"/>
              </a:rPr>
              <a:t>Drepturile subiective</a:t>
            </a:r>
            <a:r>
              <a:rPr lang="ro-RO" sz="2200" dirty="0" smtClean="0">
                <a:latin typeface="Calibri" pitchFamily="34" charset="0"/>
                <a:cs typeface="Calibri" pitchFamily="34" charset="0"/>
              </a:rPr>
              <a:t>: posibilitatea juridică a titularului său de a desfăşura în limitele legii o anumită conduită, în virtutea căreia poate pretinde subiectului pasiv o comportare corespunzătoare care la nevoie poate fi impusă prin forţa de constrângere a statului = </a:t>
            </a:r>
            <a:r>
              <a:rPr lang="ro-RO" sz="2200" b="1" u="sng" dirty="0" smtClean="0">
                <a:latin typeface="Calibri" pitchFamily="34" charset="0"/>
                <a:cs typeface="Calibri" pitchFamily="34" charset="0"/>
              </a:rPr>
              <a:t>latura activă</a:t>
            </a:r>
            <a:r>
              <a:rPr lang="ro-RO" sz="2200" dirty="0" smtClean="0">
                <a:latin typeface="Calibri" pitchFamily="34" charset="0"/>
                <a:cs typeface="Calibri" pitchFamily="34" charset="0"/>
              </a:rPr>
              <a:t> a conţinutului raportului juridic civil.</a:t>
            </a:r>
          </a:p>
          <a:p>
            <a:pPr algn="just">
              <a:buFont typeface="Wingdings" pitchFamily="2" charset="2"/>
              <a:buChar char="Ø"/>
            </a:pPr>
            <a:endParaRPr lang="ro-RO" sz="2200" dirty="0" smtClean="0">
              <a:latin typeface="Calibri" pitchFamily="34" charset="0"/>
              <a:cs typeface="Calibri" pitchFamily="34" charset="0"/>
            </a:endParaRPr>
          </a:p>
          <a:p>
            <a:pPr algn="just">
              <a:buFont typeface="Wingdings" pitchFamily="2" charset="2"/>
              <a:buChar char="Ø"/>
            </a:pPr>
            <a:r>
              <a:rPr lang="ro-RO" sz="2200" b="1" u="sng" dirty="0" smtClean="0">
                <a:latin typeface="Calibri" pitchFamily="34" charset="0"/>
                <a:cs typeface="Calibri" pitchFamily="34" charset="0"/>
              </a:rPr>
              <a:t>Obligaţiile civile</a:t>
            </a:r>
            <a:r>
              <a:rPr lang="ro-RO" sz="2200" dirty="0" smtClean="0">
                <a:latin typeface="Calibri" pitchFamily="34" charset="0"/>
                <a:cs typeface="Calibri" pitchFamily="34" charset="0"/>
              </a:rPr>
              <a:t> îndatorirea subiectului pasiv al raportului juridic civil de a avea o anumită comportare, corespunzătoare dreptului subiectiv corelativ, care în caz de nevoie poate fi impusă prin forţa de constrângere a statului = </a:t>
            </a:r>
            <a:r>
              <a:rPr lang="ro-RO" sz="2200" b="1" u="sng" dirty="0" smtClean="0">
                <a:latin typeface="Calibri" pitchFamily="34" charset="0"/>
                <a:cs typeface="Calibri" pitchFamily="34" charset="0"/>
              </a:rPr>
              <a:t>latura pasivă</a:t>
            </a:r>
            <a:r>
              <a:rPr lang="ro-RO" sz="2200" dirty="0" smtClean="0">
                <a:latin typeface="Calibri" pitchFamily="34" charset="0"/>
                <a:cs typeface="Calibri" pitchFamily="34" charset="0"/>
              </a:rPr>
              <a:t> a conţinutului raportului juridic civil.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639762"/>
          </a:xfrm>
        </p:spPr>
        <p:txBody>
          <a:bodyPr>
            <a:noAutofit/>
          </a:bodyPr>
          <a:lstStyle/>
          <a:p>
            <a:r>
              <a:rPr lang="ro-RO" sz="2300" b="1" dirty="0" smtClean="0">
                <a:latin typeface="Calibri" pitchFamily="34" charset="0"/>
                <a:cs typeface="Calibri" pitchFamily="34" charset="0"/>
              </a:rPr>
              <a:t>RAPORTUL JURIDIC CIVIL</a:t>
            </a:r>
            <a:r>
              <a:rPr lang="en-US" sz="2300" b="1" dirty="0" smtClean="0">
                <a:latin typeface="Calibri" pitchFamily="34" charset="0"/>
                <a:cs typeface="Calibri" pitchFamily="34" charset="0"/>
              </a:rPr>
              <a:t/>
            </a:r>
            <a:br>
              <a:rPr lang="en-US" sz="2300" b="1" dirty="0" smtClean="0">
                <a:latin typeface="Calibri" pitchFamily="34" charset="0"/>
                <a:cs typeface="Calibri" pitchFamily="34" charset="0"/>
              </a:rPr>
            </a:br>
            <a:r>
              <a:rPr lang="ro-RO" sz="2300" b="1" dirty="0" smtClean="0">
                <a:latin typeface="Calibri" pitchFamily="34" charset="0"/>
                <a:cs typeface="Calibri" pitchFamily="34" charset="0"/>
              </a:rPr>
              <a:t>2. Conţinutul raportului juridic civil. Drepturile civile.</a:t>
            </a:r>
            <a:endParaRPr lang="en-US" sz="2300" dirty="0"/>
          </a:p>
        </p:txBody>
      </p:sp>
      <p:sp>
        <p:nvSpPr>
          <p:cNvPr id="21506" name="Rectangle 3"/>
          <p:cNvSpPr>
            <a:spLocks noGrp="1" noChangeArrowheads="1"/>
          </p:cNvSpPr>
          <p:nvPr>
            <p:ph idx="1"/>
          </p:nvPr>
        </p:nvSpPr>
        <p:spPr>
          <a:xfrm>
            <a:off x="457200" y="1143000"/>
            <a:ext cx="8229600" cy="5410200"/>
          </a:xfrm>
        </p:spPr>
        <p:txBody>
          <a:bodyPr>
            <a:normAutofit/>
          </a:bodyPr>
          <a:lstStyle/>
          <a:p>
            <a:pPr marL="274320" indent="-609600" algn="just">
              <a:lnSpc>
                <a:spcPct val="90000"/>
              </a:lnSpc>
              <a:spcBef>
                <a:spcPts val="0"/>
              </a:spcBef>
              <a:buFont typeface="Wingdings" pitchFamily="2" charset="2"/>
              <a:buChar char="Ø"/>
            </a:pPr>
            <a:r>
              <a:rPr lang="ro-RO" sz="2500" b="1" i="1" dirty="0" smtClean="0">
                <a:latin typeface="Calibri" pitchFamily="34" charset="0"/>
                <a:cs typeface="Calibri" pitchFamily="34" charset="0"/>
              </a:rPr>
              <a:t>Clasificarea drepturilor subiective civile:</a:t>
            </a:r>
          </a:p>
          <a:p>
            <a:pPr marL="274320" indent="-609600" algn="just">
              <a:lnSpc>
                <a:spcPct val="90000"/>
              </a:lnSpc>
              <a:spcBef>
                <a:spcPts val="0"/>
              </a:spcBef>
              <a:buFont typeface="Wingdings" pitchFamily="2" charset="2"/>
              <a:buChar char="Ø"/>
            </a:pPr>
            <a:endParaRPr lang="ro-RO" sz="2500" b="1" i="1" dirty="0" smtClean="0">
              <a:latin typeface="Calibri" pitchFamily="34" charset="0"/>
              <a:cs typeface="Calibri" pitchFamily="34" charset="0"/>
            </a:endParaRPr>
          </a:p>
          <a:p>
            <a:pPr marL="274320" indent="-609600" algn="just">
              <a:lnSpc>
                <a:spcPct val="90000"/>
              </a:lnSpc>
              <a:spcBef>
                <a:spcPts val="0"/>
              </a:spcBef>
              <a:buFontTx/>
              <a:buAutoNum type="alphaUcParenR"/>
            </a:pPr>
            <a:r>
              <a:rPr lang="ro-RO" sz="2500" dirty="0" smtClean="0">
                <a:latin typeface="Calibri" pitchFamily="34" charset="0"/>
                <a:cs typeface="Calibri" pitchFamily="34" charset="0"/>
              </a:rPr>
              <a:t>În funcţie de gradul de opozabilitate, drepturile civile se clasifică în:</a:t>
            </a:r>
          </a:p>
          <a:p>
            <a:pPr marL="274320" indent="-609600" algn="just">
              <a:lnSpc>
                <a:spcPct val="90000"/>
              </a:lnSpc>
              <a:spcBef>
                <a:spcPts val="0"/>
              </a:spcBef>
              <a:buFontTx/>
              <a:buAutoNum type="alphaLcPeriod"/>
            </a:pPr>
            <a:r>
              <a:rPr lang="ro-RO" sz="2500" u="sng" dirty="0" smtClean="0">
                <a:latin typeface="Calibri" pitchFamily="34" charset="0"/>
                <a:cs typeface="Calibri" pitchFamily="34" charset="0"/>
              </a:rPr>
              <a:t>drepturi absolute</a:t>
            </a:r>
            <a:r>
              <a:rPr lang="ro-RO" sz="2500" dirty="0" smtClean="0">
                <a:latin typeface="Calibri" pitchFamily="34" charset="0"/>
                <a:cs typeface="Calibri" pitchFamily="34" charset="0"/>
              </a:rPr>
              <a:t> (dreptul de proprietate);</a:t>
            </a:r>
          </a:p>
          <a:p>
            <a:pPr marL="274320" indent="-609600" algn="just">
              <a:lnSpc>
                <a:spcPct val="90000"/>
              </a:lnSpc>
              <a:spcBef>
                <a:spcPts val="0"/>
              </a:spcBef>
              <a:buFontTx/>
              <a:buAutoNum type="alphaLcPeriod"/>
            </a:pPr>
            <a:r>
              <a:rPr lang="ro-RO" sz="2500" u="sng" dirty="0" smtClean="0">
                <a:latin typeface="Calibri" pitchFamily="34" charset="0"/>
                <a:cs typeface="Calibri" pitchFamily="34" charset="0"/>
              </a:rPr>
              <a:t>drepturi relative</a:t>
            </a:r>
            <a:r>
              <a:rPr lang="ro-RO" sz="2500" dirty="0" smtClean="0">
                <a:latin typeface="Calibri" pitchFamily="34" charset="0"/>
                <a:cs typeface="Calibri" pitchFamily="34" charset="0"/>
              </a:rPr>
              <a:t> (dreptul de creanţă (datoria) recunoscut din contracte).</a:t>
            </a:r>
          </a:p>
          <a:p>
            <a:pPr marL="274320" algn="just">
              <a:spcBef>
                <a:spcPts val="0"/>
              </a:spcBef>
              <a:buFontTx/>
              <a:buNone/>
            </a:pPr>
            <a:r>
              <a:rPr lang="ro-RO" sz="2500" dirty="0" smtClean="0">
                <a:latin typeface="Calibri" pitchFamily="34" charset="0"/>
                <a:cs typeface="Calibri" pitchFamily="34" charset="0"/>
              </a:rPr>
              <a:t>B) În funcţie de conţinutul lor, drepturile subiective civile se clasifică în:</a:t>
            </a:r>
          </a:p>
          <a:p>
            <a:pPr marL="274320" indent="-514350" algn="just">
              <a:spcBef>
                <a:spcPts val="0"/>
              </a:spcBef>
              <a:buFontTx/>
              <a:buAutoNum type="alphaLcPeriod"/>
            </a:pPr>
            <a:r>
              <a:rPr lang="ro-RO" sz="2500" u="sng" dirty="0" smtClean="0">
                <a:latin typeface="Calibri" pitchFamily="34" charset="0"/>
                <a:cs typeface="Calibri" pitchFamily="34" charset="0"/>
              </a:rPr>
              <a:t>drepturi patrimoniale</a:t>
            </a:r>
            <a:r>
              <a:rPr lang="ro-RO" sz="2500" dirty="0" smtClean="0">
                <a:latin typeface="Calibri" pitchFamily="34" charset="0"/>
                <a:cs typeface="Calibri" pitchFamily="34" charset="0"/>
              </a:rPr>
              <a:t> -  au un conţinut economic şi pot fi exprimate în bani.</a:t>
            </a:r>
          </a:p>
          <a:p>
            <a:pPr marL="274320" indent="-514350" algn="just">
              <a:spcBef>
                <a:spcPts val="0"/>
              </a:spcBef>
              <a:buFontTx/>
              <a:buAutoNum type="alphaLcPeriod"/>
            </a:pPr>
            <a:r>
              <a:rPr lang="ro-RO" sz="2500" u="sng" dirty="0" smtClean="0">
                <a:latin typeface="Calibri" pitchFamily="34" charset="0"/>
                <a:cs typeface="Calibri" pitchFamily="34" charset="0"/>
              </a:rPr>
              <a:t>drepturi personale nepatrimoniale</a:t>
            </a:r>
            <a:r>
              <a:rPr lang="ro-RO" sz="2500" dirty="0" smtClean="0">
                <a:latin typeface="Calibri" pitchFamily="34" charset="0"/>
                <a:cs typeface="Calibri" pitchFamily="34" charset="0"/>
              </a:rPr>
              <a:t> - sunt drepturile subiective fără conţinut economic, strâns legate de persoana omului.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563562"/>
          </a:xfrm>
        </p:spPr>
        <p:txBody>
          <a:bodyPr>
            <a:normAutofit fontScale="90000"/>
          </a:bodyPr>
          <a:lstStyle/>
          <a:p>
            <a:r>
              <a:rPr lang="ro-RO" sz="2300" b="1" dirty="0" smtClean="0">
                <a:latin typeface="Calibri" pitchFamily="34" charset="0"/>
                <a:cs typeface="Calibri" pitchFamily="34" charset="0"/>
              </a:rPr>
              <a:t>RAPORTUL JURIDIC CIVIL</a:t>
            </a:r>
            <a:r>
              <a:rPr lang="en-US" sz="2300" b="1" dirty="0" smtClean="0">
                <a:latin typeface="Calibri" pitchFamily="34" charset="0"/>
                <a:cs typeface="Calibri" pitchFamily="34" charset="0"/>
              </a:rPr>
              <a:t/>
            </a:r>
            <a:br>
              <a:rPr lang="en-US" sz="2300" b="1" dirty="0" smtClean="0">
                <a:latin typeface="Calibri" pitchFamily="34" charset="0"/>
                <a:cs typeface="Calibri" pitchFamily="34" charset="0"/>
              </a:rPr>
            </a:br>
            <a:r>
              <a:rPr lang="ro-RO" sz="2300" b="1" dirty="0" smtClean="0">
                <a:latin typeface="Calibri" pitchFamily="34" charset="0"/>
                <a:cs typeface="Calibri" pitchFamily="34" charset="0"/>
              </a:rPr>
              <a:t>2. Conţinutul raportului juridic civil. Drepturile civile.</a:t>
            </a:r>
            <a:endParaRPr lang="en-US" sz="2300" dirty="0"/>
          </a:p>
        </p:txBody>
      </p:sp>
      <p:sp>
        <p:nvSpPr>
          <p:cNvPr id="24578" name="Rectangle 3"/>
          <p:cNvSpPr>
            <a:spLocks noGrp="1" noChangeArrowheads="1"/>
          </p:cNvSpPr>
          <p:nvPr>
            <p:ph idx="1"/>
          </p:nvPr>
        </p:nvSpPr>
        <p:spPr>
          <a:xfrm>
            <a:off x="457200" y="914400"/>
            <a:ext cx="8229600" cy="5638800"/>
          </a:xfrm>
        </p:spPr>
        <p:txBody>
          <a:bodyPr>
            <a:normAutofit/>
          </a:bodyPr>
          <a:lstStyle/>
          <a:p>
            <a:pPr marL="0" indent="0" algn="just">
              <a:lnSpc>
                <a:spcPct val="90000"/>
              </a:lnSpc>
              <a:spcBef>
                <a:spcPts val="0"/>
              </a:spcBef>
              <a:buFontTx/>
              <a:buNone/>
            </a:pPr>
            <a:endParaRPr lang="ro-RO" sz="2400" b="1" dirty="0" smtClean="0">
              <a:latin typeface="Calibri" pitchFamily="34" charset="0"/>
              <a:cs typeface="Calibri" pitchFamily="34" charset="0"/>
            </a:endParaRPr>
          </a:p>
          <a:p>
            <a:pPr marL="0" indent="0" algn="just">
              <a:lnSpc>
                <a:spcPct val="90000"/>
              </a:lnSpc>
              <a:spcBef>
                <a:spcPts val="0"/>
              </a:spcBef>
              <a:buFontTx/>
              <a:buNone/>
            </a:pPr>
            <a:r>
              <a:rPr lang="ro-RO" sz="2400" b="1" dirty="0" smtClean="0">
                <a:latin typeface="Calibri" pitchFamily="34" charset="0"/>
                <a:cs typeface="Calibri" pitchFamily="34" charset="0"/>
              </a:rPr>
              <a:t>C) În funcţie de corelaţia</a:t>
            </a:r>
            <a:r>
              <a:rPr lang="ro-RO" sz="2400" dirty="0" smtClean="0">
                <a:latin typeface="Calibri" pitchFamily="34" charset="0"/>
                <a:cs typeface="Calibri" pitchFamily="34" charset="0"/>
              </a:rPr>
              <a:t> dintre drepturile subiective civile, acestea se clasifică în:</a:t>
            </a:r>
          </a:p>
          <a:p>
            <a:pPr marL="0" indent="0" algn="just">
              <a:lnSpc>
                <a:spcPct val="90000"/>
              </a:lnSpc>
              <a:spcBef>
                <a:spcPts val="0"/>
              </a:spcBef>
              <a:buFontTx/>
              <a:buNone/>
            </a:pPr>
            <a:r>
              <a:rPr lang="ro-RO" sz="2400" b="1" dirty="0" smtClean="0">
                <a:latin typeface="Calibri" pitchFamily="34" charset="0"/>
                <a:cs typeface="Calibri" pitchFamily="34" charset="0"/>
              </a:rPr>
              <a:t>a. drepturi principale</a:t>
            </a:r>
            <a:r>
              <a:rPr lang="ro-RO" sz="2400" dirty="0" smtClean="0">
                <a:latin typeface="Calibri" pitchFamily="34" charset="0"/>
                <a:cs typeface="Calibri" pitchFamily="34" charset="0"/>
              </a:rPr>
              <a:t> - acele drepturi care au o existenţă de sine stătătoare. Exemple: dreptul de proprietate, de servitute;</a:t>
            </a:r>
          </a:p>
          <a:p>
            <a:pPr marL="0" indent="0" algn="just">
              <a:lnSpc>
                <a:spcPct val="90000"/>
              </a:lnSpc>
              <a:spcBef>
                <a:spcPts val="0"/>
              </a:spcBef>
              <a:buFontTx/>
              <a:buNone/>
            </a:pPr>
            <a:r>
              <a:rPr lang="ro-RO" sz="2400" b="1" dirty="0" smtClean="0">
                <a:latin typeface="Calibri" pitchFamily="34" charset="0"/>
                <a:cs typeface="Calibri" pitchFamily="34" charset="0"/>
              </a:rPr>
              <a:t>b. drepturi accesorii</a:t>
            </a:r>
            <a:r>
              <a:rPr lang="ro-RO" sz="2400" dirty="0" smtClean="0">
                <a:latin typeface="Calibri" pitchFamily="34" charset="0"/>
                <a:cs typeface="Calibri" pitchFamily="34" charset="0"/>
              </a:rPr>
              <a:t> – cele care depind de alte drepturi principale. Exemple: dreptul de ipotecă.</a:t>
            </a:r>
          </a:p>
          <a:p>
            <a:pPr marL="0" indent="0" algn="just">
              <a:spcBef>
                <a:spcPts val="0"/>
              </a:spcBef>
              <a:buFontTx/>
              <a:buNone/>
            </a:pPr>
            <a:endParaRPr lang="ro-RO" sz="2400" b="1" dirty="0" smtClean="0">
              <a:latin typeface="Calibri" pitchFamily="34" charset="0"/>
              <a:cs typeface="Calibri" pitchFamily="34" charset="0"/>
            </a:endParaRPr>
          </a:p>
          <a:p>
            <a:pPr marL="0" indent="0" algn="just">
              <a:spcBef>
                <a:spcPts val="0"/>
              </a:spcBef>
              <a:buFontTx/>
              <a:buNone/>
            </a:pPr>
            <a:r>
              <a:rPr lang="ro-RO" sz="2400" b="1" dirty="0" smtClean="0">
                <a:latin typeface="Calibri" pitchFamily="34" charset="0"/>
                <a:cs typeface="Calibri" pitchFamily="34" charset="0"/>
              </a:rPr>
              <a:t>D) În funcţie de gradul de certitudine</a:t>
            </a:r>
            <a:r>
              <a:rPr lang="ro-RO" sz="2400" dirty="0" smtClean="0">
                <a:latin typeface="Calibri" pitchFamily="34" charset="0"/>
                <a:cs typeface="Calibri" pitchFamily="34" charset="0"/>
              </a:rPr>
              <a:t> conferit titularilor:</a:t>
            </a:r>
          </a:p>
          <a:p>
            <a:pPr marL="0" indent="0" algn="just">
              <a:spcBef>
                <a:spcPts val="0"/>
              </a:spcBef>
              <a:buFontTx/>
              <a:buAutoNum type="alphaLcPeriod"/>
            </a:pPr>
            <a:r>
              <a:rPr lang="ro-RO" sz="2400" b="1" dirty="0" smtClean="0">
                <a:latin typeface="Calibri" pitchFamily="34" charset="0"/>
                <a:cs typeface="Calibri" pitchFamily="34" charset="0"/>
              </a:rPr>
              <a:t>drepturi pure şi simple</a:t>
            </a:r>
            <a:r>
              <a:rPr lang="ro-RO" sz="2400" dirty="0" smtClean="0">
                <a:latin typeface="Calibri" pitchFamily="34" charset="0"/>
                <a:cs typeface="Calibri" pitchFamily="34" charset="0"/>
              </a:rPr>
              <a:t> – sunt cele care conferă maximă certitudine titularului lor în exercitarea prerogativelor acelor drepturi. Exemplu dreptul de proprietate.</a:t>
            </a:r>
          </a:p>
          <a:p>
            <a:pPr marL="0" indent="0" algn="just">
              <a:spcBef>
                <a:spcPts val="0"/>
              </a:spcBef>
              <a:buFontTx/>
              <a:buAutoNum type="alphaLcPeriod"/>
            </a:pPr>
            <a:r>
              <a:rPr lang="ro-RO" sz="2400" b="1" dirty="0" smtClean="0">
                <a:latin typeface="Calibri" pitchFamily="34" charset="0"/>
                <a:cs typeface="Calibri" pitchFamily="34" charset="0"/>
              </a:rPr>
              <a:t>drepturi afectate de modalităţi – </a:t>
            </a:r>
            <a:r>
              <a:rPr lang="ro-RO" sz="2400" dirty="0" smtClean="0">
                <a:latin typeface="Calibri" pitchFamily="34" charset="0"/>
                <a:cs typeface="Calibri" pitchFamily="34" charset="0"/>
              </a:rPr>
              <a:t>sunt cele a căror existenţă şi exerciţiu sunt afectate de modalităţi, respectiv evenimente viitoare (termen, condiţie sau sarcină).</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639762"/>
          </a:xfrm>
        </p:spPr>
        <p:txBody>
          <a:bodyPr>
            <a:normAutofit fontScale="90000"/>
          </a:bodyPr>
          <a:lstStyle/>
          <a:p>
            <a:r>
              <a:rPr lang="ro-RO" sz="2300" b="1" dirty="0" smtClean="0">
                <a:latin typeface="Calibri" pitchFamily="34" charset="0"/>
                <a:cs typeface="Calibri" pitchFamily="34" charset="0"/>
              </a:rPr>
              <a:t>RAPORTUL JURIDIC CIVIL</a:t>
            </a:r>
            <a:r>
              <a:rPr lang="en-US" sz="2300" b="1" dirty="0" smtClean="0">
                <a:latin typeface="Calibri" pitchFamily="34" charset="0"/>
                <a:cs typeface="Calibri" pitchFamily="34" charset="0"/>
              </a:rPr>
              <a:t/>
            </a:r>
            <a:br>
              <a:rPr lang="en-US" sz="2300" b="1" dirty="0" smtClean="0">
                <a:latin typeface="Calibri" pitchFamily="34" charset="0"/>
                <a:cs typeface="Calibri" pitchFamily="34" charset="0"/>
              </a:rPr>
            </a:br>
            <a:r>
              <a:rPr lang="ro-RO" sz="2300" b="1" dirty="0" smtClean="0">
                <a:latin typeface="Calibri" pitchFamily="34" charset="0"/>
                <a:cs typeface="Calibri" pitchFamily="34" charset="0"/>
              </a:rPr>
              <a:t>2. Conţinutul raportului juridic civil. Drepturile civile.</a:t>
            </a:r>
            <a:endParaRPr lang="en-US" sz="2300" dirty="0"/>
          </a:p>
        </p:txBody>
      </p:sp>
      <p:sp>
        <p:nvSpPr>
          <p:cNvPr id="26626" name="Rectangle 3"/>
          <p:cNvSpPr>
            <a:spLocks noGrp="1" noChangeArrowheads="1"/>
          </p:cNvSpPr>
          <p:nvPr>
            <p:ph idx="1"/>
          </p:nvPr>
        </p:nvSpPr>
        <p:spPr>
          <a:xfrm>
            <a:off x="457200" y="1143000"/>
            <a:ext cx="8229600" cy="5486400"/>
          </a:xfrm>
        </p:spPr>
        <p:txBody>
          <a:bodyPr>
            <a:noAutofit/>
          </a:bodyPr>
          <a:lstStyle/>
          <a:p>
            <a:pPr marL="91440" indent="0" algn="just">
              <a:spcBef>
                <a:spcPts val="0"/>
              </a:spcBef>
              <a:buFont typeface="Wingdings" pitchFamily="2" charset="2"/>
              <a:buChar char="Ø"/>
            </a:pPr>
            <a:r>
              <a:rPr lang="ro-RO" sz="2200" b="1" dirty="0" smtClean="0">
                <a:latin typeface="Calibri" pitchFamily="34" charset="0"/>
                <a:cs typeface="Calibri" pitchFamily="34" charset="0"/>
              </a:rPr>
              <a:t> Recunoaşterea şi ocrotirea drepturilor civile.</a:t>
            </a:r>
            <a:r>
              <a:rPr lang="ro-RO" sz="2200" dirty="0" smtClean="0">
                <a:latin typeface="Calibri" pitchFamily="34" charset="0"/>
                <a:cs typeface="Calibri" pitchFamily="34" charset="0"/>
              </a:rPr>
              <a:t> </a:t>
            </a:r>
          </a:p>
          <a:p>
            <a:pPr marL="91440" indent="0" algn="just">
              <a:spcBef>
                <a:spcPts val="0"/>
              </a:spcBef>
              <a:buFont typeface="Wingdings" pitchFamily="2" charset="2"/>
              <a:buChar char="Ø"/>
            </a:pPr>
            <a:endParaRPr lang="ro-RO" sz="2200" b="1" dirty="0" smtClean="0">
              <a:latin typeface="Calibri" pitchFamily="34" charset="0"/>
              <a:cs typeface="Calibri" pitchFamily="34" charset="0"/>
            </a:endParaRPr>
          </a:p>
          <a:p>
            <a:pPr marL="91440" indent="0" algn="just">
              <a:spcBef>
                <a:spcPts val="0"/>
              </a:spcBef>
            </a:pPr>
            <a:r>
              <a:rPr lang="ro-RO" sz="2200" dirty="0" smtClean="0">
                <a:latin typeface="Calibri" pitchFamily="34" charset="0"/>
                <a:cs typeface="Calibri" pitchFamily="34" charset="0"/>
              </a:rPr>
              <a:t>Drepturile subiective civile există şi se manifestă în măsura în care ele sunt recunoscute de normele de drept civil. </a:t>
            </a:r>
          </a:p>
          <a:p>
            <a:pPr marL="91440" indent="0" algn="just">
              <a:spcBef>
                <a:spcPts val="0"/>
              </a:spcBef>
            </a:pPr>
            <a:r>
              <a:rPr lang="ro-RO" sz="2200" dirty="0" smtClean="0">
                <a:latin typeface="Calibri" pitchFamily="34" charset="0"/>
                <a:cs typeface="Calibri" pitchFamily="34" charset="0"/>
              </a:rPr>
              <a:t>Ocrotirea dreptului subiectiv civil este asigurată pe calea acţiunilor în justiţie împotriva aceluia care a adus atingere dreptului subiectiv respectiv. Astfel, se realizează restabilirea dreptului încălcat.</a:t>
            </a:r>
          </a:p>
          <a:p>
            <a:pPr marL="91440" indent="0" algn="just">
              <a:spcBef>
                <a:spcPts val="0"/>
              </a:spcBef>
            </a:pPr>
            <a:endParaRPr lang="ro-RO" sz="2200" b="1" dirty="0" smtClean="0">
              <a:latin typeface="Calibri" pitchFamily="34" charset="0"/>
              <a:cs typeface="Calibri" pitchFamily="34" charset="0"/>
            </a:endParaRPr>
          </a:p>
          <a:p>
            <a:pPr marL="91440" indent="0" algn="just">
              <a:spcBef>
                <a:spcPts val="0"/>
              </a:spcBef>
              <a:buFont typeface="Wingdings" pitchFamily="2" charset="2"/>
              <a:buChar char="Ø"/>
            </a:pPr>
            <a:r>
              <a:rPr lang="ro-RO" sz="2200" b="1" dirty="0" smtClean="0">
                <a:latin typeface="Calibri" pitchFamily="34" charset="0"/>
                <a:cs typeface="Calibri" pitchFamily="34" charset="0"/>
              </a:rPr>
              <a:t> Exercitarea drepturilor subiective</a:t>
            </a:r>
            <a:r>
              <a:rPr lang="ro-RO" sz="2200" dirty="0" smtClean="0">
                <a:latin typeface="Calibri" pitchFamily="34" charset="0"/>
                <a:cs typeface="Calibri" pitchFamily="34" charset="0"/>
              </a:rPr>
              <a:t>:</a:t>
            </a:r>
          </a:p>
          <a:p>
            <a:pPr marL="91440" indent="0" algn="just">
              <a:spcBef>
                <a:spcPts val="0"/>
              </a:spcBef>
              <a:buFontTx/>
              <a:buNone/>
            </a:pPr>
            <a:r>
              <a:rPr lang="ro-RO" sz="2200" dirty="0" smtClean="0">
                <a:latin typeface="Calibri" pitchFamily="34" charset="0"/>
                <a:cs typeface="Calibri" pitchFamily="34" charset="0"/>
              </a:rPr>
              <a:t>- exercitarea dreptului subiectiv se face potrivit scopului său;</a:t>
            </a:r>
          </a:p>
          <a:p>
            <a:pPr marL="91440" indent="0" algn="just">
              <a:spcBef>
                <a:spcPts val="0"/>
              </a:spcBef>
              <a:buFontTx/>
              <a:buNone/>
            </a:pPr>
            <a:r>
              <a:rPr lang="ro-RO" sz="2200" dirty="0" smtClean="0">
                <a:latin typeface="Calibri" pitchFamily="34" charset="0"/>
                <a:cs typeface="Calibri" pitchFamily="34" charset="0"/>
              </a:rPr>
              <a:t>- exercitarea dreptului subiectiv se face numai cu respectarea legii şi normelor morale;</a:t>
            </a:r>
          </a:p>
          <a:p>
            <a:pPr marL="91440" indent="0" algn="just">
              <a:spcBef>
                <a:spcPts val="0"/>
              </a:spcBef>
              <a:buFontTx/>
              <a:buChar char="-"/>
            </a:pPr>
            <a:r>
              <a:rPr lang="ro-RO" sz="2200" dirty="0" smtClean="0">
                <a:latin typeface="Calibri" pitchFamily="34" charset="0"/>
                <a:cs typeface="Calibri" pitchFamily="34" charset="0"/>
              </a:rPr>
              <a:t>dreptul subiectiv civil trebuie exercitat cu bună credinţă.</a:t>
            </a:r>
          </a:p>
          <a:p>
            <a:pPr marL="91440" indent="0" algn="just">
              <a:spcBef>
                <a:spcPts val="0"/>
              </a:spcBef>
              <a:buFontTx/>
              <a:buChar char="-"/>
            </a:pPr>
            <a:endParaRPr lang="ro-RO" sz="2200" dirty="0" smtClean="0">
              <a:latin typeface="Calibri" pitchFamily="34" charset="0"/>
              <a:cs typeface="Calibri" pitchFamily="34" charset="0"/>
            </a:endParaRPr>
          </a:p>
          <a:p>
            <a:pPr marL="91440" indent="0" algn="just">
              <a:spcBef>
                <a:spcPts val="0"/>
              </a:spcBef>
            </a:pPr>
            <a:r>
              <a:rPr lang="ro-RO" sz="2200" dirty="0" smtClean="0">
                <a:latin typeface="Calibri" pitchFamily="34" charset="0"/>
                <a:cs typeface="Calibri" pitchFamily="34" charset="0"/>
              </a:rPr>
              <a:t> </a:t>
            </a:r>
            <a:r>
              <a:rPr lang="ro-RO" sz="2200" b="1" u="sng" dirty="0" smtClean="0">
                <a:latin typeface="Calibri" pitchFamily="34" charset="0"/>
                <a:cs typeface="Calibri" pitchFamily="34" charset="0"/>
              </a:rPr>
              <a:t>Încălcarea principiilor de exercitare a drepturilor subiective constituie abuz de drept.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639762"/>
          </a:xfrm>
        </p:spPr>
        <p:txBody>
          <a:bodyPr>
            <a:normAutofit fontScale="90000"/>
          </a:bodyPr>
          <a:lstStyle/>
          <a:p>
            <a:r>
              <a:rPr lang="ro-RO" sz="2300" b="1" dirty="0" smtClean="0">
                <a:latin typeface="Calibri" pitchFamily="34" charset="0"/>
                <a:cs typeface="Calibri" pitchFamily="34" charset="0"/>
              </a:rPr>
              <a:t>RAPORTUL JURIDIC CIVIL</a:t>
            </a:r>
            <a:r>
              <a:rPr lang="en-US" sz="2300" b="1" dirty="0" smtClean="0">
                <a:latin typeface="Calibri" pitchFamily="34" charset="0"/>
                <a:cs typeface="Calibri" pitchFamily="34" charset="0"/>
              </a:rPr>
              <a:t/>
            </a:r>
            <a:br>
              <a:rPr lang="en-US" sz="2300" b="1" dirty="0" smtClean="0">
                <a:latin typeface="Calibri" pitchFamily="34" charset="0"/>
                <a:cs typeface="Calibri" pitchFamily="34" charset="0"/>
              </a:rPr>
            </a:br>
            <a:r>
              <a:rPr lang="ro-RO" sz="2300" b="1" dirty="0" smtClean="0">
                <a:latin typeface="Calibri" pitchFamily="34" charset="0"/>
                <a:cs typeface="Calibri" pitchFamily="34" charset="0"/>
              </a:rPr>
              <a:t>2. Conţinutul raportului juridic civil. Obligaţiile civile.</a:t>
            </a:r>
            <a:endParaRPr lang="en-US" sz="2300" dirty="0"/>
          </a:p>
        </p:txBody>
      </p:sp>
      <p:sp>
        <p:nvSpPr>
          <p:cNvPr id="28674" name="Rectangle 3"/>
          <p:cNvSpPr>
            <a:spLocks noGrp="1" noChangeArrowheads="1"/>
          </p:cNvSpPr>
          <p:nvPr>
            <p:ph idx="1"/>
          </p:nvPr>
        </p:nvSpPr>
        <p:spPr>
          <a:xfrm>
            <a:off x="457200" y="990600"/>
            <a:ext cx="8229600" cy="5638800"/>
          </a:xfrm>
        </p:spPr>
        <p:txBody>
          <a:bodyPr>
            <a:normAutofit/>
          </a:bodyPr>
          <a:lstStyle/>
          <a:p>
            <a:pPr marL="182880" indent="-91440" algn="just">
              <a:spcBef>
                <a:spcPts val="0"/>
              </a:spcBef>
              <a:buFontTx/>
              <a:buNone/>
            </a:pPr>
            <a:r>
              <a:rPr lang="ro-RO" sz="2300" b="1" dirty="0" smtClean="0">
                <a:latin typeface="Calibri" pitchFamily="34" charset="0"/>
                <a:cs typeface="Calibri" pitchFamily="34" charset="0"/>
              </a:rPr>
              <a:t>Clasificarea obligaţiilor civile:</a:t>
            </a:r>
          </a:p>
          <a:p>
            <a:pPr marL="182880" indent="-91440" algn="just">
              <a:spcBef>
                <a:spcPts val="0"/>
              </a:spcBef>
              <a:buFontTx/>
              <a:buNone/>
            </a:pPr>
            <a:endParaRPr lang="ro-RO" sz="2300" dirty="0" smtClean="0">
              <a:latin typeface="Calibri" pitchFamily="34" charset="0"/>
              <a:cs typeface="Calibri" pitchFamily="34" charset="0"/>
            </a:endParaRPr>
          </a:p>
          <a:p>
            <a:pPr marL="182880" indent="-91440" algn="just">
              <a:spcBef>
                <a:spcPts val="0"/>
              </a:spcBef>
              <a:buFontTx/>
              <a:buAutoNum type="alphaUcParenR"/>
            </a:pPr>
            <a:r>
              <a:rPr lang="ro-RO" sz="2300" b="1" dirty="0" smtClean="0">
                <a:latin typeface="Calibri" pitchFamily="34" charset="0"/>
                <a:cs typeface="Calibri" pitchFamily="34" charset="0"/>
              </a:rPr>
              <a:t> În funcţie de obiectul lor:</a:t>
            </a:r>
          </a:p>
          <a:p>
            <a:pPr marL="182880" indent="-91440" algn="just">
              <a:spcBef>
                <a:spcPts val="0"/>
              </a:spcBef>
              <a:buFontTx/>
              <a:buAutoNum type="alphaLcPeriod"/>
            </a:pPr>
            <a:r>
              <a:rPr lang="ro-RO" sz="2300" b="1" dirty="0" smtClean="0">
                <a:latin typeface="Calibri" pitchFamily="34" charset="0"/>
                <a:cs typeface="Calibri" pitchFamily="34" charset="0"/>
              </a:rPr>
              <a:t> obligaţia de a da ceva: </a:t>
            </a:r>
            <a:r>
              <a:rPr lang="ro-RO" sz="2300" dirty="0" smtClean="0">
                <a:latin typeface="Calibri" pitchFamily="34" charset="0"/>
                <a:cs typeface="Calibri" pitchFamily="34" charset="0"/>
              </a:rPr>
              <a:t>îndatorirea de a constitui sau de a transmite un drept real (ex. obligaţia vânzătorului de a transmite dreptul de proprietate asupra lucrului vândut în patrimoniul cumpărătorului). </a:t>
            </a:r>
            <a:endParaRPr lang="ro-RO" sz="2300" b="1" dirty="0" smtClean="0">
              <a:latin typeface="Calibri" pitchFamily="34" charset="0"/>
              <a:cs typeface="Calibri" pitchFamily="34" charset="0"/>
            </a:endParaRPr>
          </a:p>
          <a:p>
            <a:pPr marL="182880" indent="-91440" algn="just">
              <a:spcBef>
                <a:spcPts val="0"/>
              </a:spcBef>
              <a:buFontTx/>
              <a:buAutoNum type="alphaLcPeriod"/>
            </a:pPr>
            <a:r>
              <a:rPr lang="ro-RO" sz="2300" b="1" dirty="0" smtClean="0">
                <a:latin typeface="Calibri" pitchFamily="34" charset="0"/>
                <a:cs typeface="Calibri" pitchFamily="34" charset="0"/>
              </a:rPr>
              <a:t> obligaţia de a face ceva: </a:t>
            </a:r>
            <a:r>
              <a:rPr lang="ro-RO" sz="2300" dirty="0" smtClean="0">
                <a:latin typeface="Calibri" pitchFamily="34" charset="0"/>
                <a:cs typeface="Calibri" pitchFamily="34" charset="0"/>
              </a:rPr>
              <a:t>îndatorirea de a executa o lucrare, de a presta un serviciu sau de a preda un bun (ex. obligaţia prestării serviciului de transport ce aparţine transportatorului într-un contract de transport).</a:t>
            </a:r>
          </a:p>
          <a:p>
            <a:pPr marL="182880" indent="-91440" algn="just">
              <a:spcBef>
                <a:spcPts val="0"/>
              </a:spcBef>
              <a:buFontTx/>
              <a:buAutoNum type="alphaLcPeriod"/>
            </a:pPr>
            <a:r>
              <a:rPr lang="ro-RO" sz="2300" b="1" dirty="0" smtClean="0">
                <a:latin typeface="Calibri" pitchFamily="34" charset="0"/>
                <a:cs typeface="Calibri" pitchFamily="34" charset="0"/>
              </a:rPr>
              <a:t> obligaţia de a nu face ceva: </a:t>
            </a:r>
            <a:r>
              <a:rPr lang="ro-RO" sz="2300" dirty="0" smtClean="0">
                <a:latin typeface="Calibri" pitchFamily="34" charset="0"/>
                <a:cs typeface="Calibri" pitchFamily="34" charset="0"/>
              </a:rPr>
              <a:t>îndatorirea subiectului pasiv de a se abţine de la o acţiune, care ar putea fi exercitată dacă subiectul de drept nu s-ar fi angajat să nu facă (ex. obligaţia de a nu construi un gard despărţitor mai înalt de 2 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639762"/>
          </a:xfrm>
        </p:spPr>
        <p:txBody>
          <a:bodyPr>
            <a:normAutofit fontScale="90000"/>
          </a:bodyPr>
          <a:lstStyle/>
          <a:p>
            <a:r>
              <a:rPr lang="ro-RO" sz="2300" b="1" dirty="0" smtClean="0">
                <a:latin typeface="Calibri" pitchFamily="34" charset="0"/>
                <a:cs typeface="Calibri" pitchFamily="34" charset="0"/>
              </a:rPr>
              <a:t>RAPORTUL JURIDIC CIVIL</a:t>
            </a:r>
            <a:r>
              <a:rPr lang="en-US" sz="2300" b="1" dirty="0" smtClean="0">
                <a:latin typeface="Calibri" pitchFamily="34" charset="0"/>
                <a:cs typeface="Calibri" pitchFamily="34" charset="0"/>
              </a:rPr>
              <a:t/>
            </a:r>
            <a:br>
              <a:rPr lang="en-US" sz="2300" b="1" dirty="0" smtClean="0">
                <a:latin typeface="Calibri" pitchFamily="34" charset="0"/>
                <a:cs typeface="Calibri" pitchFamily="34" charset="0"/>
              </a:rPr>
            </a:br>
            <a:r>
              <a:rPr lang="ro-RO" sz="2300" b="1" dirty="0" smtClean="0">
                <a:latin typeface="Calibri" pitchFamily="34" charset="0"/>
                <a:cs typeface="Calibri" pitchFamily="34" charset="0"/>
              </a:rPr>
              <a:t>2. Conţinutul raportului juridic civil. Obligaţiile civile.</a:t>
            </a:r>
            <a:endParaRPr lang="en-US" sz="2300" dirty="0"/>
          </a:p>
        </p:txBody>
      </p:sp>
      <p:sp>
        <p:nvSpPr>
          <p:cNvPr id="30722" name="Rectangle 3"/>
          <p:cNvSpPr>
            <a:spLocks noGrp="1" noChangeArrowheads="1"/>
          </p:cNvSpPr>
          <p:nvPr>
            <p:ph idx="1"/>
          </p:nvPr>
        </p:nvSpPr>
        <p:spPr>
          <a:xfrm>
            <a:off x="457200" y="1143000"/>
            <a:ext cx="8229600" cy="5334000"/>
          </a:xfrm>
        </p:spPr>
        <p:txBody>
          <a:bodyPr>
            <a:normAutofit/>
          </a:bodyPr>
          <a:lstStyle/>
          <a:p>
            <a:pPr marL="91440" algn="just">
              <a:spcBef>
                <a:spcPts val="0"/>
              </a:spcBef>
              <a:buFontTx/>
              <a:buNone/>
            </a:pPr>
            <a:r>
              <a:rPr lang="ro-RO" sz="2200" b="1" dirty="0" smtClean="0">
                <a:latin typeface="Calibri" pitchFamily="34" charset="0"/>
                <a:cs typeface="Calibri" pitchFamily="34" charset="0"/>
              </a:rPr>
              <a:t>B. Obligaţii pozitive şi obligaţii negative:</a:t>
            </a:r>
            <a:endParaRPr lang="ro-RO" sz="2200" dirty="0" smtClean="0">
              <a:latin typeface="Calibri" pitchFamily="34" charset="0"/>
              <a:cs typeface="Calibri" pitchFamily="34" charset="0"/>
            </a:endParaRPr>
          </a:p>
          <a:p>
            <a:pPr marL="91440" algn="just">
              <a:spcBef>
                <a:spcPts val="0"/>
              </a:spcBef>
              <a:buFontTx/>
              <a:buNone/>
            </a:pPr>
            <a:r>
              <a:rPr lang="ro-RO" sz="2200" dirty="0" smtClean="0">
                <a:latin typeface="Calibri" pitchFamily="34" charset="0"/>
                <a:cs typeface="Calibri" pitchFamily="34" charset="0"/>
              </a:rPr>
              <a:t>a. obligaţiile pozitive sunt acele obligaţii care implică o acţiune, respectiv de a da ceva şi de a face ceva.</a:t>
            </a:r>
          </a:p>
          <a:p>
            <a:pPr marL="91440" algn="just">
              <a:spcBef>
                <a:spcPts val="0"/>
              </a:spcBef>
              <a:buFontTx/>
              <a:buNone/>
            </a:pPr>
            <a:r>
              <a:rPr lang="ro-RO" sz="2200" dirty="0" smtClean="0">
                <a:latin typeface="Calibri" pitchFamily="34" charset="0"/>
                <a:cs typeface="Calibri" pitchFamily="34" charset="0"/>
              </a:rPr>
              <a:t>b. obligaţiile negative sunt acele obligaţii care constau dintr-o abţinere, de a nu face ceva.</a:t>
            </a:r>
          </a:p>
          <a:p>
            <a:pPr marL="91440" algn="just">
              <a:spcBef>
                <a:spcPts val="0"/>
              </a:spcBef>
              <a:buFontTx/>
              <a:buNone/>
            </a:pPr>
            <a:endParaRPr lang="ro-RO" sz="2200" dirty="0" smtClean="0">
              <a:latin typeface="Calibri" pitchFamily="34" charset="0"/>
              <a:cs typeface="Calibri" pitchFamily="34" charset="0"/>
            </a:endParaRPr>
          </a:p>
          <a:p>
            <a:pPr marL="91440" indent="-533400" algn="just">
              <a:spcBef>
                <a:spcPts val="0"/>
              </a:spcBef>
              <a:buFontTx/>
              <a:buNone/>
            </a:pPr>
            <a:r>
              <a:rPr lang="ro-RO" sz="2200" b="1" dirty="0" smtClean="0">
                <a:latin typeface="Calibri" pitchFamily="34" charset="0"/>
                <a:cs typeface="Calibri" pitchFamily="34" charset="0"/>
              </a:rPr>
              <a:t>C. Obligaţii de rezultat şi obligaţii de diligenţă:</a:t>
            </a:r>
            <a:endParaRPr lang="ro-RO" sz="2200" dirty="0" smtClean="0">
              <a:latin typeface="Calibri" pitchFamily="34" charset="0"/>
              <a:cs typeface="Calibri" pitchFamily="34" charset="0"/>
            </a:endParaRPr>
          </a:p>
          <a:p>
            <a:pPr marL="91440" indent="-533400" algn="just">
              <a:spcBef>
                <a:spcPts val="0"/>
              </a:spcBef>
              <a:buFontTx/>
              <a:buAutoNum type="alphaLcPeriod"/>
            </a:pPr>
            <a:r>
              <a:rPr lang="ro-RO" sz="2200" dirty="0" smtClean="0">
                <a:latin typeface="Calibri" pitchFamily="34" charset="0"/>
                <a:cs typeface="Calibri" pitchFamily="34" charset="0"/>
              </a:rPr>
              <a:t>obligaţiile civile de rezultat, sunt acele obligaţii civile în care debitorul îşi asumă îndatorirea de a obţine un rezultat determinat în favoarea creditorului său (ex. Într-o donaţie, obligaţia donatorului de a da donatarului lucrul ce formează obiectul donaţiei).</a:t>
            </a:r>
          </a:p>
          <a:p>
            <a:pPr marL="91440" indent="-533400" algn="just">
              <a:spcBef>
                <a:spcPts val="0"/>
              </a:spcBef>
              <a:buFontTx/>
              <a:buAutoNum type="alphaLcPeriod"/>
            </a:pPr>
            <a:r>
              <a:rPr lang="ro-RO" sz="2200" dirty="0" smtClean="0">
                <a:latin typeface="Calibri" pitchFamily="34" charset="0"/>
                <a:cs typeface="Calibri" pitchFamily="34" charset="0"/>
              </a:rPr>
              <a:t>obligaţii civile de diligenţă, sunt acele obligaţii prin care debitorul se angajează  să depună toată stăruinţa în vederea obţinerii unui rezultat, fără însă a se obliga la însuşi rezultatul preconizat (ex. obligaţia unui medic de a trata un pacient, obligaţia avocatlui).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639762"/>
          </a:xfrm>
        </p:spPr>
        <p:txBody>
          <a:bodyPr>
            <a:normAutofit fontScale="90000"/>
          </a:bodyPr>
          <a:lstStyle/>
          <a:p>
            <a:r>
              <a:rPr lang="ro-RO" sz="2300" b="1" dirty="0" smtClean="0">
                <a:latin typeface="Calibri" pitchFamily="34" charset="0"/>
                <a:cs typeface="Calibri" pitchFamily="34" charset="0"/>
              </a:rPr>
              <a:t>RAPORTUL JURIDIC CIVIL</a:t>
            </a:r>
            <a:r>
              <a:rPr lang="en-US" sz="2300" b="1" dirty="0" smtClean="0">
                <a:latin typeface="Calibri" pitchFamily="34" charset="0"/>
                <a:cs typeface="Calibri" pitchFamily="34" charset="0"/>
              </a:rPr>
              <a:t/>
            </a:r>
            <a:br>
              <a:rPr lang="en-US" sz="2300" b="1" dirty="0" smtClean="0">
                <a:latin typeface="Calibri" pitchFamily="34" charset="0"/>
                <a:cs typeface="Calibri" pitchFamily="34" charset="0"/>
              </a:rPr>
            </a:br>
            <a:r>
              <a:rPr lang="ro-RO" sz="2300" b="1" dirty="0" smtClean="0">
                <a:latin typeface="Calibri" pitchFamily="34" charset="0"/>
                <a:cs typeface="Calibri" pitchFamily="34" charset="0"/>
              </a:rPr>
              <a:t>3. Obiectul RJC.</a:t>
            </a:r>
            <a:endParaRPr lang="en-US" sz="2300" dirty="0"/>
          </a:p>
        </p:txBody>
      </p:sp>
      <p:sp>
        <p:nvSpPr>
          <p:cNvPr id="33794" name="Rectangle 3"/>
          <p:cNvSpPr>
            <a:spLocks noGrp="1" noChangeArrowheads="1"/>
          </p:cNvSpPr>
          <p:nvPr>
            <p:ph idx="1"/>
          </p:nvPr>
        </p:nvSpPr>
        <p:spPr>
          <a:xfrm>
            <a:off x="457200" y="1143000"/>
            <a:ext cx="8229600" cy="5410200"/>
          </a:xfrm>
        </p:spPr>
        <p:txBody>
          <a:bodyPr>
            <a:normAutofit/>
          </a:bodyPr>
          <a:lstStyle/>
          <a:p>
            <a:pPr algn="just">
              <a:buFont typeface="Wingdings" pitchFamily="2" charset="2"/>
              <a:buChar char="Ø"/>
            </a:pPr>
            <a:endParaRPr lang="ro-RO" sz="2800" b="1" dirty="0" smtClean="0"/>
          </a:p>
          <a:p>
            <a:pPr algn="just">
              <a:buFont typeface="Wingdings" pitchFamily="2" charset="2"/>
              <a:buChar char="Ø"/>
            </a:pPr>
            <a:r>
              <a:rPr lang="ro-RO" sz="2800" b="1" dirty="0" smtClean="0"/>
              <a:t>Noţiune</a:t>
            </a:r>
            <a:r>
              <a:rPr lang="ro-RO" sz="2800" dirty="0" smtClean="0"/>
              <a:t> - Obiect al raportului juridic civil îi formează conduita subiectelor şi anume:</a:t>
            </a:r>
          </a:p>
          <a:p>
            <a:pPr marL="514350" indent="-514350" algn="just">
              <a:buFont typeface="+mj-lt"/>
              <a:buAutoNum type="arabicParenR"/>
            </a:pPr>
            <a:r>
              <a:rPr lang="ro-RO" sz="2800" b="1" u="sng" dirty="0" smtClean="0"/>
              <a:t>acţiunea sau inacţiunea la care este îndreptăţit subiectul activ</a:t>
            </a:r>
            <a:r>
              <a:rPr lang="ro-RO" sz="2800" dirty="0" smtClean="0"/>
              <a:t> şi </a:t>
            </a:r>
          </a:p>
          <a:p>
            <a:pPr marL="514350" indent="-514350" algn="just">
              <a:buFont typeface="+mj-lt"/>
              <a:buAutoNum type="arabicParenR"/>
            </a:pPr>
            <a:r>
              <a:rPr lang="ro-RO" sz="2800" b="1" u="sng" dirty="0" smtClean="0"/>
              <a:t>acţiunea sau inacţiunea la care este obligat subiectul pasiv</a:t>
            </a:r>
            <a:r>
              <a:rPr lang="ro-RO" sz="2800" dirty="0" smtClean="0"/>
              <a:t>.</a:t>
            </a:r>
          </a:p>
          <a:p>
            <a:endParaRPr lang="ro-RO" sz="2800" dirty="0" smtClean="0"/>
          </a:p>
          <a:p>
            <a:r>
              <a:rPr lang="ro-RO" sz="2800" dirty="0" smtClean="0"/>
              <a:t>În raporturile juridice patrimoniale conduita părţilor se referă adesea la lucruri materiale, la bunuri.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639762"/>
          </a:xfrm>
        </p:spPr>
        <p:txBody>
          <a:bodyPr>
            <a:normAutofit fontScale="90000"/>
          </a:bodyPr>
          <a:lstStyle/>
          <a:p>
            <a:r>
              <a:rPr lang="ro-RO" sz="2500" b="1" dirty="0" smtClean="0">
                <a:latin typeface="Calibri" pitchFamily="34" charset="0"/>
                <a:cs typeface="Calibri" pitchFamily="34" charset="0"/>
              </a:rPr>
              <a:t>RAPORTUL JURIDIC CIVIL</a:t>
            </a:r>
            <a:r>
              <a:rPr lang="en-US" sz="2500" b="1" dirty="0" smtClean="0">
                <a:latin typeface="Calibri" pitchFamily="34" charset="0"/>
                <a:cs typeface="Calibri" pitchFamily="34" charset="0"/>
              </a:rPr>
              <a:t/>
            </a:r>
            <a:br>
              <a:rPr lang="en-US" sz="2500" b="1" dirty="0" smtClean="0">
                <a:latin typeface="Calibri" pitchFamily="34" charset="0"/>
                <a:cs typeface="Calibri" pitchFamily="34" charset="0"/>
              </a:rPr>
            </a:br>
            <a:r>
              <a:rPr lang="ro-RO" sz="2500" b="1" dirty="0" smtClean="0">
                <a:latin typeface="Calibri" pitchFamily="34" charset="0"/>
                <a:cs typeface="Calibri" pitchFamily="34" charset="0"/>
              </a:rPr>
              <a:t>Bunurile.</a:t>
            </a:r>
            <a:endParaRPr lang="en-US" sz="2500" dirty="0"/>
          </a:p>
        </p:txBody>
      </p:sp>
      <p:sp>
        <p:nvSpPr>
          <p:cNvPr id="34818" name="Rectangle 3"/>
          <p:cNvSpPr>
            <a:spLocks noGrp="1" noChangeArrowheads="1"/>
          </p:cNvSpPr>
          <p:nvPr>
            <p:ph idx="1"/>
          </p:nvPr>
        </p:nvSpPr>
        <p:spPr>
          <a:xfrm>
            <a:off x="457200" y="1143000"/>
            <a:ext cx="8229600" cy="5257800"/>
          </a:xfrm>
        </p:spPr>
        <p:txBody>
          <a:bodyPr>
            <a:normAutofit/>
          </a:bodyPr>
          <a:lstStyle/>
          <a:p>
            <a:pPr algn="just">
              <a:buFont typeface="Wingdings" pitchFamily="2" charset="2"/>
              <a:buChar char="Ø"/>
            </a:pPr>
            <a:endParaRPr lang="ro-RO" sz="2500" b="1" dirty="0" smtClean="0">
              <a:latin typeface="Calibri" pitchFamily="34" charset="0"/>
              <a:cs typeface="Calibri" pitchFamily="34" charset="0"/>
            </a:endParaRPr>
          </a:p>
          <a:p>
            <a:pPr algn="just">
              <a:buFont typeface="Wingdings" pitchFamily="2" charset="2"/>
              <a:buChar char="Ø"/>
            </a:pPr>
            <a:r>
              <a:rPr lang="ro-RO" sz="2500" b="1" dirty="0" smtClean="0">
                <a:latin typeface="Calibri" pitchFamily="34" charset="0"/>
                <a:cs typeface="Calibri" pitchFamily="34" charset="0"/>
              </a:rPr>
              <a:t>Definiţie:</a:t>
            </a:r>
          </a:p>
          <a:p>
            <a:pPr algn="just"/>
            <a:endParaRPr lang="ro-RO" sz="2500" dirty="0" smtClean="0">
              <a:latin typeface="Calibri" pitchFamily="34" charset="0"/>
              <a:cs typeface="Calibri" pitchFamily="34" charset="0"/>
            </a:endParaRPr>
          </a:p>
          <a:p>
            <a:pPr algn="just"/>
            <a:r>
              <a:rPr lang="ro-RO" sz="2500" dirty="0" smtClean="0">
                <a:latin typeface="Calibri" pitchFamily="34" charset="0"/>
                <a:cs typeface="Calibri" pitchFamily="34" charset="0"/>
              </a:rPr>
              <a:t>Din punct de vedere economic, prin bun se înţelege orice lucru care este util omului</a:t>
            </a:r>
            <a:r>
              <a:rPr lang="ro-RO" sz="2500" i="1" dirty="0" smtClean="0">
                <a:latin typeface="Calibri" pitchFamily="34" charset="0"/>
                <a:cs typeface="Calibri" pitchFamily="34" charset="0"/>
              </a:rPr>
              <a:t>.</a:t>
            </a:r>
          </a:p>
          <a:p>
            <a:pPr algn="just">
              <a:lnSpc>
                <a:spcPct val="90000"/>
              </a:lnSpc>
            </a:pPr>
            <a:endParaRPr lang="ro-RO" sz="2500" dirty="0" smtClean="0">
              <a:latin typeface="Calibri" pitchFamily="34" charset="0"/>
              <a:cs typeface="Calibri" pitchFamily="34" charset="0"/>
            </a:endParaRPr>
          </a:p>
          <a:p>
            <a:pPr algn="just">
              <a:lnSpc>
                <a:spcPct val="90000"/>
              </a:lnSpc>
            </a:pPr>
            <a:r>
              <a:rPr lang="ro-RO" sz="2500" dirty="0" smtClean="0">
                <a:latin typeface="Calibri" pitchFamily="34" charset="0"/>
                <a:cs typeface="Calibri" pitchFamily="34" charset="0"/>
              </a:rPr>
              <a:t>Din punct de vedere juridic, un lucru poate fi considerat „</a:t>
            </a:r>
            <a:r>
              <a:rPr lang="ro-RO" sz="2500" i="1" dirty="0" smtClean="0">
                <a:latin typeface="Calibri" pitchFamily="34" charset="0"/>
                <a:cs typeface="Calibri" pitchFamily="34" charset="0"/>
              </a:rPr>
              <a:t>bun</a:t>
            </a:r>
            <a:r>
              <a:rPr lang="ro-RO" sz="2500" dirty="0" smtClean="0">
                <a:latin typeface="Calibri" pitchFamily="34" charset="0"/>
                <a:cs typeface="Calibri" pitchFamily="34" charset="0"/>
              </a:rPr>
              <a:t>” dacă îndeplineşte următoarele condiţii:</a:t>
            </a:r>
          </a:p>
          <a:p>
            <a:pPr algn="just">
              <a:lnSpc>
                <a:spcPct val="90000"/>
              </a:lnSpc>
              <a:buFontTx/>
              <a:buNone/>
            </a:pPr>
            <a:r>
              <a:rPr lang="ro-RO" sz="2500" dirty="0" smtClean="0">
                <a:latin typeface="Calibri" pitchFamily="34" charset="0"/>
                <a:cs typeface="Calibri" pitchFamily="34" charset="0"/>
              </a:rPr>
              <a:t>- este util pentru trebuinţele omului;</a:t>
            </a:r>
          </a:p>
          <a:p>
            <a:pPr algn="just">
              <a:lnSpc>
                <a:spcPct val="90000"/>
              </a:lnSpc>
              <a:buFontTx/>
              <a:buNone/>
            </a:pPr>
            <a:r>
              <a:rPr lang="ro-RO" sz="2500" dirty="0" smtClean="0">
                <a:latin typeface="Calibri" pitchFamily="34" charset="0"/>
                <a:cs typeface="Calibri" pitchFamily="34" charset="0"/>
              </a:rPr>
              <a:t>- are valoare economică;</a:t>
            </a:r>
          </a:p>
          <a:p>
            <a:pPr algn="just">
              <a:lnSpc>
                <a:spcPct val="90000"/>
              </a:lnSpc>
              <a:buFontTx/>
              <a:buChar char="-"/>
            </a:pPr>
            <a:r>
              <a:rPr lang="ro-RO" sz="2500" dirty="0" smtClean="0">
                <a:latin typeface="Calibri" pitchFamily="34" charset="0"/>
                <a:cs typeface="Calibri" pitchFamily="34" charset="0"/>
              </a:rPr>
              <a:t>este susceptibil de apropiere juridică (de deţinere) sub forma unor drepturi.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639762"/>
          </a:xfrm>
        </p:spPr>
        <p:txBody>
          <a:bodyPr>
            <a:normAutofit fontScale="90000"/>
          </a:bodyPr>
          <a:lstStyle/>
          <a:p>
            <a:r>
              <a:rPr lang="ro-RO" sz="2500" b="1" dirty="0" smtClean="0">
                <a:latin typeface="Calibri" pitchFamily="34" charset="0"/>
                <a:cs typeface="Calibri" pitchFamily="34" charset="0"/>
              </a:rPr>
              <a:t>RAPORTUL JURIDIC CIVIL</a:t>
            </a:r>
            <a:r>
              <a:rPr lang="en-US" sz="2500" b="1" dirty="0" smtClean="0">
                <a:latin typeface="Calibri" pitchFamily="34" charset="0"/>
                <a:cs typeface="Calibri" pitchFamily="34" charset="0"/>
              </a:rPr>
              <a:t/>
            </a:r>
            <a:br>
              <a:rPr lang="en-US" sz="2500" b="1" dirty="0" smtClean="0">
                <a:latin typeface="Calibri" pitchFamily="34" charset="0"/>
                <a:cs typeface="Calibri" pitchFamily="34" charset="0"/>
              </a:rPr>
            </a:br>
            <a:r>
              <a:rPr lang="ro-RO" sz="2500" b="1" dirty="0" smtClean="0">
                <a:latin typeface="Calibri" pitchFamily="34" charset="0"/>
                <a:cs typeface="Calibri" pitchFamily="34" charset="0"/>
              </a:rPr>
              <a:t>Bunurile.</a:t>
            </a:r>
            <a:endParaRPr lang="en-US" sz="2500" dirty="0"/>
          </a:p>
        </p:txBody>
      </p:sp>
      <p:sp>
        <p:nvSpPr>
          <p:cNvPr id="35842" name="Rectangle 3"/>
          <p:cNvSpPr>
            <a:spLocks noGrp="1" noChangeArrowheads="1"/>
          </p:cNvSpPr>
          <p:nvPr>
            <p:ph idx="1"/>
          </p:nvPr>
        </p:nvSpPr>
        <p:spPr>
          <a:xfrm>
            <a:off x="457200" y="990600"/>
            <a:ext cx="8229600" cy="5562600"/>
          </a:xfrm>
        </p:spPr>
        <p:txBody>
          <a:bodyPr>
            <a:normAutofit/>
          </a:bodyPr>
          <a:lstStyle/>
          <a:p>
            <a:pPr algn="just">
              <a:lnSpc>
                <a:spcPct val="90000"/>
              </a:lnSpc>
              <a:spcBef>
                <a:spcPts val="0"/>
              </a:spcBef>
            </a:pPr>
            <a:r>
              <a:rPr lang="ro-RO" sz="2500" b="1" dirty="0" smtClean="0">
                <a:latin typeface="Calibri" pitchFamily="34" charset="0"/>
                <a:cs typeface="Calibri" pitchFamily="34" charset="0"/>
              </a:rPr>
              <a:t>Clasificarea bunurilor</a:t>
            </a:r>
          </a:p>
          <a:p>
            <a:pPr algn="just">
              <a:lnSpc>
                <a:spcPct val="90000"/>
              </a:lnSpc>
              <a:spcBef>
                <a:spcPts val="0"/>
              </a:spcBef>
            </a:pPr>
            <a:endParaRPr lang="ro-RO" sz="2500" b="1" dirty="0" smtClean="0">
              <a:latin typeface="Calibri" pitchFamily="34" charset="0"/>
              <a:cs typeface="Calibri" pitchFamily="34" charset="0"/>
            </a:endParaRPr>
          </a:p>
          <a:p>
            <a:pPr algn="just">
              <a:lnSpc>
                <a:spcPct val="90000"/>
              </a:lnSpc>
              <a:spcBef>
                <a:spcPts val="0"/>
              </a:spcBef>
              <a:buFontTx/>
              <a:buNone/>
            </a:pPr>
            <a:r>
              <a:rPr lang="ro-RO" sz="2500" b="1" dirty="0" smtClean="0">
                <a:latin typeface="Calibri" pitchFamily="34" charset="0"/>
                <a:cs typeface="Calibri" pitchFamily="34" charset="0"/>
              </a:rPr>
              <a:t>A. În funcţie de criteriul circulaţiei lor juridice</a:t>
            </a:r>
            <a:r>
              <a:rPr lang="ro-RO" sz="2500" dirty="0" smtClean="0">
                <a:latin typeface="Calibri" pitchFamily="34" charset="0"/>
                <a:cs typeface="Calibri" pitchFamily="34" charset="0"/>
              </a:rPr>
              <a:t>: </a:t>
            </a:r>
          </a:p>
          <a:p>
            <a:pPr algn="just">
              <a:lnSpc>
                <a:spcPct val="90000"/>
              </a:lnSpc>
              <a:spcBef>
                <a:spcPts val="0"/>
              </a:spcBef>
              <a:buFontTx/>
              <a:buNone/>
            </a:pPr>
            <a:r>
              <a:rPr lang="ro-RO" sz="2500" dirty="0" smtClean="0">
                <a:latin typeface="Calibri" pitchFamily="34" charset="0"/>
                <a:cs typeface="Calibri" pitchFamily="34" charset="0"/>
              </a:rPr>
              <a:t>- bunuri </a:t>
            </a:r>
            <a:r>
              <a:rPr lang="ro-RO" sz="2500" b="1" u="sng" dirty="0" smtClean="0">
                <a:latin typeface="Calibri" pitchFamily="34" charset="0"/>
                <a:cs typeface="Calibri" pitchFamily="34" charset="0"/>
              </a:rPr>
              <a:t>aflate în circuitul civil</a:t>
            </a:r>
            <a:r>
              <a:rPr lang="ro-RO" sz="2500" dirty="0" smtClean="0">
                <a:latin typeface="Calibri" pitchFamily="34" charset="0"/>
                <a:cs typeface="Calibri" pitchFamily="34" charset="0"/>
              </a:rPr>
              <a:t>;</a:t>
            </a:r>
          </a:p>
          <a:p>
            <a:pPr algn="just">
              <a:lnSpc>
                <a:spcPct val="90000"/>
              </a:lnSpc>
              <a:spcBef>
                <a:spcPts val="0"/>
              </a:spcBef>
              <a:buFontTx/>
              <a:buNone/>
            </a:pPr>
            <a:r>
              <a:rPr lang="ro-RO" sz="2500" dirty="0" smtClean="0">
                <a:latin typeface="Calibri" pitchFamily="34" charset="0"/>
                <a:cs typeface="Calibri" pitchFamily="34" charset="0"/>
              </a:rPr>
              <a:t>- bunuri </a:t>
            </a:r>
            <a:r>
              <a:rPr lang="ro-RO" sz="2500" b="1" u="sng" dirty="0" smtClean="0">
                <a:latin typeface="Calibri" pitchFamily="34" charset="0"/>
                <a:cs typeface="Calibri" pitchFamily="34" charset="0"/>
              </a:rPr>
              <a:t>exceptate circuitului civil</a:t>
            </a:r>
            <a:r>
              <a:rPr lang="ro-RO" sz="2500" dirty="0" smtClean="0">
                <a:latin typeface="Calibri" pitchFamily="34" charset="0"/>
                <a:cs typeface="Calibri" pitchFamily="34" charset="0"/>
              </a:rPr>
              <a:t>. Ex: terenurile care fac parte din domeniul public: parcuri, plaje, marea teritorială. </a:t>
            </a:r>
          </a:p>
          <a:p>
            <a:pPr algn="just">
              <a:lnSpc>
                <a:spcPct val="90000"/>
              </a:lnSpc>
              <a:spcBef>
                <a:spcPts val="0"/>
              </a:spcBef>
              <a:buFontTx/>
              <a:buChar char="-"/>
            </a:pPr>
            <a:r>
              <a:rPr lang="ro-RO" sz="2500" dirty="0" smtClean="0">
                <a:latin typeface="Calibri" pitchFamily="34" charset="0"/>
                <a:cs typeface="Calibri" pitchFamily="34" charset="0"/>
              </a:rPr>
              <a:t>bunuri </a:t>
            </a:r>
            <a:r>
              <a:rPr lang="ro-RO" sz="2500" b="1" u="sng" dirty="0" smtClean="0">
                <a:latin typeface="Calibri" pitchFamily="34" charset="0"/>
                <a:cs typeface="Calibri" pitchFamily="34" charset="0"/>
              </a:rPr>
              <a:t>cu circuit civil condiţionat</a:t>
            </a:r>
            <a:r>
              <a:rPr lang="ro-RO" sz="2500" dirty="0" smtClean="0">
                <a:latin typeface="Calibri" pitchFamily="34" charset="0"/>
                <a:cs typeface="Calibri" pitchFamily="34" charset="0"/>
              </a:rPr>
              <a:t>. Ex. armele, muniţiile şi materialele explozibile; produsele şi substanţele toxice.</a:t>
            </a:r>
          </a:p>
          <a:p>
            <a:pPr algn="just">
              <a:lnSpc>
                <a:spcPct val="80000"/>
              </a:lnSpc>
              <a:spcBef>
                <a:spcPts val="0"/>
              </a:spcBef>
              <a:buFontTx/>
              <a:buNone/>
            </a:pPr>
            <a:endParaRPr lang="ro-RO" sz="2500" b="1" dirty="0" smtClean="0">
              <a:latin typeface="Calibri" pitchFamily="34" charset="0"/>
              <a:cs typeface="Calibri" pitchFamily="34" charset="0"/>
            </a:endParaRPr>
          </a:p>
          <a:p>
            <a:pPr algn="just">
              <a:lnSpc>
                <a:spcPct val="80000"/>
              </a:lnSpc>
              <a:spcBef>
                <a:spcPts val="0"/>
              </a:spcBef>
              <a:buFontTx/>
              <a:buNone/>
            </a:pPr>
            <a:r>
              <a:rPr lang="en-US" sz="2500" b="1" dirty="0" smtClean="0">
                <a:latin typeface="Calibri" pitchFamily="34" charset="0"/>
                <a:cs typeface="Calibri" pitchFamily="34" charset="0"/>
              </a:rPr>
              <a:t>B. </a:t>
            </a:r>
            <a:r>
              <a:rPr lang="ro-RO" sz="2500" b="1" dirty="0" smtClean="0">
                <a:latin typeface="Calibri" pitchFamily="34" charset="0"/>
                <a:cs typeface="Calibri" pitchFamily="34" charset="0"/>
              </a:rPr>
              <a:t>În funcţie de natura bunurilor şi de calificarea dată de lege</a:t>
            </a:r>
            <a:r>
              <a:rPr lang="ro-RO" sz="2500" dirty="0" smtClean="0">
                <a:latin typeface="Calibri" pitchFamily="34" charset="0"/>
                <a:cs typeface="Calibri" pitchFamily="34" charset="0"/>
              </a:rPr>
              <a:t>:</a:t>
            </a:r>
          </a:p>
          <a:p>
            <a:pPr algn="just">
              <a:lnSpc>
                <a:spcPct val="80000"/>
              </a:lnSpc>
              <a:spcBef>
                <a:spcPts val="0"/>
              </a:spcBef>
              <a:buFontTx/>
              <a:buChar char="-"/>
            </a:pPr>
            <a:r>
              <a:rPr lang="ro-RO" sz="2500" dirty="0" smtClean="0">
                <a:latin typeface="Calibri" pitchFamily="34" charset="0"/>
                <a:cs typeface="Calibri" pitchFamily="34" charset="0"/>
              </a:rPr>
              <a:t>bunuri </a:t>
            </a:r>
            <a:r>
              <a:rPr lang="ro-RO" sz="2500" b="1" u="sng" dirty="0" smtClean="0">
                <a:latin typeface="Calibri" pitchFamily="34" charset="0"/>
                <a:cs typeface="Calibri" pitchFamily="34" charset="0"/>
              </a:rPr>
              <a:t>imobile</a:t>
            </a:r>
            <a:r>
              <a:rPr lang="ro-RO" sz="2500" dirty="0" smtClean="0">
                <a:latin typeface="Calibri" pitchFamily="34" charset="0"/>
                <a:cs typeface="Calibri" pitchFamily="34" charset="0"/>
              </a:rPr>
              <a:t>. Sunt fixe, stabile, fiind legate de sol.</a:t>
            </a:r>
          </a:p>
          <a:p>
            <a:pPr algn="just">
              <a:lnSpc>
                <a:spcPct val="80000"/>
              </a:lnSpc>
              <a:spcBef>
                <a:spcPts val="0"/>
              </a:spcBef>
              <a:buFontTx/>
              <a:buChar char="-"/>
            </a:pPr>
            <a:r>
              <a:rPr lang="ro-RO" sz="2500" dirty="0" smtClean="0">
                <a:latin typeface="Calibri" pitchFamily="34" charset="0"/>
                <a:cs typeface="Calibri" pitchFamily="34" charset="0"/>
              </a:rPr>
              <a:t>bunuri </a:t>
            </a:r>
            <a:r>
              <a:rPr lang="ro-RO" sz="2500" b="1" u="sng" dirty="0" smtClean="0">
                <a:latin typeface="Calibri" pitchFamily="34" charset="0"/>
                <a:cs typeface="Calibri" pitchFamily="34" charset="0"/>
              </a:rPr>
              <a:t>mobile</a:t>
            </a:r>
            <a:r>
              <a:rPr lang="ro-RO" sz="2500" dirty="0" smtClean="0">
                <a:latin typeface="Calibri" pitchFamily="34" charset="0"/>
                <a:cs typeface="Calibri" pitchFamily="34" charset="0"/>
              </a:rPr>
              <a:t> sau mişcătoare. Pot fi deplasate dintr-un loc în altul fie cu ajutorul propriei forţe, fie cu ajutorul unei forţe străine: ex. sutomobilele, cărţile.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639762"/>
          </a:xfrm>
        </p:spPr>
        <p:txBody>
          <a:bodyPr>
            <a:normAutofit fontScale="90000"/>
          </a:bodyPr>
          <a:lstStyle/>
          <a:p>
            <a:r>
              <a:rPr lang="ro-RO" sz="2300" b="1" dirty="0" smtClean="0">
                <a:latin typeface="Calibri" pitchFamily="34" charset="0"/>
                <a:cs typeface="Calibri" pitchFamily="34" charset="0"/>
              </a:rPr>
              <a:t>RAPORTUL JURIDIC CIVIL</a:t>
            </a:r>
            <a:r>
              <a:rPr lang="en-US" sz="2300" b="1" dirty="0" smtClean="0">
                <a:latin typeface="Calibri" pitchFamily="34" charset="0"/>
                <a:cs typeface="Calibri" pitchFamily="34" charset="0"/>
              </a:rPr>
              <a:t/>
            </a:r>
            <a:br>
              <a:rPr lang="en-US" sz="2300" b="1" dirty="0" smtClean="0">
                <a:latin typeface="Calibri" pitchFamily="34" charset="0"/>
                <a:cs typeface="Calibri" pitchFamily="34" charset="0"/>
              </a:rPr>
            </a:br>
            <a:r>
              <a:rPr lang="ro-RO" sz="2300" b="1" dirty="0" smtClean="0">
                <a:latin typeface="Calibri" pitchFamily="34" charset="0"/>
                <a:cs typeface="Calibri" pitchFamily="34" charset="0"/>
              </a:rPr>
              <a:t>Bunurile.</a:t>
            </a:r>
            <a:endParaRPr lang="en-US" sz="2300" dirty="0"/>
          </a:p>
        </p:txBody>
      </p:sp>
      <p:sp>
        <p:nvSpPr>
          <p:cNvPr id="39938" name="Rectangle 3"/>
          <p:cNvSpPr>
            <a:spLocks noGrp="1" noChangeArrowheads="1"/>
          </p:cNvSpPr>
          <p:nvPr>
            <p:ph idx="1"/>
          </p:nvPr>
        </p:nvSpPr>
        <p:spPr>
          <a:xfrm>
            <a:off x="457200" y="990600"/>
            <a:ext cx="8229600" cy="5562600"/>
          </a:xfrm>
        </p:spPr>
        <p:txBody>
          <a:bodyPr>
            <a:noAutofit/>
          </a:bodyPr>
          <a:lstStyle/>
          <a:p>
            <a:pPr marL="182880" algn="just">
              <a:lnSpc>
                <a:spcPct val="90000"/>
              </a:lnSpc>
              <a:spcBef>
                <a:spcPts val="0"/>
              </a:spcBef>
              <a:buFontTx/>
              <a:buNone/>
            </a:pPr>
            <a:endParaRPr lang="ro-RO" sz="2300" b="1" dirty="0" smtClean="0">
              <a:latin typeface="Calibri" pitchFamily="34" charset="0"/>
              <a:cs typeface="Calibri" pitchFamily="34" charset="0"/>
            </a:endParaRPr>
          </a:p>
          <a:p>
            <a:pPr marL="182880" algn="just">
              <a:lnSpc>
                <a:spcPct val="90000"/>
              </a:lnSpc>
              <a:spcBef>
                <a:spcPts val="0"/>
              </a:spcBef>
              <a:buFontTx/>
              <a:buNone/>
            </a:pPr>
            <a:r>
              <a:rPr lang="en-US" sz="2300" b="1" dirty="0" smtClean="0">
                <a:latin typeface="Calibri" pitchFamily="34" charset="0"/>
                <a:cs typeface="Calibri" pitchFamily="34" charset="0"/>
              </a:rPr>
              <a:t>C. </a:t>
            </a:r>
            <a:r>
              <a:rPr lang="ro-RO" sz="2300" b="1" dirty="0" smtClean="0">
                <a:latin typeface="Calibri" pitchFamily="34" charset="0"/>
                <a:cs typeface="Calibri" pitchFamily="34" charset="0"/>
              </a:rPr>
              <a:t>În funcţie de modul de determinare şi de voinţa părţilor:</a:t>
            </a:r>
            <a:endParaRPr lang="ro-RO" sz="2300" dirty="0" smtClean="0">
              <a:latin typeface="Calibri" pitchFamily="34" charset="0"/>
              <a:cs typeface="Calibri" pitchFamily="34" charset="0"/>
            </a:endParaRPr>
          </a:p>
          <a:p>
            <a:pPr marL="182880" algn="just">
              <a:lnSpc>
                <a:spcPct val="90000"/>
              </a:lnSpc>
              <a:spcBef>
                <a:spcPts val="0"/>
              </a:spcBef>
              <a:buFontTx/>
              <a:buNone/>
            </a:pPr>
            <a:r>
              <a:rPr lang="ro-RO" sz="2300" dirty="0" smtClean="0">
                <a:latin typeface="Calibri" pitchFamily="34" charset="0"/>
                <a:cs typeface="Calibri" pitchFamily="34" charset="0"/>
              </a:rPr>
              <a:t>- bunuri </a:t>
            </a:r>
            <a:r>
              <a:rPr lang="ro-RO" sz="2300" b="1" u="sng" dirty="0" smtClean="0">
                <a:latin typeface="Calibri" pitchFamily="34" charset="0"/>
                <a:cs typeface="Calibri" pitchFamily="34" charset="0"/>
              </a:rPr>
              <a:t>certe</a:t>
            </a:r>
            <a:r>
              <a:rPr lang="ro-RO" sz="2300" dirty="0" smtClean="0">
                <a:latin typeface="Calibri" pitchFamily="34" charset="0"/>
                <a:cs typeface="Calibri" pitchFamily="34" charset="0"/>
              </a:rPr>
              <a:t>. Sunt determinate, individualizate cu ajutorul unor însuşiri specifice: ex. o casă este individualizată prin localitate, stradă, număr.</a:t>
            </a:r>
          </a:p>
          <a:p>
            <a:pPr marL="182880" algn="just">
              <a:lnSpc>
                <a:spcPct val="90000"/>
              </a:lnSpc>
              <a:spcBef>
                <a:spcPts val="0"/>
              </a:spcBef>
              <a:buFontTx/>
              <a:buChar char="-"/>
            </a:pPr>
            <a:r>
              <a:rPr lang="ro-RO" sz="2300" dirty="0" smtClean="0">
                <a:latin typeface="Calibri" pitchFamily="34" charset="0"/>
                <a:cs typeface="Calibri" pitchFamily="34" charset="0"/>
              </a:rPr>
              <a:t>bunuri </a:t>
            </a:r>
            <a:r>
              <a:rPr lang="ro-RO" sz="2300" b="1" u="sng" dirty="0" smtClean="0">
                <a:latin typeface="Calibri" pitchFamily="34" charset="0"/>
                <a:cs typeface="Calibri" pitchFamily="34" charset="0"/>
              </a:rPr>
              <a:t>generice</a:t>
            </a:r>
            <a:r>
              <a:rPr lang="ro-RO" sz="2300" dirty="0" smtClean="0">
                <a:latin typeface="Calibri" pitchFamily="34" charset="0"/>
                <a:cs typeface="Calibri" pitchFamily="34" charset="0"/>
              </a:rPr>
              <a:t>. Nu se determină prin însuşiri proprii, ci cu ajutorul însuşirilor întregii categorii din care fac parte, prin măsurătoare, numărătoare, cântărire: ex. cerealele, banii, materialele textile.</a:t>
            </a:r>
          </a:p>
          <a:p>
            <a:pPr marL="182880" algn="just">
              <a:lnSpc>
                <a:spcPct val="90000"/>
              </a:lnSpc>
              <a:spcBef>
                <a:spcPts val="0"/>
              </a:spcBef>
              <a:buFontTx/>
              <a:buChar char="-"/>
            </a:pPr>
            <a:endParaRPr lang="ro-RO" sz="2300" dirty="0" smtClean="0">
              <a:latin typeface="Calibri" pitchFamily="34" charset="0"/>
              <a:cs typeface="Calibri" pitchFamily="34" charset="0"/>
            </a:endParaRPr>
          </a:p>
          <a:p>
            <a:pPr marL="182880" algn="just">
              <a:spcBef>
                <a:spcPts val="0"/>
              </a:spcBef>
              <a:buFontTx/>
              <a:buNone/>
            </a:pPr>
            <a:r>
              <a:rPr lang="en-US" sz="2300" b="1" dirty="0" smtClean="0">
                <a:latin typeface="Calibri" pitchFamily="34" charset="0"/>
                <a:cs typeface="Calibri" pitchFamily="34" charset="0"/>
              </a:rPr>
              <a:t>D. </a:t>
            </a:r>
            <a:r>
              <a:rPr lang="ro-RO" sz="2300" b="1" dirty="0" smtClean="0">
                <a:latin typeface="Calibri" pitchFamily="34" charset="0"/>
                <a:cs typeface="Calibri" pitchFamily="34" charset="0"/>
              </a:rPr>
              <a:t>În funcţie de posibilitatea divizării</a:t>
            </a:r>
            <a:r>
              <a:rPr lang="ro-RO" sz="2300" dirty="0" smtClean="0">
                <a:latin typeface="Calibri" pitchFamily="34" charset="0"/>
                <a:cs typeface="Calibri" pitchFamily="34" charset="0"/>
              </a:rPr>
              <a:t> lor: </a:t>
            </a:r>
          </a:p>
          <a:p>
            <a:pPr marL="182880" algn="just">
              <a:spcBef>
                <a:spcPts val="0"/>
              </a:spcBef>
              <a:buFontTx/>
              <a:buNone/>
            </a:pPr>
            <a:r>
              <a:rPr lang="ro-RO" sz="2300" dirty="0" smtClean="0">
                <a:latin typeface="Calibri" pitchFamily="34" charset="0"/>
                <a:cs typeface="Calibri" pitchFamily="34" charset="0"/>
              </a:rPr>
              <a:t>- bunuri </a:t>
            </a:r>
            <a:r>
              <a:rPr lang="ro-RO" sz="2300" b="1" u="sng" dirty="0" smtClean="0">
                <a:latin typeface="Calibri" pitchFamily="34" charset="0"/>
                <a:cs typeface="Calibri" pitchFamily="34" charset="0"/>
              </a:rPr>
              <a:t>divizibile</a:t>
            </a:r>
            <a:r>
              <a:rPr lang="ro-RO" sz="2300" dirty="0" smtClean="0">
                <a:latin typeface="Calibri" pitchFamily="34" charset="0"/>
                <a:cs typeface="Calibri" pitchFamily="34" charset="0"/>
              </a:rPr>
              <a:t>. Prin împărţire nu îşi schimbă destinaţia economică: ex. o cantitate de alimente, un cupon de stofă.</a:t>
            </a:r>
          </a:p>
          <a:p>
            <a:pPr marL="182880" algn="just">
              <a:spcBef>
                <a:spcPts val="0"/>
              </a:spcBef>
              <a:buFontTx/>
              <a:buNone/>
            </a:pPr>
            <a:r>
              <a:rPr lang="ro-RO" sz="2300" dirty="0" smtClean="0">
                <a:latin typeface="Calibri" pitchFamily="34" charset="0"/>
                <a:cs typeface="Calibri" pitchFamily="34" charset="0"/>
              </a:rPr>
              <a:t>- bunuri </a:t>
            </a:r>
            <a:r>
              <a:rPr lang="ro-RO" sz="2300" b="1" u="sng" dirty="0" smtClean="0">
                <a:latin typeface="Calibri" pitchFamily="34" charset="0"/>
                <a:cs typeface="Calibri" pitchFamily="34" charset="0"/>
              </a:rPr>
              <a:t>indivizibile</a:t>
            </a:r>
            <a:r>
              <a:rPr lang="ro-RO" sz="2300" dirty="0" smtClean="0">
                <a:latin typeface="Calibri" pitchFamily="34" charset="0"/>
                <a:cs typeface="Calibri" pitchFamily="34" charset="0"/>
              </a:rPr>
              <a:t>. Dacă ar fi împărţite, şi-ar schimba destinaţia: ex. o masă, un autoturism etc.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563562"/>
          </a:xfrm>
        </p:spPr>
        <p:txBody>
          <a:bodyPr>
            <a:normAutofit fontScale="90000"/>
          </a:bodyPr>
          <a:lstStyle/>
          <a:p>
            <a:r>
              <a:rPr lang="ro-RO" sz="2300" b="1" dirty="0" smtClean="0">
                <a:latin typeface="Calibri" pitchFamily="34" charset="0"/>
                <a:cs typeface="Calibri" pitchFamily="34" charset="0"/>
              </a:rPr>
              <a:t>RAPORTUL JURIDIC CIVIL</a:t>
            </a:r>
            <a:r>
              <a:rPr lang="en-US" sz="2300" b="1" dirty="0" smtClean="0">
                <a:latin typeface="Calibri" pitchFamily="34" charset="0"/>
                <a:cs typeface="Calibri" pitchFamily="34" charset="0"/>
              </a:rPr>
              <a:t/>
            </a:r>
            <a:br>
              <a:rPr lang="en-US" sz="2300" b="1" dirty="0" smtClean="0">
                <a:latin typeface="Calibri" pitchFamily="34" charset="0"/>
                <a:cs typeface="Calibri" pitchFamily="34" charset="0"/>
              </a:rPr>
            </a:br>
            <a:r>
              <a:rPr lang="ro-RO" sz="2300" b="1" dirty="0" smtClean="0">
                <a:latin typeface="Calibri" pitchFamily="34" charset="0"/>
                <a:cs typeface="Calibri" pitchFamily="34" charset="0"/>
              </a:rPr>
              <a:t>Proba RJC</a:t>
            </a:r>
            <a:endParaRPr lang="en-US" sz="2300" dirty="0">
              <a:latin typeface="Calibri" pitchFamily="34" charset="0"/>
              <a:cs typeface="Calibri" pitchFamily="34" charset="0"/>
            </a:endParaRPr>
          </a:p>
        </p:txBody>
      </p:sp>
      <p:sp>
        <p:nvSpPr>
          <p:cNvPr id="44034" name="Rectangle 3"/>
          <p:cNvSpPr>
            <a:spLocks noGrp="1" noChangeArrowheads="1"/>
          </p:cNvSpPr>
          <p:nvPr>
            <p:ph idx="1"/>
          </p:nvPr>
        </p:nvSpPr>
        <p:spPr>
          <a:xfrm>
            <a:off x="457200" y="1066800"/>
            <a:ext cx="8229600" cy="5410200"/>
          </a:xfrm>
        </p:spPr>
        <p:txBody>
          <a:bodyPr>
            <a:normAutofit lnSpcReduction="10000"/>
          </a:bodyPr>
          <a:lstStyle/>
          <a:p>
            <a:pPr indent="0" algn="just">
              <a:spcBef>
                <a:spcPts val="0"/>
              </a:spcBef>
            </a:pPr>
            <a:endParaRPr lang="en-US" sz="2600" b="1" dirty="0" smtClean="0">
              <a:latin typeface="Calibri" pitchFamily="34" charset="0"/>
              <a:cs typeface="Calibri" pitchFamily="34" charset="0"/>
            </a:endParaRPr>
          </a:p>
          <a:p>
            <a:pPr indent="0" algn="just">
              <a:spcBef>
                <a:spcPts val="0"/>
              </a:spcBef>
              <a:buFont typeface="Wingdings" pitchFamily="2" charset="2"/>
              <a:buChar char="Ø"/>
            </a:pPr>
            <a:r>
              <a:rPr lang="ro-RO" sz="2600" b="1" dirty="0" smtClean="0">
                <a:latin typeface="Calibri" pitchFamily="34" charset="0"/>
                <a:cs typeface="Calibri" pitchFamily="34" charset="0"/>
              </a:rPr>
              <a:t>Noţiune</a:t>
            </a:r>
            <a:r>
              <a:rPr lang="ro-RO" sz="2600" dirty="0" smtClean="0">
                <a:latin typeface="Calibri" pitchFamily="34" charset="0"/>
                <a:cs typeface="Calibri" pitchFamily="34" charset="0"/>
              </a:rPr>
              <a:t>: Proba RJC înseamnă mijlocul legal pentru dovedirea unui fapt şi faptul probator, un fapt material care fiind dovedit, unmijloc de probă care poate fi folosit pentru dovedirea altui fapt material, determinant în soluţionarea unei anumite cauze.</a:t>
            </a:r>
          </a:p>
          <a:p>
            <a:pPr indent="0" algn="just">
              <a:spcBef>
                <a:spcPts val="0"/>
              </a:spcBef>
              <a:buFont typeface="Wingdings" pitchFamily="2" charset="2"/>
              <a:buChar char="Ø"/>
            </a:pPr>
            <a:endParaRPr lang="ro-RO" sz="2600" dirty="0" smtClean="0">
              <a:latin typeface="Calibri" pitchFamily="34" charset="0"/>
              <a:cs typeface="Calibri" pitchFamily="34" charset="0"/>
            </a:endParaRPr>
          </a:p>
          <a:p>
            <a:pPr indent="0" algn="just">
              <a:spcBef>
                <a:spcPts val="0"/>
              </a:spcBef>
              <a:buFont typeface="Wingdings" pitchFamily="2" charset="2"/>
              <a:buChar char="Ø"/>
            </a:pPr>
            <a:r>
              <a:rPr lang="ro-RO" sz="2600" b="1" dirty="0" smtClean="0">
                <a:latin typeface="Calibri" pitchFamily="34" charset="0"/>
                <a:cs typeface="Calibri" pitchFamily="34" charset="0"/>
              </a:rPr>
              <a:t>Principalele mijloace e probă:</a:t>
            </a:r>
          </a:p>
          <a:p>
            <a:pPr indent="0" algn="just">
              <a:spcBef>
                <a:spcPts val="0"/>
              </a:spcBef>
              <a:buFontTx/>
              <a:buChar char="-"/>
            </a:pPr>
            <a:r>
              <a:rPr lang="ro-RO" sz="2600" dirty="0" smtClean="0">
                <a:latin typeface="Calibri" pitchFamily="34" charset="0"/>
                <a:cs typeface="Calibri" pitchFamily="34" charset="0"/>
              </a:rPr>
              <a:t>proba prin înscrisuri;</a:t>
            </a:r>
          </a:p>
          <a:p>
            <a:pPr indent="0" algn="just">
              <a:spcBef>
                <a:spcPts val="0"/>
              </a:spcBef>
              <a:buFontTx/>
              <a:buChar char="-"/>
            </a:pPr>
            <a:r>
              <a:rPr lang="ro-RO" sz="2600" dirty="0" smtClean="0">
                <a:latin typeface="Calibri" pitchFamily="34" charset="0"/>
                <a:cs typeface="Calibri" pitchFamily="34" charset="0"/>
              </a:rPr>
              <a:t>proba prin declaraţia de martor;</a:t>
            </a:r>
          </a:p>
          <a:p>
            <a:pPr indent="0" algn="just">
              <a:spcBef>
                <a:spcPts val="0"/>
              </a:spcBef>
              <a:buFontTx/>
              <a:buChar char="-"/>
            </a:pPr>
            <a:r>
              <a:rPr lang="ro-RO" sz="2600" dirty="0" smtClean="0">
                <a:latin typeface="Calibri" pitchFamily="34" charset="0"/>
                <a:cs typeface="Calibri" pitchFamily="34" charset="0"/>
              </a:rPr>
              <a:t>expertiza;</a:t>
            </a:r>
          </a:p>
          <a:p>
            <a:pPr indent="0" algn="just">
              <a:spcBef>
                <a:spcPts val="0"/>
              </a:spcBef>
              <a:buFontTx/>
              <a:buChar char="-"/>
            </a:pPr>
            <a:r>
              <a:rPr lang="ro-RO" sz="2600" dirty="0" smtClean="0">
                <a:latin typeface="Calibri" pitchFamily="34" charset="0"/>
                <a:cs typeface="Calibri" pitchFamily="34" charset="0"/>
              </a:rPr>
              <a:t>cercetarea la faţa locului;</a:t>
            </a:r>
          </a:p>
          <a:p>
            <a:pPr indent="0" algn="just">
              <a:spcBef>
                <a:spcPts val="0"/>
              </a:spcBef>
              <a:buFontTx/>
              <a:buChar char="-"/>
            </a:pPr>
            <a:r>
              <a:rPr lang="ro-RO" sz="2600" dirty="0" smtClean="0">
                <a:latin typeface="Calibri" pitchFamily="34" charset="0"/>
                <a:cs typeface="Calibri" pitchFamily="34" charset="0"/>
              </a:rPr>
              <a:t>prezumţiile;</a:t>
            </a:r>
          </a:p>
          <a:p>
            <a:pPr indent="0" algn="just">
              <a:spcBef>
                <a:spcPts val="0"/>
              </a:spcBef>
              <a:buFontTx/>
              <a:buChar char="-"/>
            </a:pPr>
            <a:r>
              <a:rPr lang="ro-RO" sz="2600" dirty="0" smtClean="0">
                <a:latin typeface="Calibri" pitchFamily="34" charset="0"/>
                <a:cs typeface="Calibri" pitchFamily="34" charset="0"/>
              </a:rPr>
              <a:t>Interogatoriul.</a:t>
            </a:r>
            <a:endParaRPr lang="en-US" sz="2600" dirty="0" smtClean="0">
              <a:latin typeface="Calibri" pitchFamily="34" charset="0"/>
              <a:cs typeface="Calibri"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8EABA703E5C824688E1676C4A83AB9C" ma:contentTypeVersion="0" ma:contentTypeDescription="Create a new document." ma:contentTypeScope="" ma:versionID="c8359b0ffbe92f8925341a57a39b239d">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3D31100-7F4B-43ED-ADAD-C615D19DCA7F}"/>
</file>

<file path=customXml/itemProps2.xml><?xml version="1.0" encoding="utf-8"?>
<ds:datastoreItem xmlns:ds="http://schemas.openxmlformats.org/officeDocument/2006/customXml" ds:itemID="{DA9BD814-9680-4B41-8FB4-6EEE4681401F}"/>
</file>

<file path=customXml/itemProps3.xml><?xml version="1.0" encoding="utf-8"?>
<ds:datastoreItem xmlns:ds="http://schemas.openxmlformats.org/officeDocument/2006/customXml" ds:itemID="{74410C0E-920B-4144-B54A-D88C724A97FE}"/>
</file>

<file path=docProps/app.xml><?xml version="1.0" encoding="utf-8"?>
<Properties xmlns="http://schemas.openxmlformats.org/officeDocument/2006/extended-properties" xmlns:vt="http://schemas.openxmlformats.org/officeDocument/2006/docPropsVTypes">
  <TotalTime>211</TotalTime>
  <Words>2359</Words>
  <Application>Microsoft Office PowerPoint</Application>
  <PresentationFormat>On-screen Show (4:3)</PresentationFormat>
  <Paragraphs>188</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Wingdings</vt:lpstr>
      <vt:lpstr>Office Theme</vt:lpstr>
      <vt:lpstr>RAPORTUL JURIDIC CIVIL</vt:lpstr>
      <vt:lpstr>RAPORTUL JURIDIC CIVIL</vt:lpstr>
      <vt:lpstr>RAPORTUL JURIDIC CIVIL Structura raportului juridic civil</vt:lpstr>
      <vt:lpstr>RAPORTUL JURIDIC CIVIL 1. Subiectele RJC</vt:lpstr>
      <vt:lpstr>RAPORTUL JURIDIC CIVIL 1. Subiectele RJC</vt:lpstr>
      <vt:lpstr>RAPORTUL JURIDIC CIVIL 1. Subiectele RJC</vt:lpstr>
      <vt:lpstr>RAPORTUL JURIDIC CIVIL 1. Subiectele RJC</vt:lpstr>
      <vt:lpstr>RAPORTUL JURIDIC CIVIL 1. Subiectele RJC</vt:lpstr>
      <vt:lpstr>RAPORTUL JURIDIC CIVIL 1. Subiectele RJC</vt:lpstr>
      <vt:lpstr>RAPORTUL JURIDIC CIVIL 2. Conţinutul raportului juridic civil</vt:lpstr>
      <vt:lpstr>RAPORTUL JURIDIC CIVIL 2. Conţinutul raportului juridic civil. Drepturile civile.</vt:lpstr>
      <vt:lpstr>RAPORTUL JURIDIC CIVIL 2. Conţinutul raportului juridic civil. Drepturile civile.</vt:lpstr>
      <vt:lpstr>RAPORTUL JURIDIC CIVIL 2. Conţinutul raportului juridic civil. Drepturile civile.</vt:lpstr>
      <vt:lpstr>RAPORTUL JURIDIC CIVIL 2. Conţinutul raportului juridic civil. Obligaţiile civile.</vt:lpstr>
      <vt:lpstr>RAPORTUL JURIDIC CIVIL 2. Conţinutul raportului juridic civil. Obligaţiile civile.</vt:lpstr>
      <vt:lpstr>RAPORTUL JURIDIC CIVIL 3. Obiectul RJC.</vt:lpstr>
      <vt:lpstr>RAPORTUL JURIDIC CIVIL Bunurile.</vt:lpstr>
      <vt:lpstr>RAPORTUL JURIDIC CIVIL Bunurile.</vt:lpstr>
      <vt:lpstr>RAPORTUL JURIDIC CIVIL Bunurile.</vt:lpstr>
      <vt:lpstr>RAPORTUL JURIDIC CIVIL Proba RJC</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RAPORTUL JURIDIC CIVIL</dc:title>
  <dc:creator>Mihai Olariu</dc:creator>
  <cp:lastModifiedBy>Cosmin</cp:lastModifiedBy>
  <cp:revision>55</cp:revision>
  <dcterms:created xsi:type="dcterms:W3CDTF">2012-11-08T13:25:09Z</dcterms:created>
  <dcterms:modified xsi:type="dcterms:W3CDTF">2024-12-19T16:23:17Z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0x01010078EABA703E5C824688E1676C4A83AB9C</vt:lpwstr>
  </property>
</Properties>
</file>