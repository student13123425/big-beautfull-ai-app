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1.xml" ContentType="application/vnd.openxmlformats-officedocument.presentationml.slide+xml"/>
  <Override PartName="/ppt/slides/slide9.xml" ContentType="application/vnd.openxmlformats-officedocument.presentationml.slide+xml"/>
  <Override PartName="/ppt/slides/slide8.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18.xml" ContentType="application/vnd.openxmlformats-officedocument.presentationml.slide+xml"/>
  <Override PartName="/ppt/slides/slide17.xml" ContentType="application/vnd.openxmlformats-officedocument.presentationml.slide+xml"/>
  <Override PartName="/ppt/slides/slide16.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0.xml" ContentType="application/vnd.openxmlformats-officedocument.presentationml.slide+xml"/>
  <Override PartName="/ppt/slides/slide5.xml" ContentType="application/vnd.openxmlformats-officedocument.presentationml.slide+xml"/>
  <Override PartName="/ppt/slides/slide3.xml" ContentType="application/vnd.openxmlformats-officedocument.presentationml.slide+xml"/>
  <Override PartName="/ppt/slides/slide1.xml" ContentType="application/vnd.openxmlformats-officedocument.presentationml.slide+xml"/>
  <Override PartName="/ppt/slides/slide4.xml" ContentType="application/vnd.openxmlformats-officedocument.presentationml.slide+xml"/>
  <Override PartName="/ppt/slides/slide2.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7.xml" ContentType="application/vnd.openxmlformats-officedocument.presentationml.slideLayout+xml"/>
  <Override PartName="/ppt/slideLayouts/slideLayout6.xml" ContentType="application/vnd.openxmlformats-officedocument.presentationml.slideLayout+xml"/>
  <Override PartName="/ppt/slideLayouts/slideLayout9.xml" ContentType="application/vnd.openxmlformats-officedocument.presentationml.slideLayout+xml"/>
  <Override PartName="/ppt/slideLayouts/slideLayout8.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0"/>
  </p:notesMasterIdLst>
  <p:sldIdLst>
    <p:sldId id="260" r:id="rId2"/>
    <p:sldId id="261" r:id="rId3"/>
    <p:sldId id="262" r:id="rId4"/>
    <p:sldId id="263" r:id="rId5"/>
    <p:sldId id="264" r:id="rId6"/>
    <p:sldId id="265" r:id="rId7"/>
    <p:sldId id="266" r:id="rId8"/>
    <p:sldId id="267" r:id="rId9"/>
    <p:sldId id="268" r:id="rId10"/>
    <p:sldId id="269" r:id="rId11"/>
    <p:sldId id="270" r:id="rId12"/>
    <p:sldId id="271" r:id="rId13"/>
    <p:sldId id="272" r:id="rId14"/>
    <p:sldId id="273" r:id="rId15"/>
    <p:sldId id="274" r:id="rId16"/>
    <p:sldId id="275" r:id="rId17"/>
    <p:sldId id="276" r:id="rId18"/>
    <p:sldId id="277" r:id="rId19"/>
  </p:sldIdLst>
  <p:sldSz cx="9144000" cy="6858000" type="screen4x3"/>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FD7E7"/>
          </a:solidFill>
        </a:fill>
      </a:tcStyle>
    </a:wholeTbl>
    <a:band2H>
      <a:tcTxStyle/>
      <a:tcStyle>
        <a:tcBdr/>
        <a:fill>
          <a:solidFill>
            <a:srgbClr val="E8ECF4"/>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EE7D0"/>
          </a:solidFill>
        </a:fill>
      </a:tcStyle>
    </a:wholeTbl>
    <a:band2H>
      <a:tcTxStyle/>
      <a:tcStyle>
        <a:tcBdr/>
        <a:fill>
          <a:solidFill>
            <a:srgbClr val="EFF3E9"/>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CDCCE"/>
          </a:solidFill>
        </a:fill>
      </a:tcStyle>
    </a:wholeTbl>
    <a:band2H>
      <a:tcTxStyle/>
      <a:tcStyle>
        <a:tcBdr/>
        <a:fill>
          <a:solidFill>
            <a:srgbClr val="FDEE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9" d="100"/>
          <a:sy n="109" d="100"/>
        </p:scale>
        <p:origin x="1674" y="10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customXml" Target="../customXml/item2.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customXml" Target="../customXml/item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 Id="rId27"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1" name="Shape 91"/>
          <p:cNvSpPr>
            <a:spLocks noGrp="1" noRot="1" noChangeAspect="1"/>
          </p:cNvSpPr>
          <p:nvPr>
            <p:ph type="sldImg"/>
          </p:nvPr>
        </p:nvSpPr>
        <p:spPr>
          <a:xfrm>
            <a:off x="1143000" y="685800"/>
            <a:ext cx="4572000" cy="3429000"/>
          </a:xfrm>
          <a:prstGeom prst="rect">
            <a:avLst/>
          </a:prstGeom>
        </p:spPr>
        <p:txBody>
          <a:bodyPr/>
          <a:lstStyle/>
          <a:p>
            <a:endParaRPr/>
          </a:p>
        </p:txBody>
      </p:sp>
      <p:sp>
        <p:nvSpPr>
          <p:cNvPr id="92" name="Shape 92"/>
          <p:cNvSpPr>
            <a:spLocks noGrp="1"/>
          </p:cNvSpPr>
          <p:nvPr>
            <p:ph type="body" sz="quarter" idx="1"/>
          </p:nvPr>
        </p:nvSpPr>
        <p:spPr>
          <a:xfrm>
            <a:off x="914400" y="4343400"/>
            <a:ext cx="5029200" cy="4114800"/>
          </a:xfrm>
          <a:prstGeom prst="rect">
            <a:avLst/>
          </a:prstGeom>
        </p:spPr>
        <p:txBody>
          <a:bodyPr/>
          <a:lstStyle/>
          <a:p>
            <a:endParaRPr/>
          </a:p>
        </p:txBody>
      </p:sp>
    </p:spTree>
    <p:extLst>
      <p:ext uri="{BB962C8B-B14F-4D97-AF65-F5344CB8AC3E}">
        <p14:creationId xmlns:p14="http://schemas.microsoft.com/office/powerpoint/2010/main" val="2008617218"/>
      </p:ext>
    </p:extLst>
  </p:cSld>
  <p:clrMap bg1="lt1" tx1="dk1" bg2="lt2" tx2="dk2" accent1="accent1" accent2="accent2" accent3="accent3" accent4="accent4" accent5="accent5" accent6="accent6" hlink="hlink" folHlink="folHlink"/>
  <p:notesStyle>
    <a:lvl1pPr latinLnBrk="0">
      <a:defRPr sz="1200">
        <a:latin typeface="+mn-lt"/>
        <a:ea typeface="+mn-ea"/>
        <a:cs typeface="+mn-cs"/>
        <a:sym typeface="Calibri"/>
      </a:defRPr>
    </a:lvl1pPr>
    <a:lvl2pPr indent="228600" latinLnBrk="0">
      <a:defRPr sz="1200">
        <a:latin typeface="+mn-lt"/>
        <a:ea typeface="+mn-ea"/>
        <a:cs typeface="+mn-cs"/>
        <a:sym typeface="Calibri"/>
      </a:defRPr>
    </a:lvl2pPr>
    <a:lvl3pPr indent="457200" latinLnBrk="0">
      <a:defRPr sz="1200">
        <a:latin typeface="+mn-lt"/>
        <a:ea typeface="+mn-ea"/>
        <a:cs typeface="+mn-cs"/>
        <a:sym typeface="Calibri"/>
      </a:defRPr>
    </a:lvl3pPr>
    <a:lvl4pPr indent="685800" latinLnBrk="0">
      <a:defRPr sz="1200">
        <a:latin typeface="+mn-lt"/>
        <a:ea typeface="+mn-ea"/>
        <a:cs typeface="+mn-cs"/>
        <a:sym typeface="Calibri"/>
      </a:defRPr>
    </a:lvl4pPr>
    <a:lvl5pPr indent="914400" latinLnBrk="0">
      <a:defRPr sz="1200">
        <a:latin typeface="+mn-lt"/>
        <a:ea typeface="+mn-ea"/>
        <a:cs typeface="+mn-cs"/>
        <a:sym typeface="Calibri"/>
      </a:defRPr>
    </a:lvl5pPr>
    <a:lvl6pPr indent="1143000" latinLnBrk="0">
      <a:defRPr sz="1200">
        <a:latin typeface="+mn-lt"/>
        <a:ea typeface="+mn-ea"/>
        <a:cs typeface="+mn-cs"/>
        <a:sym typeface="Calibri"/>
      </a:defRPr>
    </a:lvl6pPr>
    <a:lvl7pPr indent="1371600" latinLnBrk="0">
      <a:defRPr sz="1200">
        <a:latin typeface="+mn-lt"/>
        <a:ea typeface="+mn-ea"/>
        <a:cs typeface="+mn-cs"/>
        <a:sym typeface="Calibri"/>
      </a:defRPr>
    </a:lvl7pPr>
    <a:lvl8pPr indent="1600200" latinLnBrk="0">
      <a:defRPr sz="1200">
        <a:latin typeface="+mn-lt"/>
        <a:ea typeface="+mn-ea"/>
        <a:cs typeface="+mn-cs"/>
        <a:sym typeface="Calibri"/>
      </a:defRPr>
    </a:lvl8pPr>
    <a:lvl9pPr indent="1828800" latinLnBrk="0">
      <a:defRPr sz="1200">
        <a:latin typeface="+mn-lt"/>
        <a:ea typeface="+mn-ea"/>
        <a:cs typeface="+mn-cs"/>
        <a:sym typeface="Calibri"/>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11" name="Title Text"/>
          <p:cNvSpPr txBox="1">
            <a:spLocks noGrp="1"/>
          </p:cNvSpPr>
          <p:nvPr>
            <p:ph type="title"/>
          </p:nvPr>
        </p:nvSpPr>
        <p:spPr>
          <a:xfrm>
            <a:off x="685800" y="2130425"/>
            <a:ext cx="7772400" cy="1470025"/>
          </a:xfrm>
          <a:prstGeom prst="rect">
            <a:avLst/>
          </a:prstGeom>
        </p:spPr>
        <p:txBody>
          <a:bodyPr/>
          <a:lstStyle/>
          <a:p>
            <a:r>
              <a:t>Title Text</a:t>
            </a:r>
          </a:p>
        </p:txBody>
      </p:sp>
      <p:sp>
        <p:nvSpPr>
          <p:cNvPr id="12" name="Body Level One…"/>
          <p:cNvSpPr txBox="1">
            <a:spLocks noGrp="1"/>
          </p:cNvSpPr>
          <p:nvPr>
            <p:ph type="body" sz="quarter" idx="1"/>
          </p:nvPr>
        </p:nvSpPr>
        <p:spPr>
          <a:xfrm>
            <a:off x="1371600" y="3886200"/>
            <a:ext cx="6400800" cy="1752600"/>
          </a:xfrm>
          <a:prstGeom prst="rect">
            <a:avLst/>
          </a:prstGeom>
        </p:spPr>
        <p:txBody>
          <a:bodyPr/>
          <a:lstStyle>
            <a:lvl1pPr marL="0" indent="0" algn="ctr">
              <a:buSzTx/>
              <a:buFontTx/>
              <a:buNone/>
              <a:defRPr>
                <a:solidFill>
                  <a:srgbClr val="888888"/>
                </a:solidFill>
              </a:defRPr>
            </a:lvl1pPr>
            <a:lvl2pPr marL="0" indent="457200" algn="ctr">
              <a:buSzTx/>
              <a:buFontTx/>
              <a:buNone/>
              <a:defRPr>
                <a:solidFill>
                  <a:srgbClr val="888888"/>
                </a:solidFill>
              </a:defRPr>
            </a:lvl2pPr>
            <a:lvl3pPr marL="0" indent="914400" algn="ctr">
              <a:buSzTx/>
              <a:buFontTx/>
              <a:buNone/>
              <a:defRPr>
                <a:solidFill>
                  <a:srgbClr val="888888"/>
                </a:solidFill>
              </a:defRPr>
            </a:lvl3pPr>
            <a:lvl4pPr marL="0" indent="1371600" algn="ctr">
              <a:buSzTx/>
              <a:buFontTx/>
              <a:buNone/>
              <a:defRPr>
                <a:solidFill>
                  <a:srgbClr val="888888"/>
                </a:solidFill>
              </a:defRPr>
            </a:lvl4pPr>
            <a:lvl5pPr marL="0" indent="1828800" algn="ctr">
              <a:buSzTx/>
              <a:buFontTx/>
              <a:buNone/>
              <a:defRPr>
                <a:solidFill>
                  <a:srgbClr val="888888"/>
                </a:solidFill>
              </a:defRPr>
            </a:lvl5pPr>
          </a:lstStyle>
          <a:p>
            <a:r>
              <a:t>Body Level One</a:t>
            </a:r>
          </a:p>
          <a:p>
            <a:pPr lvl="1"/>
            <a:r>
              <a:t>Body Level Two</a:t>
            </a:r>
          </a:p>
          <a:p>
            <a:pPr lvl="2"/>
            <a:r>
              <a:t>Body Level Three</a:t>
            </a:r>
          </a:p>
          <a:p>
            <a:pPr lvl="3"/>
            <a:r>
              <a:t>Body Level Four</a:t>
            </a:r>
          </a:p>
          <a:p>
            <a:pPr lvl="4"/>
            <a:r>
              <a:t>Body Level Five</a:t>
            </a:r>
          </a:p>
        </p:txBody>
      </p:sp>
      <p:sp>
        <p:nvSpPr>
          <p:cNvPr id="13" name="Slide Number"/>
          <p:cNvSpPr txBox="1">
            <a:spLocks noGrp="1"/>
          </p:cNvSpPr>
          <p:nvPr>
            <p:ph type="sldNum" sz="quarter" idx="2"/>
          </p:nvPr>
        </p:nvSpPr>
        <p:spPr>
          <a:prstGeom prst="rect">
            <a:avLst/>
          </a:prstGeom>
        </p:spPr>
        <p:txBody>
          <a:bodyPr/>
          <a:lstStyle/>
          <a:p>
            <a:fld id="{86CB4B4D-7CA3-9044-876B-883B54F8677D}" type="slidenum">
              <a:rPr/>
              <a:pPr/>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Title and Content">
    <p:spTree>
      <p:nvGrpSpPr>
        <p:cNvPr id="1" name=""/>
        <p:cNvGrpSpPr/>
        <p:nvPr/>
      </p:nvGrpSpPr>
      <p:grpSpPr>
        <a:xfrm>
          <a:off x="0" y="0"/>
          <a:ext cx="0" cy="0"/>
          <a:chOff x="0" y="0"/>
          <a:chExt cx="0" cy="0"/>
        </a:xfrm>
      </p:grpSpPr>
      <p:sp>
        <p:nvSpPr>
          <p:cNvPr id="20" name="Title Text"/>
          <p:cNvSpPr txBox="1">
            <a:spLocks noGrp="1"/>
          </p:cNvSpPr>
          <p:nvPr>
            <p:ph type="title"/>
          </p:nvPr>
        </p:nvSpPr>
        <p:spPr>
          <a:prstGeom prst="rect">
            <a:avLst/>
          </a:prstGeom>
        </p:spPr>
        <p:txBody>
          <a:bodyPr/>
          <a:lstStyle/>
          <a:p>
            <a:r>
              <a:t>Title Text</a:t>
            </a:r>
          </a:p>
        </p:txBody>
      </p:sp>
      <p:sp>
        <p:nvSpPr>
          <p:cNvPr id="21"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22" name="Slide Number"/>
          <p:cNvSpPr txBox="1">
            <a:spLocks noGrp="1"/>
          </p:cNvSpPr>
          <p:nvPr>
            <p:ph type="sldNum" sz="quarter" idx="2"/>
          </p:nvPr>
        </p:nvSpPr>
        <p:spPr>
          <a:prstGeom prst="rect">
            <a:avLst/>
          </a:prstGeom>
        </p:spPr>
        <p:txBody>
          <a:bodyPr/>
          <a:lstStyle/>
          <a:p>
            <a:fld id="{86CB4B4D-7CA3-9044-876B-883B54F8677D}" type="slidenum">
              <a:rPr/>
              <a:pPr/>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Section Header">
    <p:spTree>
      <p:nvGrpSpPr>
        <p:cNvPr id="1" name=""/>
        <p:cNvGrpSpPr/>
        <p:nvPr/>
      </p:nvGrpSpPr>
      <p:grpSpPr>
        <a:xfrm>
          <a:off x="0" y="0"/>
          <a:ext cx="0" cy="0"/>
          <a:chOff x="0" y="0"/>
          <a:chExt cx="0" cy="0"/>
        </a:xfrm>
      </p:grpSpPr>
      <p:sp>
        <p:nvSpPr>
          <p:cNvPr id="29" name="Title Text"/>
          <p:cNvSpPr txBox="1">
            <a:spLocks noGrp="1"/>
          </p:cNvSpPr>
          <p:nvPr>
            <p:ph type="title"/>
          </p:nvPr>
        </p:nvSpPr>
        <p:spPr>
          <a:xfrm>
            <a:off x="722312" y="4406900"/>
            <a:ext cx="7772401" cy="1362075"/>
          </a:xfrm>
          <a:prstGeom prst="rect">
            <a:avLst/>
          </a:prstGeom>
        </p:spPr>
        <p:txBody>
          <a:bodyPr anchor="t"/>
          <a:lstStyle>
            <a:lvl1pPr algn="l">
              <a:defRPr sz="4000" b="1" cap="all"/>
            </a:lvl1pPr>
          </a:lstStyle>
          <a:p>
            <a:r>
              <a:t>Title Text</a:t>
            </a:r>
          </a:p>
        </p:txBody>
      </p:sp>
      <p:sp>
        <p:nvSpPr>
          <p:cNvPr id="30" name="Body Level One…"/>
          <p:cNvSpPr txBox="1">
            <a:spLocks noGrp="1"/>
          </p:cNvSpPr>
          <p:nvPr>
            <p:ph type="body" sz="quarter" idx="1"/>
          </p:nvPr>
        </p:nvSpPr>
        <p:spPr>
          <a:xfrm>
            <a:off x="722312" y="2906713"/>
            <a:ext cx="7772401" cy="1500188"/>
          </a:xfrm>
          <a:prstGeom prst="rect">
            <a:avLst/>
          </a:prstGeom>
        </p:spPr>
        <p:txBody>
          <a:bodyPr anchor="b"/>
          <a:lstStyle>
            <a:lvl1pPr marL="0" indent="0">
              <a:spcBef>
                <a:spcPts val="400"/>
              </a:spcBef>
              <a:buSzTx/>
              <a:buFontTx/>
              <a:buNone/>
              <a:defRPr sz="2000">
                <a:solidFill>
                  <a:srgbClr val="888888"/>
                </a:solidFill>
              </a:defRPr>
            </a:lvl1pPr>
            <a:lvl2pPr marL="0" indent="457200">
              <a:spcBef>
                <a:spcPts val="400"/>
              </a:spcBef>
              <a:buSzTx/>
              <a:buFontTx/>
              <a:buNone/>
              <a:defRPr sz="2000">
                <a:solidFill>
                  <a:srgbClr val="888888"/>
                </a:solidFill>
              </a:defRPr>
            </a:lvl2pPr>
            <a:lvl3pPr marL="0" indent="914400">
              <a:spcBef>
                <a:spcPts val="400"/>
              </a:spcBef>
              <a:buSzTx/>
              <a:buFontTx/>
              <a:buNone/>
              <a:defRPr sz="2000">
                <a:solidFill>
                  <a:srgbClr val="888888"/>
                </a:solidFill>
              </a:defRPr>
            </a:lvl3pPr>
            <a:lvl4pPr marL="0" indent="1371600">
              <a:spcBef>
                <a:spcPts val="400"/>
              </a:spcBef>
              <a:buSzTx/>
              <a:buFontTx/>
              <a:buNone/>
              <a:defRPr sz="2000">
                <a:solidFill>
                  <a:srgbClr val="888888"/>
                </a:solidFill>
              </a:defRPr>
            </a:lvl4pPr>
            <a:lvl5pPr marL="0" indent="1828800">
              <a:spcBef>
                <a:spcPts val="400"/>
              </a:spcBef>
              <a:buSzTx/>
              <a:buFontTx/>
              <a:buNone/>
              <a:defRPr sz="2000">
                <a:solidFill>
                  <a:srgbClr val="888888"/>
                </a:solidFill>
              </a:defRPr>
            </a:lvl5pPr>
          </a:lstStyle>
          <a:p>
            <a:r>
              <a:t>Body Level One</a:t>
            </a:r>
          </a:p>
          <a:p>
            <a:pPr lvl="1"/>
            <a:r>
              <a:t>Body Level Two</a:t>
            </a:r>
          </a:p>
          <a:p>
            <a:pPr lvl="2"/>
            <a:r>
              <a:t>Body Level Three</a:t>
            </a:r>
          </a:p>
          <a:p>
            <a:pPr lvl="3"/>
            <a:r>
              <a:t>Body Level Four</a:t>
            </a:r>
          </a:p>
          <a:p>
            <a:pPr lvl="4"/>
            <a:r>
              <a:t>Body Level Five</a:t>
            </a:r>
          </a:p>
        </p:txBody>
      </p:sp>
      <p:sp>
        <p:nvSpPr>
          <p:cNvPr id="31" name="Slide Number"/>
          <p:cNvSpPr txBox="1">
            <a:spLocks noGrp="1"/>
          </p:cNvSpPr>
          <p:nvPr>
            <p:ph type="sldNum" sz="quarter" idx="2"/>
          </p:nvPr>
        </p:nvSpPr>
        <p:spPr>
          <a:prstGeom prst="rect">
            <a:avLst/>
          </a:prstGeom>
        </p:spPr>
        <p:txBody>
          <a:bodyPr/>
          <a:lstStyle/>
          <a:p>
            <a:fld id="{86CB4B4D-7CA3-9044-876B-883B54F8677D}" type="slidenum">
              <a:rPr/>
              <a:pPr/>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wo Content">
    <p:spTree>
      <p:nvGrpSpPr>
        <p:cNvPr id="1" name=""/>
        <p:cNvGrpSpPr/>
        <p:nvPr/>
      </p:nvGrpSpPr>
      <p:grpSpPr>
        <a:xfrm>
          <a:off x="0" y="0"/>
          <a:ext cx="0" cy="0"/>
          <a:chOff x="0" y="0"/>
          <a:chExt cx="0" cy="0"/>
        </a:xfrm>
      </p:grpSpPr>
      <p:sp>
        <p:nvSpPr>
          <p:cNvPr id="38" name="Title Text"/>
          <p:cNvSpPr txBox="1">
            <a:spLocks noGrp="1"/>
          </p:cNvSpPr>
          <p:nvPr>
            <p:ph type="title"/>
          </p:nvPr>
        </p:nvSpPr>
        <p:spPr>
          <a:prstGeom prst="rect">
            <a:avLst/>
          </a:prstGeom>
        </p:spPr>
        <p:txBody>
          <a:bodyPr/>
          <a:lstStyle/>
          <a:p>
            <a:r>
              <a:t>Title Text</a:t>
            </a:r>
          </a:p>
        </p:txBody>
      </p:sp>
      <p:sp>
        <p:nvSpPr>
          <p:cNvPr id="39" name="Body Level One…"/>
          <p:cNvSpPr txBox="1">
            <a:spLocks noGrp="1"/>
          </p:cNvSpPr>
          <p:nvPr>
            <p:ph type="body" sz="half" idx="1"/>
          </p:nvPr>
        </p:nvSpPr>
        <p:spPr>
          <a:xfrm>
            <a:off x="457200" y="1600200"/>
            <a:ext cx="4038600" cy="4525963"/>
          </a:xfrm>
          <a:prstGeom prst="rect">
            <a:avLst/>
          </a:prstGeom>
        </p:spPr>
        <p:txBody>
          <a:bodyPr/>
          <a:lstStyle>
            <a:lvl1pPr>
              <a:spcBef>
                <a:spcPts val="600"/>
              </a:spcBef>
              <a:defRPr sz="2800"/>
            </a:lvl1pPr>
            <a:lvl2pPr marL="790575" indent="-333375">
              <a:spcBef>
                <a:spcPts val="600"/>
              </a:spcBef>
              <a:defRPr sz="2800"/>
            </a:lvl2pPr>
            <a:lvl3pPr marL="1234439" indent="-320039">
              <a:spcBef>
                <a:spcPts val="600"/>
              </a:spcBef>
              <a:defRPr sz="2800"/>
            </a:lvl3pPr>
            <a:lvl4pPr marL="1727200" indent="-355600">
              <a:spcBef>
                <a:spcPts val="600"/>
              </a:spcBef>
              <a:defRPr sz="2800"/>
            </a:lvl4pPr>
            <a:lvl5pPr marL="2184400" indent="-355600">
              <a:spcBef>
                <a:spcPts val="600"/>
              </a:spcBef>
              <a:defRPr sz="2800"/>
            </a:lvl5pPr>
          </a:lstStyle>
          <a:p>
            <a:r>
              <a:t>Body Level One</a:t>
            </a:r>
          </a:p>
          <a:p>
            <a:pPr lvl="1"/>
            <a:r>
              <a:t>Body Level Two</a:t>
            </a:r>
          </a:p>
          <a:p>
            <a:pPr lvl="2"/>
            <a:r>
              <a:t>Body Level Three</a:t>
            </a:r>
          </a:p>
          <a:p>
            <a:pPr lvl="3"/>
            <a:r>
              <a:t>Body Level Four</a:t>
            </a:r>
          </a:p>
          <a:p>
            <a:pPr lvl="4"/>
            <a:r>
              <a:t>Body Level Five</a:t>
            </a:r>
          </a:p>
        </p:txBody>
      </p:sp>
      <p:sp>
        <p:nvSpPr>
          <p:cNvPr id="40" name="Slide Number"/>
          <p:cNvSpPr txBox="1">
            <a:spLocks noGrp="1"/>
          </p:cNvSpPr>
          <p:nvPr>
            <p:ph type="sldNum" sz="quarter" idx="2"/>
          </p:nvPr>
        </p:nvSpPr>
        <p:spPr>
          <a:prstGeom prst="rect">
            <a:avLst/>
          </a:prstGeom>
        </p:spPr>
        <p:txBody>
          <a:bodyPr/>
          <a:lstStyle/>
          <a:p>
            <a:fld id="{86CB4B4D-7CA3-9044-876B-883B54F8677D}" type="slidenum">
              <a:rPr/>
              <a:pPr/>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Comparison">
    <p:spTree>
      <p:nvGrpSpPr>
        <p:cNvPr id="1" name=""/>
        <p:cNvGrpSpPr/>
        <p:nvPr/>
      </p:nvGrpSpPr>
      <p:grpSpPr>
        <a:xfrm>
          <a:off x="0" y="0"/>
          <a:ext cx="0" cy="0"/>
          <a:chOff x="0" y="0"/>
          <a:chExt cx="0" cy="0"/>
        </a:xfrm>
      </p:grpSpPr>
      <p:sp>
        <p:nvSpPr>
          <p:cNvPr id="47" name="Title Text"/>
          <p:cNvSpPr txBox="1">
            <a:spLocks noGrp="1"/>
          </p:cNvSpPr>
          <p:nvPr>
            <p:ph type="title"/>
          </p:nvPr>
        </p:nvSpPr>
        <p:spPr>
          <a:prstGeom prst="rect">
            <a:avLst/>
          </a:prstGeom>
        </p:spPr>
        <p:txBody>
          <a:bodyPr/>
          <a:lstStyle/>
          <a:p>
            <a:r>
              <a:t>Title Text</a:t>
            </a:r>
          </a:p>
        </p:txBody>
      </p:sp>
      <p:sp>
        <p:nvSpPr>
          <p:cNvPr id="48" name="Body Level One…"/>
          <p:cNvSpPr txBox="1">
            <a:spLocks noGrp="1"/>
          </p:cNvSpPr>
          <p:nvPr>
            <p:ph type="body" sz="quarter" idx="1"/>
          </p:nvPr>
        </p:nvSpPr>
        <p:spPr>
          <a:xfrm>
            <a:off x="457200" y="1535112"/>
            <a:ext cx="4040188" cy="639763"/>
          </a:xfrm>
          <a:prstGeom prst="rect">
            <a:avLst/>
          </a:prstGeom>
        </p:spPr>
        <p:txBody>
          <a:bodyPr anchor="b"/>
          <a:lstStyle>
            <a:lvl1pPr marL="0" indent="0">
              <a:spcBef>
                <a:spcPts val="500"/>
              </a:spcBef>
              <a:buSzTx/>
              <a:buFontTx/>
              <a:buNone/>
              <a:defRPr sz="2400" b="1"/>
            </a:lvl1pPr>
            <a:lvl2pPr marL="0" indent="457200">
              <a:spcBef>
                <a:spcPts val="500"/>
              </a:spcBef>
              <a:buSzTx/>
              <a:buFontTx/>
              <a:buNone/>
              <a:defRPr sz="2400" b="1"/>
            </a:lvl2pPr>
            <a:lvl3pPr marL="0" indent="914400">
              <a:spcBef>
                <a:spcPts val="500"/>
              </a:spcBef>
              <a:buSzTx/>
              <a:buFontTx/>
              <a:buNone/>
              <a:defRPr sz="2400" b="1"/>
            </a:lvl3pPr>
            <a:lvl4pPr marL="0" indent="1371600">
              <a:spcBef>
                <a:spcPts val="500"/>
              </a:spcBef>
              <a:buSzTx/>
              <a:buFontTx/>
              <a:buNone/>
              <a:defRPr sz="2400" b="1"/>
            </a:lvl4pPr>
            <a:lvl5pPr marL="0" indent="1828800">
              <a:spcBef>
                <a:spcPts val="500"/>
              </a:spcBef>
              <a:buSzTx/>
              <a:buFontTx/>
              <a:buNone/>
              <a:defRPr sz="2400" b="1"/>
            </a:lvl5pPr>
          </a:lstStyle>
          <a:p>
            <a:r>
              <a:t>Body Level One</a:t>
            </a:r>
          </a:p>
          <a:p>
            <a:pPr lvl="1"/>
            <a:r>
              <a:t>Body Level Two</a:t>
            </a:r>
          </a:p>
          <a:p>
            <a:pPr lvl="2"/>
            <a:r>
              <a:t>Body Level Three</a:t>
            </a:r>
          </a:p>
          <a:p>
            <a:pPr lvl="3"/>
            <a:r>
              <a:t>Body Level Four</a:t>
            </a:r>
          </a:p>
          <a:p>
            <a:pPr lvl="4"/>
            <a:r>
              <a:t>Body Level Five</a:t>
            </a:r>
          </a:p>
        </p:txBody>
      </p:sp>
      <p:sp>
        <p:nvSpPr>
          <p:cNvPr id="49" name="Text Placeholder 4"/>
          <p:cNvSpPr>
            <a:spLocks noGrp="1"/>
          </p:cNvSpPr>
          <p:nvPr>
            <p:ph type="body" sz="quarter" idx="13"/>
          </p:nvPr>
        </p:nvSpPr>
        <p:spPr>
          <a:xfrm>
            <a:off x="4645025" y="1535112"/>
            <a:ext cx="4041775" cy="639763"/>
          </a:xfrm>
          <a:prstGeom prst="rect">
            <a:avLst/>
          </a:prstGeom>
        </p:spPr>
        <p:txBody>
          <a:bodyPr anchor="b"/>
          <a:lstStyle/>
          <a:p>
            <a:pPr marL="0" indent="0">
              <a:spcBef>
                <a:spcPts val="500"/>
              </a:spcBef>
              <a:buSzTx/>
              <a:buFontTx/>
              <a:buNone/>
              <a:defRPr sz="2400" b="1"/>
            </a:pPr>
            <a:endParaRPr/>
          </a:p>
        </p:txBody>
      </p:sp>
      <p:sp>
        <p:nvSpPr>
          <p:cNvPr id="50" name="Slide Number"/>
          <p:cNvSpPr txBox="1">
            <a:spLocks noGrp="1"/>
          </p:cNvSpPr>
          <p:nvPr>
            <p:ph type="sldNum" sz="quarter" idx="2"/>
          </p:nvPr>
        </p:nvSpPr>
        <p:spPr>
          <a:prstGeom prst="rect">
            <a:avLst/>
          </a:prstGeom>
        </p:spPr>
        <p:txBody>
          <a:bodyPr/>
          <a:lstStyle/>
          <a:p>
            <a:fld id="{86CB4B4D-7CA3-9044-876B-883B54F8677D}" type="slidenum">
              <a:rPr/>
              <a:pPr/>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Title Only">
    <p:spTree>
      <p:nvGrpSpPr>
        <p:cNvPr id="1" name=""/>
        <p:cNvGrpSpPr/>
        <p:nvPr/>
      </p:nvGrpSpPr>
      <p:grpSpPr>
        <a:xfrm>
          <a:off x="0" y="0"/>
          <a:ext cx="0" cy="0"/>
          <a:chOff x="0" y="0"/>
          <a:chExt cx="0" cy="0"/>
        </a:xfrm>
      </p:grpSpPr>
      <p:sp>
        <p:nvSpPr>
          <p:cNvPr id="57" name="Title Text"/>
          <p:cNvSpPr txBox="1">
            <a:spLocks noGrp="1"/>
          </p:cNvSpPr>
          <p:nvPr>
            <p:ph type="title"/>
          </p:nvPr>
        </p:nvSpPr>
        <p:spPr>
          <a:prstGeom prst="rect">
            <a:avLst/>
          </a:prstGeom>
        </p:spPr>
        <p:txBody>
          <a:bodyPr/>
          <a:lstStyle/>
          <a:p>
            <a:r>
              <a:t>Title Text</a:t>
            </a:r>
          </a:p>
        </p:txBody>
      </p:sp>
      <p:sp>
        <p:nvSpPr>
          <p:cNvPr id="58" name="Slide Number"/>
          <p:cNvSpPr txBox="1">
            <a:spLocks noGrp="1"/>
          </p:cNvSpPr>
          <p:nvPr>
            <p:ph type="sldNum" sz="quarter" idx="2"/>
          </p:nvPr>
        </p:nvSpPr>
        <p:spPr>
          <a:prstGeom prst="rect">
            <a:avLst/>
          </a:prstGeom>
        </p:spPr>
        <p:txBody>
          <a:bodyPr/>
          <a:lstStyle/>
          <a:p>
            <a:fld id="{86CB4B4D-7CA3-9044-876B-883B54F8677D}" type="slidenum">
              <a:rPr/>
              <a:pPr/>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65" name="Slide Number"/>
          <p:cNvSpPr txBox="1">
            <a:spLocks noGrp="1"/>
          </p:cNvSpPr>
          <p:nvPr>
            <p:ph type="sldNum" sz="quarter" idx="2"/>
          </p:nvPr>
        </p:nvSpPr>
        <p:spPr>
          <a:prstGeom prst="rect">
            <a:avLst/>
          </a:prstGeom>
        </p:spPr>
        <p:txBody>
          <a:bodyPr/>
          <a:lstStyle/>
          <a:p>
            <a:fld id="{86CB4B4D-7CA3-9044-876B-883B54F8677D}" type="slidenum">
              <a:rPr/>
              <a:pPr/>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Content with Caption">
    <p:spTree>
      <p:nvGrpSpPr>
        <p:cNvPr id="1" name=""/>
        <p:cNvGrpSpPr/>
        <p:nvPr/>
      </p:nvGrpSpPr>
      <p:grpSpPr>
        <a:xfrm>
          <a:off x="0" y="0"/>
          <a:ext cx="0" cy="0"/>
          <a:chOff x="0" y="0"/>
          <a:chExt cx="0" cy="0"/>
        </a:xfrm>
      </p:grpSpPr>
      <p:sp>
        <p:nvSpPr>
          <p:cNvPr id="72" name="Title Text"/>
          <p:cNvSpPr txBox="1">
            <a:spLocks noGrp="1"/>
          </p:cNvSpPr>
          <p:nvPr>
            <p:ph type="title"/>
          </p:nvPr>
        </p:nvSpPr>
        <p:spPr>
          <a:xfrm>
            <a:off x="457200" y="273050"/>
            <a:ext cx="3008314" cy="1162050"/>
          </a:xfrm>
          <a:prstGeom prst="rect">
            <a:avLst/>
          </a:prstGeom>
        </p:spPr>
        <p:txBody>
          <a:bodyPr anchor="b"/>
          <a:lstStyle>
            <a:lvl1pPr algn="l">
              <a:defRPr sz="2000" b="1"/>
            </a:lvl1pPr>
          </a:lstStyle>
          <a:p>
            <a:r>
              <a:t>Title Text</a:t>
            </a:r>
          </a:p>
        </p:txBody>
      </p:sp>
      <p:sp>
        <p:nvSpPr>
          <p:cNvPr id="73" name="Body Level One…"/>
          <p:cNvSpPr txBox="1">
            <a:spLocks noGrp="1"/>
          </p:cNvSpPr>
          <p:nvPr>
            <p:ph type="body" idx="1"/>
          </p:nvPr>
        </p:nvSpPr>
        <p:spPr>
          <a:xfrm>
            <a:off x="3575050" y="273050"/>
            <a:ext cx="5111750" cy="5853113"/>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74" name="Text Placeholder 3"/>
          <p:cNvSpPr>
            <a:spLocks noGrp="1"/>
          </p:cNvSpPr>
          <p:nvPr>
            <p:ph type="body" sz="half" idx="13"/>
          </p:nvPr>
        </p:nvSpPr>
        <p:spPr>
          <a:xfrm>
            <a:off x="457199" y="1435100"/>
            <a:ext cx="3008315" cy="4691063"/>
          </a:xfrm>
          <a:prstGeom prst="rect">
            <a:avLst/>
          </a:prstGeom>
        </p:spPr>
        <p:txBody>
          <a:bodyPr/>
          <a:lstStyle/>
          <a:p>
            <a:pPr marL="0" indent="0">
              <a:spcBef>
                <a:spcPts val="300"/>
              </a:spcBef>
              <a:buSzTx/>
              <a:buFontTx/>
              <a:buNone/>
              <a:defRPr sz="1400"/>
            </a:pPr>
            <a:endParaRPr/>
          </a:p>
        </p:txBody>
      </p:sp>
      <p:sp>
        <p:nvSpPr>
          <p:cNvPr id="75" name="Slide Number"/>
          <p:cNvSpPr txBox="1">
            <a:spLocks noGrp="1"/>
          </p:cNvSpPr>
          <p:nvPr>
            <p:ph type="sldNum" sz="quarter" idx="2"/>
          </p:nvPr>
        </p:nvSpPr>
        <p:spPr>
          <a:prstGeom prst="rect">
            <a:avLst/>
          </a:prstGeom>
        </p:spPr>
        <p:txBody>
          <a:bodyPr/>
          <a:lstStyle/>
          <a:p>
            <a:fld id="{86CB4B4D-7CA3-9044-876B-883B54F8677D}" type="slidenum">
              <a:rPr/>
              <a:pPr/>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Picture with Caption">
    <p:spTree>
      <p:nvGrpSpPr>
        <p:cNvPr id="1" name=""/>
        <p:cNvGrpSpPr/>
        <p:nvPr/>
      </p:nvGrpSpPr>
      <p:grpSpPr>
        <a:xfrm>
          <a:off x="0" y="0"/>
          <a:ext cx="0" cy="0"/>
          <a:chOff x="0" y="0"/>
          <a:chExt cx="0" cy="0"/>
        </a:xfrm>
      </p:grpSpPr>
      <p:sp>
        <p:nvSpPr>
          <p:cNvPr id="82" name="Title Text"/>
          <p:cNvSpPr txBox="1">
            <a:spLocks noGrp="1"/>
          </p:cNvSpPr>
          <p:nvPr>
            <p:ph type="title"/>
          </p:nvPr>
        </p:nvSpPr>
        <p:spPr>
          <a:xfrm>
            <a:off x="1792288" y="4800600"/>
            <a:ext cx="5486401" cy="566738"/>
          </a:xfrm>
          <a:prstGeom prst="rect">
            <a:avLst/>
          </a:prstGeom>
        </p:spPr>
        <p:txBody>
          <a:bodyPr anchor="b"/>
          <a:lstStyle>
            <a:lvl1pPr algn="l">
              <a:defRPr sz="2000" b="1"/>
            </a:lvl1pPr>
          </a:lstStyle>
          <a:p>
            <a:r>
              <a:t>Title Text</a:t>
            </a:r>
          </a:p>
        </p:txBody>
      </p:sp>
      <p:sp>
        <p:nvSpPr>
          <p:cNvPr id="83" name="Picture Placeholder 2"/>
          <p:cNvSpPr>
            <a:spLocks noGrp="1"/>
          </p:cNvSpPr>
          <p:nvPr>
            <p:ph type="pic" sz="half" idx="13"/>
          </p:nvPr>
        </p:nvSpPr>
        <p:spPr>
          <a:xfrm>
            <a:off x="1792288" y="612775"/>
            <a:ext cx="5486401" cy="4114800"/>
          </a:xfrm>
          <a:prstGeom prst="rect">
            <a:avLst/>
          </a:prstGeom>
        </p:spPr>
        <p:txBody>
          <a:bodyPr lIns="91439" rIns="91439">
            <a:noAutofit/>
          </a:bodyPr>
          <a:lstStyle/>
          <a:p>
            <a:endParaRPr/>
          </a:p>
        </p:txBody>
      </p:sp>
      <p:sp>
        <p:nvSpPr>
          <p:cNvPr id="84" name="Body Level One…"/>
          <p:cNvSpPr txBox="1">
            <a:spLocks noGrp="1"/>
          </p:cNvSpPr>
          <p:nvPr>
            <p:ph type="body" sz="quarter" idx="1"/>
          </p:nvPr>
        </p:nvSpPr>
        <p:spPr>
          <a:xfrm>
            <a:off x="1792288" y="5367337"/>
            <a:ext cx="5486401" cy="804863"/>
          </a:xfrm>
          <a:prstGeom prst="rect">
            <a:avLst/>
          </a:prstGeom>
        </p:spPr>
        <p:txBody>
          <a:bodyPr/>
          <a:lstStyle>
            <a:lvl1pPr marL="0" indent="0">
              <a:spcBef>
                <a:spcPts val="300"/>
              </a:spcBef>
              <a:buSzTx/>
              <a:buFontTx/>
              <a:buNone/>
              <a:defRPr sz="1400"/>
            </a:lvl1pPr>
            <a:lvl2pPr marL="0" indent="457200">
              <a:spcBef>
                <a:spcPts val="300"/>
              </a:spcBef>
              <a:buSzTx/>
              <a:buFontTx/>
              <a:buNone/>
              <a:defRPr sz="1400"/>
            </a:lvl2pPr>
            <a:lvl3pPr marL="0" indent="914400">
              <a:spcBef>
                <a:spcPts val="300"/>
              </a:spcBef>
              <a:buSzTx/>
              <a:buFontTx/>
              <a:buNone/>
              <a:defRPr sz="1400"/>
            </a:lvl3pPr>
            <a:lvl4pPr marL="0" indent="1371600">
              <a:spcBef>
                <a:spcPts val="300"/>
              </a:spcBef>
              <a:buSzTx/>
              <a:buFontTx/>
              <a:buNone/>
              <a:defRPr sz="1400"/>
            </a:lvl4pPr>
            <a:lvl5pPr marL="0" indent="1828800">
              <a:spcBef>
                <a:spcPts val="300"/>
              </a:spcBef>
              <a:buSzTx/>
              <a:buFontTx/>
              <a:buNone/>
              <a:defRPr sz="1400"/>
            </a:lvl5pPr>
          </a:lstStyle>
          <a:p>
            <a:r>
              <a:t>Body Level One</a:t>
            </a:r>
          </a:p>
          <a:p>
            <a:pPr lvl="1"/>
            <a:r>
              <a:t>Body Level Two</a:t>
            </a:r>
          </a:p>
          <a:p>
            <a:pPr lvl="2"/>
            <a:r>
              <a:t>Body Level Three</a:t>
            </a:r>
          </a:p>
          <a:p>
            <a:pPr lvl="3"/>
            <a:r>
              <a:t>Body Level Four</a:t>
            </a:r>
          </a:p>
          <a:p>
            <a:pPr lvl="4"/>
            <a:r>
              <a:t>Body Level Five</a:t>
            </a:r>
          </a:p>
        </p:txBody>
      </p:sp>
      <p:sp>
        <p:nvSpPr>
          <p:cNvPr id="85" name="Slide Number"/>
          <p:cNvSpPr txBox="1">
            <a:spLocks noGrp="1"/>
          </p:cNvSpPr>
          <p:nvPr>
            <p:ph type="sldNum" sz="quarter" idx="2"/>
          </p:nvPr>
        </p:nvSpPr>
        <p:spPr>
          <a:prstGeom prst="rect">
            <a:avLst/>
          </a:prstGeom>
        </p:spPr>
        <p:txBody>
          <a:bodyPr/>
          <a:lstStyle/>
          <a:p>
            <a:fld id="{86CB4B4D-7CA3-9044-876B-883B54F8677D}" type="slidenum">
              <a:rPr/>
              <a:pPr/>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Text"/>
          <p:cNvSpPr txBox="1">
            <a:spLocks noGrp="1"/>
          </p:cNvSpPr>
          <p:nvPr>
            <p:ph type="title"/>
          </p:nvPr>
        </p:nvSpPr>
        <p:spPr>
          <a:xfrm>
            <a:off x="457200" y="274638"/>
            <a:ext cx="8229600" cy="1143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normAutofit/>
          </a:bodyPr>
          <a:lstStyle/>
          <a:p>
            <a:r>
              <a:t>Title Text</a:t>
            </a:r>
          </a:p>
        </p:txBody>
      </p:sp>
      <p:sp>
        <p:nvSpPr>
          <p:cNvPr id="3" name="Body Level One…"/>
          <p:cNvSpPr txBox="1">
            <a:spLocks noGrp="1"/>
          </p:cNvSpPr>
          <p:nvPr>
            <p:ph type="body" idx="1"/>
          </p:nvPr>
        </p:nvSpPr>
        <p:spPr>
          <a:xfrm>
            <a:off x="457200" y="1600200"/>
            <a:ext cx="8229600" cy="45259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ormAutofit/>
          </a:bodyPr>
          <a:lstStyle/>
          <a:p>
            <a:r>
              <a:t>Body Level One</a:t>
            </a:r>
          </a:p>
          <a:p>
            <a:pPr lvl="1"/>
            <a:r>
              <a:t>Body Level Two</a:t>
            </a:r>
          </a:p>
          <a:p>
            <a:pPr lvl="2"/>
            <a:r>
              <a:t>Body Level Three</a:t>
            </a:r>
          </a:p>
          <a:p>
            <a:pPr lvl="3"/>
            <a:r>
              <a:t>Body Level Four</a:t>
            </a:r>
          </a:p>
          <a:p>
            <a:pPr lvl="4"/>
            <a:r>
              <a:t>Body Level Five</a:t>
            </a:r>
          </a:p>
        </p:txBody>
      </p:sp>
      <p:sp>
        <p:nvSpPr>
          <p:cNvPr id="4" name="Slide Number"/>
          <p:cNvSpPr txBox="1">
            <a:spLocks noGrp="1"/>
          </p:cNvSpPr>
          <p:nvPr>
            <p:ph type="sldNum" sz="quarter" idx="2"/>
          </p:nvPr>
        </p:nvSpPr>
        <p:spPr>
          <a:xfrm>
            <a:off x="8422818" y="6404292"/>
            <a:ext cx="263983" cy="269241"/>
          </a:xfrm>
          <a:prstGeom prst="rect">
            <a:avLst/>
          </a:prstGeom>
          <a:ln w="12700">
            <a:miter lim="400000"/>
          </a:ln>
        </p:spPr>
        <p:txBody>
          <a:bodyPr wrap="none" lIns="45719" rIns="45719" anchor="ctr">
            <a:spAutoFit/>
          </a:bodyPr>
          <a:lstStyle>
            <a:lvl1pPr algn="r">
              <a:defRPr sz="1200">
                <a:solidFill>
                  <a:srgbClr val="888888"/>
                </a:solidFill>
              </a:defRPr>
            </a:lvl1pPr>
          </a:lstStyle>
          <a:p>
            <a:fld id="{86CB4B4D-7CA3-9044-876B-883B54F8677D}" type="slidenum">
              <a:rPr/>
              <a:pPr/>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transition spd="med"/>
  <p:txStyles>
    <p:titleStyle>
      <a:lvl1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mn-lt"/>
          <a:ea typeface="+mn-ea"/>
          <a:cs typeface="+mn-cs"/>
          <a:sym typeface="Calibri"/>
        </a:defRPr>
      </a:lvl1pPr>
      <a:lvl2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mn-lt"/>
          <a:ea typeface="+mn-ea"/>
          <a:cs typeface="+mn-cs"/>
          <a:sym typeface="Calibri"/>
        </a:defRPr>
      </a:lvl2pPr>
      <a:lvl3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mn-lt"/>
          <a:ea typeface="+mn-ea"/>
          <a:cs typeface="+mn-cs"/>
          <a:sym typeface="Calibri"/>
        </a:defRPr>
      </a:lvl3pPr>
      <a:lvl4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mn-lt"/>
          <a:ea typeface="+mn-ea"/>
          <a:cs typeface="+mn-cs"/>
          <a:sym typeface="Calibri"/>
        </a:defRPr>
      </a:lvl4pPr>
      <a:lvl5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mn-lt"/>
          <a:ea typeface="+mn-ea"/>
          <a:cs typeface="+mn-cs"/>
          <a:sym typeface="Calibri"/>
        </a:defRPr>
      </a:lvl5pPr>
      <a:lvl6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mn-lt"/>
          <a:ea typeface="+mn-ea"/>
          <a:cs typeface="+mn-cs"/>
          <a:sym typeface="Calibri"/>
        </a:defRPr>
      </a:lvl6pPr>
      <a:lvl7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mn-lt"/>
          <a:ea typeface="+mn-ea"/>
          <a:cs typeface="+mn-cs"/>
          <a:sym typeface="Calibri"/>
        </a:defRPr>
      </a:lvl7pPr>
      <a:lvl8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mn-lt"/>
          <a:ea typeface="+mn-ea"/>
          <a:cs typeface="+mn-cs"/>
          <a:sym typeface="Calibri"/>
        </a:defRPr>
      </a:lvl8pPr>
      <a:lvl9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mn-lt"/>
          <a:ea typeface="+mn-ea"/>
          <a:cs typeface="+mn-cs"/>
          <a:sym typeface="Calibri"/>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n-lt"/>
          <a:ea typeface="+mn-ea"/>
          <a:cs typeface="+mn-cs"/>
          <a:sym typeface="Calibri"/>
        </a:defRPr>
      </a:lvl1pPr>
      <a:lvl2pPr marL="783771" marR="0" indent="-326571"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n-lt"/>
          <a:ea typeface="+mn-ea"/>
          <a:cs typeface="+mn-cs"/>
          <a:sym typeface="Calibri"/>
        </a:defRPr>
      </a:lvl2pPr>
      <a:lvl3pPr marL="1219200" marR="0" indent="-30480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n-lt"/>
          <a:ea typeface="+mn-ea"/>
          <a:cs typeface="+mn-cs"/>
          <a:sym typeface="Calibri"/>
        </a:defRPr>
      </a:lvl3pPr>
      <a:lvl4pPr marL="1737360" marR="0" indent="-36576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n-lt"/>
          <a:ea typeface="+mn-ea"/>
          <a:cs typeface="+mn-cs"/>
          <a:sym typeface="Calibri"/>
        </a:defRPr>
      </a:lvl4pPr>
      <a:lvl5pPr marL="2194560" marR="0" indent="-36576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n-lt"/>
          <a:ea typeface="+mn-ea"/>
          <a:cs typeface="+mn-cs"/>
          <a:sym typeface="Calibri"/>
        </a:defRPr>
      </a:lvl5pPr>
      <a:lvl6pPr marL="2651760" marR="0" indent="-36576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n-lt"/>
          <a:ea typeface="+mn-ea"/>
          <a:cs typeface="+mn-cs"/>
          <a:sym typeface="Calibri"/>
        </a:defRPr>
      </a:lvl6pPr>
      <a:lvl7pPr marL="3108960" marR="0" indent="-36576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n-lt"/>
          <a:ea typeface="+mn-ea"/>
          <a:cs typeface="+mn-cs"/>
          <a:sym typeface="Calibri"/>
        </a:defRPr>
      </a:lvl7pPr>
      <a:lvl8pPr marL="3566159" marR="0" indent="-365759"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n-lt"/>
          <a:ea typeface="+mn-ea"/>
          <a:cs typeface="+mn-cs"/>
          <a:sym typeface="Calibri"/>
        </a:defRPr>
      </a:lvl8pPr>
      <a:lvl9pPr marL="4023359" marR="0" indent="-365759"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n-lt"/>
          <a:ea typeface="+mn-ea"/>
          <a:cs typeface="+mn-cs"/>
          <a:sym typeface="Calibri"/>
        </a:defRPr>
      </a:lvl9pPr>
    </p:bodyStyle>
    <p:otherStyle>
      <a:lvl1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 name="Title 1"/>
          <p:cNvSpPr txBox="1">
            <a:spLocks noGrp="1"/>
          </p:cNvSpPr>
          <p:nvPr>
            <p:ph type="title"/>
          </p:nvPr>
        </p:nvSpPr>
        <p:spPr>
          <a:prstGeom prst="rect">
            <a:avLst/>
          </a:prstGeom>
        </p:spPr>
        <p:txBody>
          <a:bodyPr/>
          <a:lstStyle/>
          <a:p>
            <a:r>
              <a:rPr dirty="0"/>
              <a:t>DREPT</a:t>
            </a:r>
          </a:p>
        </p:txBody>
      </p:sp>
      <p:sp>
        <p:nvSpPr>
          <p:cNvPr id="107" name="Content Placeholder 2"/>
          <p:cNvSpPr txBox="1">
            <a:spLocks noGrp="1"/>
          </p:cNvSpPr>
          <p:nvPr>
            <p:ph type="body" idx="1"/>
          </p:nvPr>
        </p:nvSpPr>
        <p:spPr>
          <a:xfrm>
            <a:off x="457200" y="1219200"/>
            <a:ext cx="8229600" cy="5257800"/>
          </a:xfrm>
          <a:prstGeom prst="rect">
            <a:avLst/>
          </a:prstGeom>
        </p:spPr>
        <p:txBody>
          <a:bodyPr/>
          <a:lstStyle/>
          <a:p>
            <a:pPr algn="just">
              <a:lnSpc>
                <a:spcPct val="80000"/>
              </a:lnSpc>
              <a:spcBef>
                <a:spcPts val="500"/>
              </a:spcBef>
              <a:buSzTx/>
              <a:buNone/>
              <a:defRPr sz="2200"/>
            </a:pPr>
            <a:endParaRPr/>
          </a:p>
          <a:p>
            <a:pPr algn="just">
              <a:lnSpc>
                <a:spcPct val="80000"/>
              </a:lnSpc>
              <a:spcBef>
                <a:spcPts val="500"/>
              </a:spcBef>
              <a:buSzTx/>
              <a:buNone/>
              <a:defRPr sz="2200"/>
            </a:pPr>
            <a:r>
              <a:t>➢ Definiţia dreptului - dreptul reprezintă totalitatea normelor juridice elaborate sau recunoscute de stat în scopulr eglementării relaţiilor sociale conform voinţei generale, a căror respectare este asigurată la nevoie prin forţa de constrângere a statului.</a:t>
            </a:r>
          </a:p>
          <a:p>
            <a:pPr algn="just">
              <a:lnSpc>
                <a:spcPct val="80000"/>
              </a:lnSpc>
              <a:spcBef>
                <a:spcPts val="500"/>
              </a:spcBef>
              <a:buSzTx/>
              <a:buNone/>
              <a:defRPr sz="2200"/>
            </a:pPr>
            <a:endParaRPr/>
          </a:p>
          <a:p>
            <a:pPr algn="just">
              <a:lnSpc>
                <a:spcPct val="80000"/>
              </a:lnSpc>
              <a:spcBef>
                <a:spcPts val="500"/>
              </a:spcBef>
              <a:buSzTx/>
              <a:buNone/>
              <a:defRPr sz="2200"/>
            </a:pPr>
            <a:r>
              <a:t>➢ Trăsăturile caracteristice ale dreptului:</a:t>
            </a:r>
          </a:p>
          <a:p>
            <a:pPr algn="just">
              <a:lnSpc>
                <a:spcPct val="80000"/>
              </a:lnSpc>
              <a:spcBef>
                <a:spcPts val="500"/>
              </a:spcBef>
              <a:buSzTx/>
              <a:buNone/>
              <a:defRPr sz="2200"/>
            </a:pPr>
            <a:r>
              <a:t>1. voinţa exprimată în drept este determinată de factori de natură economică, socială, politică, ideologică;</a:t>
            </a:r>
          </a:p>
          <a:p>
            <a:pPr algn="just">
              <a:lnSpc>
                <a:spcPct val="80000"/>
              </a:lnSpc>
              <a:spcBef>
                <a:spcPts val="500"/>
              </a:spcBef>
              <a:buSzTx/>
              <a:buNone/>
              <a:defRPr sz="2200"/>
            </a:pPr>
            <a:endParaRPr/>
          </a:p>
          <a:p>
            <a:pPr algn="just">
              <a:lnSpc>
                <a:spcPct val="80000"/>
              </a:lnSpc>
              <a:spcBef>
                <a:spcPts val="500"/>
              </a:spcBef>
              <a:buSzTx/>
              <a:buNone/>
              <a:defRPr sz="2200"/>
            </a:pPr>
            <a:r>
              <a:t>2. voinţa exprimată în drept reprezintă interesele generale şi</a:t>
            </a:r>
          </a:p>
          <a:p>
            <a:pPr algn="just">
              <a:lnSpc>
                <a:spcPct val="80000"/>
              </a:lnSpc>
              <a:spcBef>
                <a:spcPts val="500"/>
              </a:spcBef>
              <a:buSzTx/>
              <a:buNone/>
              <a:defRPr sz="2200"/>
            </a:pPr>
            <a:r>
              <a:t>	fundamentale ale cetăţenilor;</a:t>
            </a:r>
          </a:p>
          <a:p>
            <a:pPr algn="just">
              <a:lnSpc>
                <a:spcPct val="80000"/>
              </a:lnSpc>
              <a:spcBef>
                <a:spcPts val="500"/>
              </a:spcBef>
              <a:buSzTx/>
              <a:buNone/>
              <a:defRPr sz="2200"/>
            </a:pPr>
            <a:endParaRPr/>
          </a:p>
          <a:p>
            <a:pPr algn="just">
              <a:lnSpc>
                <a:spcPct val="80000"/>
              </a:lnSpc>
              <a:spcBef>
                <a:spcPts val="500"/>
              </a:spcBef>
              <a:buSzTx/>
              <a:buNone/>
              <a:defRPr sz="2200"/>
            </a:pPr>
            <a:r>
              <a:t>3. voinţa exprimată în drept, pentru a se impune, trebuie ridicată la rangul de lege. Dreptul este expresia normativă a voinţei de Stat.</a:t>
            </a: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 name="Title 1"/>
          <p:cNvSpPr txBox="1">
            <a:spLocks noGrp="1"/>
          </p:cNvSpPr>
          <p:nvPr>
            <p:ph type="title"/>
          </p:nvPr>
        </p:nvSpPr>
        <p:spPr>
          <a:xfrm>
            <a:off x="457200" y="274638"/>
            <a:ext cx="8229600" cy="792163"/>
          </a:xfrm>
          <a:prstGeom prst="rect">
            <a:avLst/>
          </a:prstGeom>
        </p:spPr>
        <p:txBody>
          <a:bodyPr/>
          <a:lstStyle/>
          <a:p>
            <a:r>
              <a:t>Diviziunile dreptului</a:t>
            </a:r>
          </a:p>
        </p:txBody>
      </p:sp>
      <p:sp>
        <p:nvSpPr>
          <p:cNvPr id="110" name="Content Placeholder 2"/>
          <p:cNvSpPr txBox="1">
            <a:spLocks noGrp="1"/>
          </p:cNvSpPr>
          <p:nvPr>
            <p:ph type="body" idx="1"/>
          </p:nvPr>
        </p:nvSpPr>
        <p:spPr>
          <a:xfrm>
            <a:off x="457200" y="1189037"/>
            <a:ext cx="8229600" cy="4983163"/>
          </a:xfrm>
          <a:prstGeom prst="rect">
            <a:avLst/>
          </a:prstGeom>
        </p:spPr>
        <p:txBody>
          <a:bodyPr/>
          <a:lstStyle/>
          <a:p>
            <a:pPr algn="just">
              <a:lnSpc>
                <a:spcPct val="80000"/>
              </a:lnSpc>
              <a:spcBef>
                <a:spcPts val="500"/>
              </a:spcBef>
              <a:buSzTx/>
              <a:buNone/>
              <a:defRPr sz="2400"/>
            </a:pPr>
            <a:endParaRPr/>
          </a:p>
          <a:p>
            <a:pPr algn="just">
              <a:lnSpc>
                <a:spcPct val="80000"/>
              </a:lnSpc>
              <a:spcBef>
                <a:spcPts val="500"/>
              </a:spcBef>
              <a:buSzTx/>
              <a:buNone/>
              <a:defRPr sz="2400"/>
            </a:pPr>
            <a:r>
              <a:t>a) Drept public (jus publicum)</a:t>
            </a:r>
          </a:p>
          <a:p>
            <a:pPr algn="just">
              <a:lnSpc>
                <a:spcPct val="80000"/>
              </a:lnSpc>
              <a:spcBef>
                <a:spcPts val="500"/>
              </a:spcBef>
              <a:buSzTx/>
              <a:buNone/>
              <a:defRPr sz="2400"/>
            </a:pPr>
            <a:r>
              <a:t>b) Drept privat (jus privatum)</a:t>
            </a:r>
          </a:p>
          <a:p>
            <a:pPr algn="just">
              <a:lnSpc>
                <a:spcPct val="80000"/>
              </a:lnSpc>
              <a:spcBef>
                <a:spcPts val="500"/>
              </a:spcBef>
              <a:buSzTx/>
              <a:buNone/>
              <a:defRPr sz="2400"/>
            </a:pPr>
            <a:endParaRPr/>
          </a:p>
          <a:p>
            <a:pPr algn="just">
              <a:lnSpc>
                <a:spcPct val="80000"/>
              </a:lnSpc>
              <a:spcBef>
                <a:spcPts val="500"/>
              </a:spcBef>
              <a:buSzTx/>
              <a:buNone/>
              <a:defRPr sz="2400"/>
            </a:pPr>
            <a:r>
              <a:t>a) </a:t>
            </a:r>
            <a:r>
              <a:rPr b="1" u="sng"/>
              <a:t>Dreptul public</a:t>
            </a:r>
            <a:r>
              <a:t> este alcătuit din totalitatea normelor juridice care reglementează raporturile juridice dintre individ şi colectivitate (statul sau organele sale).</a:t>
            </a:r>
          </a:p>
          <a:p>
            <a:pPr algn="just">
              <a:lnSpc>
                <a:spcPct val="80000"/>
              </a:lnSpc>
              <a:spcBef>
                <a:spcPts val="500"/>
              </a:spcBef>
              <a:buSzTx/>
              <a:buNone/>
              <a:defRPr sz="2400"/>
            </a:pPr>
            <a:endParaRPr/>
          </a:p>
          <a:p>
            <a:pPr algn="just">
              <a:lnSpc>
                <a:spcPct val="80000"/>
              </a:lnSpc>
              <a:spcBef>
                <a:spcPts val="500"/>
              </a:spcBef>
              <a:buSzTx/>
              <a:buNone/>
              <a:defRPr sz="2400"/>
            </a:pPr>
            <a:r>
              <a:t>b) </a:t>
            </a:r>
            <a:r>
              <a:rPr b="1" u="sng"/>
              <a:t>Dreptul privat </a:t>
            </a:r>
            <a:r>
              <a:t>este alcătuit din totalitatea normelor juridice care reglementează raporturile individuale dintre oameni, raporturi în care părţile participante au o situaţie de egalitate juridică (ex. raporturi de proprietate; raporturi contractuale; raporturi de familie etc.)</a:t>
            </a: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 name="Title 1"/>
          <p:cNvSpPr txBox="1">
            <a:spLocks noGrp="1"/>
          </p:cNvSpPr>
          <p:nvPr>
            <p:ph type="title"/>
          </p:nvPr>
        </p:nvSpPr>
        <p:spPr>
          <a:xfrm>
            <a:off x="457200" y="274638"/>
            <a:ext cx="8229600" cy="639763"/>
          </a:xfrm>
          <a:prstGeom prst="rect">
            <a:avLst/>
          </a:prstGeom>
        </p:spPr>
        <p:txBody>
          <a:bodyPr>
            <a:normAutofit fontScale="90000"/>
          </a:bodyPr>
          <a:lstStyle>
            <a:lvl1pPr defTabSz="877823">
              <a:defRPr sz="3743"/>
            </a:lvl1pPr>
          </a:lstStyle>
          <a:p>
            <a:r>
              <a:t>Sistemul dreptului român</a:t>
            </a:r>
          </a:p>
        </p:txBody>
      </p:sp>
      <p:sp>
        <p:nvSpPr>
          <p:cNvPr id="113" name="Content Placeholder 2"/>
          <p:cNvSpPr txBox="1">
            <a:spLocks noGrp="1"/>
          </p:cNvSpPr>
          <p:nvPr>
            <p:ph type="body" idx="1"/>
          </p:nvPr>
        </p:nvSpPr>
        <p:spPr>
          <a:xfrm>
            <a:off x="457200" y="1066800"/>
            <a:ext cx="8229600" cy="5486400"/>
          </a:xfrm>
          <a:prstGeom prst="rect">
            <a:avLst/>
          </a:prstGeom>
        </p:spPr>
        <p:txBody>
          <a:bodyPr/>
          <a:lstStyle/>
          <a:p>
            <a:pPr marL="336042" indent="-336042" algn="just" defTabSz="896111">
              <a:lnSpc>
                <a:spcPct val="80000"/>
              </a:lnSpc>
              <a:spcBef>
                <a:spcPts val="400"/>
              </a:spcBef>
              <a:buSzTx/>
              <a:buNone/>
              <a:defRPr sz="1960" b="1" i="1"/>
            </a:pPr>
            <a:r>
              <a:t>Definiţie: Sistemul dreptului reprezintă structura internă a dreptului </a:t>
            </a:r>
            <a:r>
              <a:rPr b="0" i="0"/>
              <a:t>dintr-un stat, care se bazează pe unitatea normelor juridice şi diviziunea lor în anumite părţi independente, ramuri şi instituţii juridice.</a:t>
            </a:r>
          </a:p>
          <a:p>
            <a:pPr marL="336042" indent="-336042" algn="just" defTabSz="896111">
              <a:lnSpc>
                <a:spcPct val="80000"/>
              </a:lnSpc>
              <a:spcBef>
                <a:spcPts val="400"/>
              </a:spcBef>
              <a:buSzTx/>
              <a:buNone/>
              <a:defRPr sz="1960"/>
            </a:pPr>
            <a:endParaRPr b="0" i="0"/>
          </a:p>
          <a:p>
            <a:pPr marL="336042" indent="-336042" algn="just" defTabSz="896111">
              <a:lnSpc>
                <a:spcPct val="80000"/>
              </a:lnSpc>
              <a:spcBef>
                <a:spcPts val="400"/>
              </a:spcBef>
              <a:buSzTx/>
              <a:buNone/>
              <a:defRPr sz="1960"/>
            </a:pPr>
            <a:r>
              <a:t>• În cadrul sistemului dreptului, distingem:</a:t>
            </a:r>
          </a:p>
          <a:p>
            <a:pPr marL="336042" indent="-336042" algn="just" defTabSz="896111">
              <a:lnSpc>
                <a:spcPct val="80000"/>
              </a:lnSpc>
              <a:spcBef>
                <a:spcPts val="400"/>
              </a:spcBef>
              <a:buSzTx/>
              <a:buNone/>
              <a:defRPr sz="1960"/>
            </a:pPr>
            <a:r>
              <a:t>- instituţii juridice;</a:t>
            </a:r>
          </a:p>
          <a:p>
            <a:pPr marL="336042" indent="-336042" algn="just" defTabSz="896111">
              <a:lnSpc>
                <a:spcPct val="80000"/>
              </a:lnSpc>
              <a:spcBef>
                <a:spcPts val="400"/>
              </a:spcBef>
              <a:buSzTx/>
              <a:buNone/>
              <a:defRPr sz="1960"/>
            </a:pPr>
            <a:r>
              <a:t>- ramuri de drept.</a:t>
            </a:r>
          </a:p>
          <a:p>
            <a:pPr marL="336042" indent="-336042" algn="just" defTabSz="896111">
              <a:lnSpc>
                <a:spcPct val="80000"/>
              </a:lnSpc>
              <a:spcBef>
                <a:spcPts val="400"/>
              </a:spcBef>
              <a:buSzTx/>
              <a:buNone/>
              <a:defRPr sz="1960"/>
            </a:pPr>
            <a:endParaRPr/>
          </a:p>
          <a:p>
            <a:pPr marL="336042" indent="-336042" algn="just" defTabSz="896111">
              <a:lnSpc>
                <a:spcPct val="80000"/>
              </a:lnSpc>
              <a:spcBef>
                <a:spcPts val="400"/>
              </a:spcBef>
              <a:buSzTx/>
              <a:buNone/>
              <a:defRPr sz="1960"/>
            </a:pPr>
            <a:r>
              <a:t>➢ Instituţie juridică: totalitatea normelor juridice care reglementează o grupă de relaţii sociale. În fiecare instituţie este grupată o categorie determinată de raporturi juridice (ex.: normele juridice care reglementează raporturile de proprietate alcătuiesc instituţia dreptului de proprietate, normele juridice care reglementează raporturile contractuale alcătuiesc, instituţia juridică a contractelor).</a:t>
            </a:r>
          </a:p>
          <a:p>
            <a:pPr marL="336042" indent="-336042" algn="just" defTabSz="896111">
              <a:lnSpc>
                <a:spcPct val="80000"/>
              </a:lnSpc>
              <a:spcBef>
                <a:spcPts val="400"/>
              </a:spcBef>
              <a:buSzTx/>
              <a:buNone/>
              <a:defRPr sz="1960"/>
            </a:pPr>
            <a:endParaRPr/>
          </a:p>
          <a:p>
            <a:pPr marL="336042" indent="-336042" algn="just" defTabSz="896111">
              <a:lnSpc>
                <a:spcPct val="80000"/>
              </a:lnSpc>
              <a:spcBef>
                <a:spcPts val="400"/>
              </a:spcBef>
              <a:buSzTx/>
              <a:buNone/>
              <a:defRPr sz="1960"/>
            </a:pPr>
            <a:r>
              <a:t>➢ Ramură a dreptului: se înţelege o grupare mai largă de norme juridice legate între ele prin obiectul lor comun, prin anumite principii care stau la baza lor, prin unitatea de metodă folosită în reglementarea relaţiilor sociale.</a:t>
            </a: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 name="Title 1"/>
          <p:cNvSpPr txBox="1">
            <a:spLocks noGrp="1"/>
          </p:cNvSpPr>
          <p:nvPr>
            <p:ph type="title"/>
          </p:nvPr>
        </p:nvSpPr>
        <p:spPr>
          <a:xfrm>
            <a:off x="457200" y="274638"/>
            <a:ext cx="8229600" cy="715963"/>
          </a:xfrm>
          <a:prstGeom prst="rect">
            <a:avLst/>
          </a:prstGeom>
        </p:spPr>
        <p:txBody>
          <a:bodyPr/>
          <a:lstStyle>
            <a:lvl1pPr>
              <a:defRPr sz="3900"/>
            </a:lvl1pPr>
          </a:lstStyle>
          <a:p>
            <a:r>
              <a:t>Ramuri ale dreptului român</a:t>
            </a:r>
          </a:p>
        </p:txBody>
      </p:sp>
      <p:sp>
        <p:nvSpPr>
          <p:cNvPr id="116" name="Content Placeholder 2"/>
          <p:cNvSpPr txBox="1">
            <a:spLocks noGrp="1"/>
          </p:cNvSpPr>
          <p:nvPr>
            <p:ph type="body" idx="1"/>
          </p:nvPr>
        </p:nvSpPr>
        <p:spPr>
          <a:xfrm>
            <a:off x="457200" y="1219200"/>
            <a:ext cx="8229600" cy="4906963"/>
          </a:xfrm>
          <a:prstGeom prst="rect">
            <a:avLst/>
          </a:prstGeom>
        </p:spPr>
        <p:txBody>
          <a:bodyPr/>
          <a:lstStyle/>
          <a:p>
            <a:r>
              <a:t>Dreptul constituţional.</a:t>
            </a:r>
          </a:p>
          <a:p>
            <a:r>
              <a:t>Dreptul administrativ.</a:t>
            </a:r>
          </a:p>
          <a:p>
            <a:r>
              <a:t>Dreptul civil.</a:t>
            </a:r>
          </a:p>
          <a:p>
            <a:r>
              <a:t>Dreptul muncii.</a:t>
            </a:r>
          </a:p>
          <a:p>
            <a:r>
              <a:t>Dreptul familiei.</a:t>
            </a:r>
          </a:p>
          <a:p>
            <a:r>
              <a:t>Dreptul financiar şi fiscal.</a:t>
            </a:r>
          </a:p>
          <a:p>
            <a:r>
              <a:t>Dreptul proprietăţii intelectuale</a:t>
            </a:r>
          </a:p>
          <a:p>
            <a:r>
              <a:t>Dreptul penal</a:t>
            </a:r>
          </a:p>
        </p:txBody>
      </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 name="Title 1"/>
          <p:cNvSpPr txBox="1">
            <a:spLocks noGrp="1"/>
          </p:cNvSpPr>
          <p:nvPr>
            <p:ph type="title"/>
          </p:nvPr>
        </p:nvSpPr>
        <p:spPr>
          <a:xfrm>
            <a:off x="457200" y="274638"/>
            <a:ext cx="8229600" cy="944563"/>
          </a:xfrm>
          <a:prstGeom prst="rect">
            <a:avLst/>
          </a:prstGeom>
        </p:spPr>
        <p:txBody>
          <a:bodyPr/>
          <a:lstStyle>
            <a:lvl1pPr>
              <a:defRPr b="1"/>
            </a:lvl1pPr>
          </a:lstStyle>
          <a:p>
            <a:r>
              <a:t>DREPTUL CIVIL</a:t>
            </a:r>
          </a:p>
        </p:txBody>
      </p:sp>
      <p:sp>
        <p:nvSpPr>
          <p:cNvPr id="119" name="Content Placeholder 2"/>
          <p:cNvSpPr txBox="1">
            <a:spLocks noGrp="1"/>
          </p:cNvSpPr>
          <p:nvPr>
            <p:ph type="body" idx="1"/>
          </p:nvPr>
        </p:nvSpPr>
        <p:spPr>
          <a:xfrm>
            <a:off x="457200" y="1219200"/>
            <a:ext cx="8229600" cy="4906963"/>
          </a:xfrm>
          <a:prstGeom prst="rect">
            <a:avLst/>
          </a:prstGeom>
        </p:spPr>
        <p:txBody>
          <a:bodyPr/>
          <a:lstStyle/>
          <a:p>
            <a:pPr algn="just">
              <a:defRPr sz="2400" b="1" i="1">
                <a:latin typeface="Arial"/>
                <a:ea typeface="Arial"/>
                <a:cs typeface="Arial"/>
                <a:sym typeface="Arial"/>
              </a:defRPr>
            </a:pPr>
            <a:endParaRPr/>
          </a:p>
          <a:p>
            <a:pPr algn="just">
              <a:spcBef>
                <a:spcPts val="500"/>
              </a:spcBef>
              <a:defRPr sz="2400" b="1" i="1">
                <a:latin typeface="Arial"/>
                <a:ea typeface="Arial"/>
                <a:cs typeface="Arial"/>
                <a:sym typeface="Arial"/>
              </a:defRPr>
            </a:pPr>
            <a:r>
              <a:t>Noţiune - </a:t>
            </a:r>
            <a:r>
              <a:rPr b="0" i="0"/>
              <a:t>Dreptul civil este acea ramură a dreptului privat alcătuită din ansamblul normelor juridice care reglementează unele </a:t>
            </a:r>
            <a:r>
              <a:rPr b="0" i="0" u="sng"/>
              <a:t>raporturi juridice patrimoniale</a:t>
            </a:r>
            <a:r>
              <a:rPr b="0" i="0"/>
              <a:t>, precum şi unele </a:t>
            </a:r>
            <a:r>
              <a:rPr b="0" i="0" u="sng"/>
              <a:t>raporturi juridice nepatrimoniale</a:t>
            </a:r>
            <a:r>
              <a:rPr b="0" i="0"/>
              <a:t> stabilite între persoane fizice şi persoane juridice aflate în situaţia de egalitate juridică.</a:t>
            </a:r>
          </a:p>
          <a:p>
            <a:pPr marL="609600" indent="-609600" algn="just">
              <a:spcBef>
                <a:spcPts val="500"/>
              </a:spcBef>
              <a:defRPr sz="2400" b="1" u="sng">
                <a:latin typeface="Arial"/>
                <a:ea typeface="Arial"/>
                <a:cs typeface="Arial"/>
                <a:sym typeface="Arial"/>
              </a:defRPr>
            </a:pPr>
            <a:r>
              <a:t>Obiectul</a:t>
            </a:r>
            <a:r>
              <a:rPr b="0" u="none"/>
              <a:t> reglementării </a:t>
            </a:r>
            <a:r>
              <a:t>dreptului civil</a:t>
            </a:r>
            <a:r>
              <a:rPr b="0" u="none"/>
              <a:t>, este alcătuit din două categorii de raporturi juridice civile:</a:t>
            </a:r>
            <a:endParaRPr sz="1800"/>
          </a:p>
          <a:p>
            <a:pPr marL="609600" indent="-609600" algn="just">
              <a:spcBef>
                <a:spcPts val="400"/>
              </a:spcBef>
              <a:defRPr sz="2400">
                <a:latin typeface="Arial"/>
                <a:ea typeface="Arial"/>
                <a:cs typeface="Arial"/>
                <a:sym typeface="Arial"/>
              </a:defRPr>
            </a:pPr>
            <a:endParaRPr sz="1800"/>
          </a:p>
          <a:p>
            <a:pPr algn="just">
              <a:spcBef>
                <a:spcPts val="500"/>
              </a:spcBef>
              <a:buSzTx/>
              <a:buNone/>
              <a:defRPr sz="2400">
                <a:latin typeface="Arial"/>
                <a:ea typeface="Arial"/>
                <a:cs typeface="Arial"/>
                <a:sym typeface="Arial"/>
              </a:defRPr>
            </a:pPr>
            <a:r>
              <a:t>	a. raporturile juridice patrimoniale</a:t>
            </a:r>
          </a:p>
          <a:p>
            <a:pPr algn="just">
              <a:spcBef>
                <a:spcPts val="500"/>
              </a:spcBef>
              <a:buSzTx/>
              <a:buNone/>
              <a:defRPr sz="2400">
                <a:latin typeface="Arial"/>
                <a:ea typeface="Arial"/>
                <a:cs typeface="Arial"/>
                <a:sym typeface="Arial"/>
              </a:defRPr>
            </a:pPr>
            <a:r>
              <a:t>	b. raporturile juridice personale nepatrimoniale</a:t>
            </a:r>
          </a:p>
        </p:txBody>
      </p:sp>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 name="Title 1"/>
          <p:cNvSpPr txBox="1">
            <a:spLocks noGrp="1"/>
          </p:cNvSpPr>
          <p:nvPr>
            <p:ph type="title"/>
          </p:nvPr>
        </p:nvSpPr>
        <p:spPr>
          <a:xfrm>
            <a:off x="457200" y="274638"/>
            <a:ext cx="8229600" cy="944563"/>
          </a:xfrm>
          <a:prstGeom prst="rect">
            <a:avLst/>
          </a:prstGeom>
        </p:spPr>
        <p:txBody>
          <a:bodyPr>
            <a:normAutofit fontScale="90000"/>
          </a:bodyPr>
          <a:lstStyle/>
          <a:p>
            <a:pPr defTabSz="859536">
              <a:defRPr sz="2914" b="1"/>
            </a:pPr>
            <a:r>
              <a:t>DREPTUL CIVIL</a:t>
            </a:r>
            <a:br/>
            <a:r>
              <a:t>Raportul juridic patrimonial</a:t>
            </a:r>
          </a:p>
        </p:txBody>
      </p:sp>
      <p:sp>
        <p:nvSpPr>
          <p:cNvPr id="122" name="Content Placeholder 2"/>
          <p:cNvSpPr txBox="1">
            <a:spLocks noGrp="1"/>
          </p:cNvSpPr>
          <p:nvPr>
            <p:ph type="body" idx="1"/>
          </p:nvPr>
        </p:nvSpPr>
        <p:spPr>
          <a:xfrm>
            <a:off x="457200" y="1600200"/>
            <a:ext cx="8229600" cy="4525963"/>
          </a:xfrm>
          <a:prstGeom prst="rect">
            <a:avLst/>
          </a:prstGeom>
        </p:spPr>
        <p:txBody>
          <a:bodyPr>
            <a:normAutofit lnSpcReduction="10000"/>
          </a:bodyPr>
          <a:lstStyle/>
          <a:p>
            <a:pPr marL="609600" indent="-609600" algn="just">
              <a:lnSpc>
                <a:spcPct val="90000"/>
              </a:lnSpc>
              <a:spcBef>
                <a:spcPts val="400"/>
              </a:spcBef>
              <a:defRPr sz="2500">
                <a:latin typeface="Arial"/>
                <a:ea typeface="Arial"/>
                <a:cs typeface="Arial"/>
                <a:sym typeface="Arial"/>
              </a:defRPr>
            </a:pPr>
            <a:endParaRPr/>
          </a:p>
          <a:p>
            <a:pPr marL="609600" indent="-609600" algn="just">
              <a:lnSpc>
                <a:spcPct val="90000"/>
              </a:lnSpc>
              <a:spcBef>
                <a:spcPts val="600"/>
              </a:spcBef>
              <a:defRPr sz="2500">
                <a:latin typeface="Arial"/>
                <a:ea typeface="Arial"/>
                <a:cs typeface="Arial"/>
                <a:sym typeface="Arial"/>
              </a:defRPr>
            </a:pPr>
            <a:r>
              <a:t>Raportul juridic </a:t>
            </a:r>
            <a:r>
              <a:rPr u="sng"/>
              <a:t>patrimonial</a:t>
            </a:r>
            <a:r>
              <a:t> este acel raport de drept civil care </a:t>
            </a:r>
            <a:r>
              <a:rPr u="sng"/>
              <a:t>are un conţinut economic</a:t>
            </a:r>
            <a:r>
              <a:t> şi drept urmare </a:t>
            </a:r>
            <a:r>
              <a:rPr u="sng"/>
              <a:t>poate fi exprimat în bani.</a:t>
            </a:r>
            <a:endParaRPr sz="1800"/>
          </a:p>
          <a:p>
            <a:pPr algn="just">
              <a:lnSpc>
                <a:spcPct val="90000"/>
              </a:lnSpc>
              <a:spcBef>
                <a:spcPts val="600"/>
              </a:spcBef>
              <a:buSzTx/>
              <a:buNone/>
              <a:defRPr sz="2500">
                <a:latin typeface="Arial"/>
                <a:ea typeface="Arial"/>
                <a:cs typeface="Arial"/>
                <a:sym typeface="Arial"/>
              </a:defRPr>
            </a:pPr>
            <a:r>
              <a:t>	</a:t>
            </a:r>
          </a:p>
          <a:p>
            <a:pPr algn="just">
              <a:lnSpc>
                <a:spcPct val="90000"/>
              </a:lnSpc>
              <a:spcBef>
                <a:spcPts val="600"/>
              </a:spcBef>
              <a:buSzTx/>
              <a:buNone/>
              <a:defRPr sz="2500">
                <a:latin typeface="Arial"/>
                <a:ea typeface="Arial"/>
                <a:cs typeface="Arial"/>
                <a:sym typeface="Arial"/>
              </a:defRPr>
            </a:pPr>
            <a:r>
              <a:t>	Exemple:</a:t>
            </a:r>
            <a:endParaRPr sz="1800"/>
          </a:p>
          <a:p>
            <a:pPr algn="just">
              <a:lnSpc>
                <a:spcPct val="90000"/>
              </a:lnSpc>
              <a:spcBef>
                <a:spcPts val="600"/>
              </a:spcBef>
              <a:buSzTx/>
              <a:buNone/>
              <a:defRPr sz="2500">
                <a:latin typeface="Arial"/>
                <a:ea typeface="Arial"/>
                <a:cs typeface="Arial"/>
                <a:sym typeface="Arial"/>
              </a:defRPr>
            </a:pPr>
            <a:r>
              <a:t>	- raporturi juridice reale întemeiate pe dreptul de proprietate (ex. raportul juridic de proprietate, raportul juridic de uzufruct);</a:t>
            </a:r>
            <a:endParaRPr sz="1800"/>
          </a:p>
          <a:p>
            <a:pPr algn="just">
              <a:lnSpc>
                <a:spcPct val="90000"/>
              </a:lnSpc>
              <a:spcBef>
                <a:spcPts val="600"/>
              </a:spcBef>
              <a:buSzTx/>
              <a:buNone/>
              <a:defRPr sz="2500">
                <a:latin typeface="Arial"/>
                <a:ea typeface="Arial"/>
                <a:cs typeface="Arial"/>
                <a:sym typeface="Arial"/>
              </a:defRPr>
            </a:pPr>
            <a:r>
              <a:t>	- raporturi juridice obligaţionale născute din relaţia creditor-debitor (ex. raportul juridic de vânzare-cumpărare).</a:t>
            </a:r>
          </a:p>
        </p:txBody>
      </p:sp>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 name="Title 1"/>
          <p:cNvSpPr txBox="1">
            <a:spLocks noGrp="1"/>
          </p:cNvSpPr>
          <p:nvPr>
            <p:ph type="title"/>
          </p:nvPr>
        </p:nvSpPr>
        <p:spPr>
          <a:prstGeom prst="rect">
            <a:avLst/>
          </a:prstGeom>
        </p:spPr>
        <p:txBody>
          <a:bodyPr>
            <a:normAutofit fontScale="90000"/>
          </a:bodyPr>
          <a:lstStyle/>
          <a:p>
            <a:pPr>
              <a:defRPr sz="3500" b="1"/>
            </a:pPr>
            <a:r>
              <a:t>DREPTUL CIVIL</a:t>
            </a:r>
            <a:br/>
            <a:r>
              <a:t>Raportul juridic NEpatrimonial</a:t>
            </a:r>
          </a:p>
        </p:txBody>
      </p:sp>
      <p:sp>
        <p:nvSpPr>
          <p:cNvPr id="125" name="Content Placeholder 2"/>
          <p:cNvSpPr txBox="1">
            <a:spLocks noGrp="1"/>
          </p:cNvSpPr>
          <p:nvPr>
            <p:ph type="body" idx="1"/>
          </p:nvPr>
        </p:nvSpPr>
        <p:spPr>
          <a:xfrm>
            <a:off x="457200" y="1600200"/>
            <a:ext cx="8229600" cy="4953000"/>
          </a:xfrm>
          <a:prstGeom prst="rect">
            <a:avLst/>
          </a:prstGeom>
        </p:spPr>
        <p:txBody>
          <a:bodyPr/>
          <a:lstStyle/>
          <a:p>
            <a:pPr marL="609600" indent="-609600" algn="just">
              <a:lnSpc>
                <a:spcPct val="90000"/>
              </a:lnSpc>
              <a:spcBef>
                <a:spcPts val="500"/>
              </a:spcBef>
              <a:defRPr sz="2400">
                <a:latin typeface="Arial"/>
                <a:ea typeface="Arial"/>
                <a:cs typeface="Arial"/>
                <a:sym typeface="Arial"/>
              </a:defRPr>
            </a:pPr>
            <a:r>
              <a:t>Raportul juridic personal </a:t>
            </a:r>
            <a:r>
              <a:rPr u="sng"/>
              <a:t>nepatrimonial</a:t>
            </a:r>
            <a:r>
              <a:t> este raportul de drept </a:t>
            </a:r>
            <a:r>
              <a:rPr u="sng"/>
              <a:t>lipsit de valoare economică</a:t>
            </a:r>
            <a:r>
              <a:t>, în care se manifestă individualitatea persoanei cu însuşirile ei caracteristice. </a:t>
            </a:r>
            <a:endParaRPr sz="1800"/>
          </a:p>
          <a:p>
            <a:pPr algn="just">
              <a:lnSpc>
                <a:spcPct val="90000"/>
              </a:lnSpc>
              <a:spcBef>
                <a:spcPts val="500"/>
              </a:spcBef>
              <a:buSzTx/>
              <a:buNone/>
              <a:defRPr sz="2400">
                <a:latin typeface="Arial"/>
                <a:ea typeface="Arial"/>
                <a:cs typeface="Arial"/>
                <a:sym typeface="Arial"/>
              </a:defRPr>
            </a:pPr>
            <a:r>
              <a:t>	Exemple:</a:t>
            </a:r>
            <a:endParaRPr sz="1800"/>
          </a:p>
          <a:p>
            <a:pPr algn="just">
              <a:lnSpc>
                <a:spcPct val="90000"/>
              </a:lnSpc>
              <a:spcBef>
                <a:spcPts val="500"/>
              </a:spcBef>
              <a:buSzTx/>
              <a:buNone/>
              <a:defRPr sz="2400">
                <a:latin typeface="Arial"/>
                <a:ea typeface="Arial"/>
                <a:cs typeface="Arial"/>
                <a:sym typeface="Arial"/>
              </a:defRPr>
            </a:pPr>
            <a:r>
              <a:t>	- raporturi juridice care privesc existenţa şi integritatea subiectelor de drept (ex. raporturi juridice privitoare la viaţă, sănătate, integritate fizică şi morală, etc. );</a:t>
            </a:r>
            <a:endParaRPr sz="1800"/>
          </a:p>
          <a:p>
            <a:pPr algn="just">
              <a:spcBef>
                <a:spcPts val="500"/>
              </a:spcBef>
              <a:buSzTx/>
              <a:buNone/>
              <a:defRPr sz="2400">
                <a:latin typeface="Arial"/>
                <a:ea typeface="Arial"/>
                <a:cs typeface="Arial"/>
                <a:sym typeface="Arial"/>
              </a:defRPr>
            </a:pPr>
            <a:r>
              <a:t>	- raporturi juridice de identificare a persoanelor (ex. raporturi juridice privitoare la nume, domiciliu, denumire, sediu, etc.);</a:t>
            </a:r>
            <a:endParaRPr sz="1800"/>
          </a:p>
          <a:p>
            <a:pPr algn="just">
              <a:spcBef>
                <a:spcPts val="500"/>
              </a:spcBef>
              <a:buSzTx/>
              <a:buNone/>
              <a:defRPr sz="2400">
                <a:latin typeface="Arial"/>
                <a:ea typeface="Arial"/>
                <a:cs typeface="Arial"/>
                <a:sym typeface="Arial"/>
              </a:defRPr>
            </a:pPr>
            <a:r>
              <a:t>	- raporturi juridice derivând din creaţia intelectuală (ex. raporturi juridice privind dreptul de autor, inventator, inovator).</a:t>
            </a:r>
          </a:p>
        </p:txBody>
      </p:sp>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7" name="Title 1"/>
          <p:cNvSpPr txBox="1">
            <a:spLocks noGrp="1"/>
          </p:cNvSpPr>
          <p:nvPr>
            <p:ph type="title"/>
          </p:nvPr>
        </p:nvSpPr>
        <p:spPr>
          <a:prstGeom prst="rect">
            <a:avLst/>
          </a:prstGeom>
        </p:spPr>
        <p:txBody>
          <a:bodyPr>
            <a:normAutofit fontScale="90000"/>
          </a:bodyPr>
          <a:lstStyle/>
          <a:p>
            <a:pPr defTabSz="832104">
              <a:defRPr sz="3549" b="1"/>
            </a:pPr>
            <a:r>
              <a:t>DREPTUL CIVIL</a:t>
            </a:r>
            <a:br/>
            <a:r>
              <a:t>Principiile dreptului civil</a:t>
            </a:r>
          </a:p>
        </p:txBody>
      </p:sp>
      <p:sp>
        <p:nvSpPr>
          <p:cNvPr id="128" name="Content Placeholder 2"/>
          <p:cNvSpPr txBox="1">
            <a:spLocks noGrp="1"/>
          </p:cNvSpPr>
          <p:nvPr>
            <p:ph type="body" idx="1"/>
          </p:nvPr>
        </p:nvSpPr>
        <p:spPr>
          <a:xfrm>
            <a:off x="457200" y="1600200"/>
            <a:ext cx="8229600" cy="4876800"/>
          </a:xfrm>
          <a:prstGeom prst="rect">
            <a:avLst/>
          </a:prstGeom>
        </p:spPr>
        <p:txBody>
          <a:bodyPr/>
          <a:lstStyle/>
          <a:p>
            <a:pPr algn="just">
              <a:lnSpc>
                <a:spcPct val="90000"/>
              </a:lnSpc>
              <a:spcBef>
                <a:spcPts val="0"/>
              </a:spcBef>
              <a:buSzTx/>
              <a:buNone/>
              <a:defRPr sz="2300"/>
            </a:pPr>
            <a:endParaRPr/>
          </a:p>
          <a:p>
            <a:pPr algn="just">
              <a:lnSpc>
                <a:spcPct val="90000"/>
              </a:lnSpc>
              <a:spcBef>
                <a:spcPts val="0"/>
              </a:spcBef>
              <a:buFontTx/>
              <a:buChar char="➢"/>
              <a:defRPr sz="2300"/>
            </a:pPr>
            <a:r>
              <a:t>principiul forţei juridice obligatorii a contractelor (pacta sunt servanda); </a:t>
            </a:r>
          </a:p>
          <a:p>
            <a:pPr algn="just">
              <a:lnSpc>
                <a:spcPct val="90000"/>
              </a:lnSpc>
              <a:spcBef>
                <a:spcPts val="0"/>
              </a:spcBef>
              <a:buFontTx/>
              <a:buChar char="➢"/>
              <a:defRPr sz="2300"/>
            </a:pPr>
            <a:endParaRPr/>
          </a:p>
          <a:p>
            <a:pPr algn="just">
              <a:lnSpc>
                <a:spcPct val="90000"/>
              </a:lnSpc>
              <a:spcBef>
                <a:spcPts val="0"/>
              </a:spcBef>
              <a:buFontTx/>
              <a:buChar char="➢"/>
              <a:defRPr sz="2300"/>
            </a:pPr>
            <a:r>
              <a:t>principiul consensualismului, privind forma actului juridic civil;</a:t>
            </a:r>
            <a:endParaRPr sz="1800"/>
          </a:p>
          <a:p>
            <a:pPr algn="just">
              <a:lnSpc>
                <a:spcPct val="90000"/>
              </a:lnSpc>
              <a:spcBef>
                <a:spcPts val="0"/>
              </a:spcBef>
              <a:buFontTx/>
              <a:buChar char="➢"/>
              <a:defRPr sz="2300"/>
            </a:pPr>
            <a:endParaRPr sz="1800"/>
          </a:p>
          <a:p>
            <a:pPr algn="just">
              <a:lnSpc>
                <a:spcPct val="90000"/>
              </a:lnSpc>
              <a:spcBef>
                <a:spcPts val="0"/>
              </a:spcBef>
              <a:buFontTx/>
              <a:buChar char="➢"/>
              <a:defRPr sz="2300"/>
            </a:pPr>
            <a:r>
              <a:t>principiul irevocabilităţii şi principiul relativităţii efectelor actului juridic civil, în materia contractelor;</a:t>
            </a:r>
            <a:endParaRPr sz="1800"/>
          </a:p>
          <a:p>
            <a:pPr algn="just">
              <a:lnSpc>
                <a:spcPct val="90000"/>
              </a:lnSpc>
              <a:spcBef>
                <a:spcPts val="0"/>
              </a:spcBef>
              <a:buFontTx/>
              <a:buChar char="➢"/>
              <a:defRPr sz="2300"/>
            </a:pPr>
            <a:endParaRPr sz="1800"/>
          </a:p>
          <a:p>
            <a:pPr algn="just">
              <a:lnSpc>
                <a:spcPct val="90000"/>
              </a:lnSpc>
              <a:spcBef>
                <a:spcPts val="0"/>
              </a:spcBef>
              <a:buFontTx/>
              <a:buChar char="➢"/>
              <a:defRPr sz="2300"/>
            </a:pPr>
            <a:r>
              <a:t>principiul ocrotirii bunei credinţe, în materia dreptului de proprietate şi a altor drepturi reale;</a:t>
            </a:r>
            <a:endParaRPr sz="1800"/>
          </a:p>
          <a:p>
            <a:pPr algn="just">
              <a:lnSpc>
                <a:spcPct val="90000"/>
              </a:lnSpc>
              <a:spcBef>
                <a:spcPts val="0"/>
              </a:spcBef>
              <a:buFontTx/>
              <a:buChar char="➢"/>
              <a:defRPr sz="2300"/>
            </a:pPr>
            <a:endParaRPr sz="1800"/>
          </a:p>
          <a:p>
            <a:pPr algn="just">
              <a:spcBef>
                <a:spcPts val="0"/>
              </a:spcBef>
              <a:buFontTx/>
              <a:buChar char="➢"/>
              <a:defRPr sz="2300"/>
            </a:pPr>
            <a:r>
              <a:t>principiul răspunderii civile (contractuală şi delictuală), în materia actelor sau faptelor juridice.</a:t>
            </a:r>
          </a:p>
        </p:txBody>
      </p:sp>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 name="Title 1"/>
          <p:cNvSpPr txBox="1">
            <a:spLocks noGrp="1"/>
          </p:cNvSpPr>
          <p:nvPr>
            <p:ph type="title"/>
          </p:nvPr>
        </p:nvSpPr>
        <p:spPr>
          <a:xfrm>
            <a:off x="457200" y="228600"/>
            <a:ext cx="8229600" cy="609600"/>
          </a:xfrm>
          <a:prstGeom prst="rect">
            <a:avLst/>
          </a:prstGeom>
        </p:spPr>
        <p:txBody>
          <a:bodyPr/>
          <a:lstStyle>
            <a:lvl1pPr>
              <a:defRPr sz="3000" b="1"/>
            </a:lvl1pPr>
          </a:lstStyle>
          <a:p>
            <a:r>
              <a:t>NORMA JURIDICĂ</a:t>
            </a:r>
          </a:p>
        </p:txBody>
      </p:sp>
      <p:sp>
        <p:nvSpPr>
          <p:cNvPr id="131" name="Content Placeholder 2"/>
          <p:cNvSpPr txBox="1">
            <a:spLocks noGrp="1"/>
          </p:cNvSpPr>
          <p:nvPr>
            <p:ph type="body" idx="1"/>
          </p:nvPr>
        </p:nvSpPr>
        <p:spPr>
          <a:xfrm>
            <a:off x="457200" y="990600"/>
            <a:ext cx="8229600" cy="5334000"/>
          </a:xfrm>
          <a:prstGeom prst="rect">
            <a:avLst/>
          </a:prstGeom>
        </p:spPr>
        <p:txBody>
          <a:bodyPr/>
          <a:lstStyle/>
          <a:p>
            <a:pPr marL="597408" indent="-597408" algn="just" defTabSz="896111">
              <a:lnSpc>
                <a:spcPts val="2100"/>
              </a:lnSpc>
              <a:spcBef>
                <a:spcPts val="0"/>
              </a:spcBef>
              <a:defRPr sz="1960" b="1" u="sng"/>
            </a:pPr>
            <a:r>
              <a:t>Noţiunea normei juridice.</a:t>
            </a:r>
            <a:endParaRPr sz="1764"/>
          </a:p>
          <a:p>
            <a:pPr marL="336042" indent="-336042" algn="just" defTabSz="896111">
              <a:lnSpc>
                <a:spcPts val="2100"/>
              </a:lnSpc>
              <a:spcBef>
                <a:spcPts val="0"/>
              </a:spcBef>
              <a:buSzTx/>
              <a:buNone/>
              <a:defRPr sz="1960" b="1" i="1"/>
            </a:pPr>
            <a:r>
              <a:t>	</a:t>
            </a:r>
            <a:r>
              <a:rPr b="0" i="0"/>
              <a:t>Norma  juridică este o regulă de conduită generală şi impersonală, expresie a voinţei de stat, a cărei aplicare obligatorie este asigurată la nevoie prin forţa coercitivă a statului.</a:t>
            </a:r>
            <a:endParaRPr sz="1764"/>
          </a:p>
          <a:p>
            <a:pPr marL="336042" indent="-336042" algn="just" defTabSz="896111">
              <a:lnSpc>
                <a:spcPts val="2100"/>
              </a:lnSpc>
              <a:spcBef>
                <a:spcPts val="0"/>
              </a:spcBef>
              <a:buSzTx/>
              <a:buNone/>
              <a:defRPr sz="1960"/>
            </a:pPr>
            <a:endParaRPr sz="1764"/>
          </a:p>
          <a:p>
            <a:pPr marL="597408" indent="-597408" algn="just" defTabSz="896111">
              <a:lnSpc>
                <a:spcPts val="2100"/>
              </a:lnSpc>
              <a:spcBef>
                <a:spcPts val="0"/>
              </a:spcBef>
              <a:defRPr sz="1960"/>
            </a:pPr>
            <a:r>
              <a:t>Trăsăturile caracteristice ale normei juridice:</a:t>
            </a:r>
            <a:endParaRPr sz="1764"/>
          </a:p>
          <a:p>
            <a:pPr marL="336042" indent="-336042" algn="just" defTabSz="896111">
              <a:lnSpc>
                <a:spcPts val="2100"/>
              </a:lnSpc>
              <a:spcBef>
                <a:spcPts val="0"/>
              </a:spcBef>
              <a:buSzTx/>
              <a:buNone/>
              <a:defRPr sz="1960"/>
            </a:pPr>
            <a:r>
              <a:t>	1) </a:t>
            </a:r>
            <a:r>
              <a:rPr b="1" u="sng"/>
              <a:t>Caracterul general</a:t>
            </a:r>
            <a:r>
              <a:t> al normei juridice: regula de conduită pe care norma juridica o prescrie este tipică, stabilind drepturi şi obligaţii într-un raport social, în mod general, nereferindu-se la situaţii concrete. </a:t>
            </a:r>
          </a:p>
          <a:p>
            <a:pPr marL="336042" indent="-336042" algn="just" defTabSz="896111">
              <a:lnSpc>
                <a:spcPts val="2100"/>
              </a:lnSpc>
              <a:spcBef>
                <a:spcPts val="0"/>
              </a:spcBef>
              <a:buSzTx/>
              <a:buNone/>
              <a:defRPr sz="1960"/>
            </a:pPr>
            <a:r>
              <a:t>	2) </a:t>
            </a:r>
            <a:r>
              <a:rPr b="1" u="sng"/>
              <a:t>Caracterul impersonal</a:t>
            </a:r>
            <a:r>
              <a:t> al normei juridice se evidenţiază în faptul că norma juridică nu se adresează unor persoane individualizate (concrete), ci unui cerc nedeterminat de persoane.</a:t>
            </a:r>
            <a:endParaRPr sz="1764"/>
          </a:p>
          <a:p>
            <a:pPr marL="336042" indent="-336042" algn="just" defTabSz="896111">
              <a:lnSpc>
                <a:spcPts val="2100"/>
              </a:lnSpc>
              <a:spcBef>
                <a:spcPts val="0"/>
              </a:spcBef>
              <a:buSzTx/>
              <a:buNone/>
              <a:defRPr sz="1960"/>
            </a:pPr>
            <a:r>
              <a:t>	3) </a:t>
            </a:r>
            <a:r>
              <a:rPr b="1" u="sng"/>
              <a:t>Caracterul obligatoriu</a:t>
            </a:r>
            <a:r>
              <a:t> al normei juridice. Prin normele juridice se îndrumă conduita oamenilor în societate, în sensul determinat de  voinţa de stat, respectarea ei fiind asigurată la nevoie prin forţa de constrângere a statului (ex. instanţele judecătoreşti). Prin caracterul obligatoriu al normei juridice  se asigură ordinea de drept în societate.</a:t>
            </a:r>
          </a:p>
        </p:txBody>
      </p:sp>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 name="Title 1"/>
          <p:cNvSpPr txBox="1">
            <a:spLocks noGrp="1"/>
          </p:cNvSpPr>
          <p:nvPr>
            <p:ph type="title"/>
          </p:nvPr>
        </p:nvSpPr>
        <p:spPr>
          <a:xfrm>
            <a:off x="457200" y="274638"/>
            <a:ext cx="8229600" cy="487363"/>
          </a:xfrm>
          <a:prstGeom prst="rect">
            <a:avLst/>
          </a:prstGeom>
        </p:spPr>
        <p:txBody>
          <a:bodyPr/>
          <a:lstStyle>
            <a:lvl1pPr>
              <a:defRPr sz="2500" b="1"/>
            </a:lvl1pPr>
          </a:lstStyle>
          <a:p>
            <a:r>
              <a:t>NORMA JURIDICĂ</a:t>
            </a:r>
          </a:p>
        </p:txBody>
      </p:sp>
      <p:sp>
        <p:nvSpPr>
          <p:cNvPr id="134" name="Content Placeholder 2"/>
          <p:cNvSpPr txBox="1">
            <a:spLocks noGrp="1"/>
          </p:cNvSpPr>
          <p:nvPr>
            <p:ph type="body" idx="1"/>
          </p:nvPr>
        </p:nvSpPr>
        <p:spPr>
          <a:xfrm>
            <a:off x="457200" y="1066800"/>
            <a:ext cx="8229600" cy="5334000"/>
          </a:xfrm>
          <a:prstGeom prst="rect">
            <a:avLst/>
          </a:prstGeom>
        </p:spPr>
        <p:txBody>
          <a:bodyPr/>
          <a:lstStyle/>
          <a:p>
            <a:pPr marL="609600" indent="-609600" algn="just">
              <a:spcBef>
                <a:spcPts val="500"/>
              </a:spcBef>
              <a:defRPr sz="2200"/>
            </a:pPr>
            <a:r>
              <a:t>Conţinutul normei juridice (elemente):</a:t>
            </a:r>
            <a:endParaRPr sz="1800"/>
          </a:p>
          <a:p>
            <a:pPr marL="609600" indent="-609600" algn="just">
              <a:spcBef>
                <a:spcPts val="400"/>
              </a:spcBef>
              <a:defRPr sz="2200"/>
            </a:pPr>
            <a:endParaRPr sz="1800"/>
          </a:p>
          <a:p>
            <a:pPr algn="just">
              <a:spcBef>
                <a:spcPts val="500"/>
              </a:spcBef>
              <a:buSzTx/>
              <a:buNone/>
              <a:defRPr sz="2200"/>
            </a:pPr>
            <a:r>
              <a:t>	a. ipoteza</a:t>
            </a:r>
          </a:p>
          <a:p>
            <a:pPr algn="just">
              <a:spcBef>
                <a:spcPts val="500"/>
              </a:spcBef>
              <a:buSzTx/>
              <a:buNone/>
              <a:defRPr sz="2200"/>
            </a:pPr>
            <a:r>
              <a:t>	b. dispoziţia</a:t>
            </a:r>
          </a:p>
          <a:p>
            <a:pPr algn="just">
              <a:spcBef>
                <a:spcPts val="500"/>
              </a:spcBef>
              <a:buSzTx/>
              <a:buNone/>
              <a:defRPr sz="2200"/>
            </a:pPr>
            <a:r>
              <a:t>	c. sancţiunea</a:t>
            </a:r>
          </a:p>
          <a:p>
            <a:pPr algn="just">
              <a:spcBef>
                <a:spcPts val="400"/>
              </a:spcBef>
              <a:buSzTx/>
              <a:buNone/>
              <a:defRPr sz="2200"/>
            </a:pPr>
            <a:endParaRPr/>
          </a:p>
          <a:p>
            <a:pPr algn="just">
              <a:spcBef>
                <a:spcPts val="500"/>
              </a:spcBef>
              <a:buSzTx/>
              <a:buNone/>
              <a:defRPr sz="2200"/>
            </a:pPr>
            <a:r>
              <a:t>	a. Ipoteza  normei juridice indică domeniul situaţiilor, al împrejurărilor în care se aplică norma juridică.</a:t>
            </a:r>
            <a:endParaRPr sz="1800"/>
          </a:p>
          <a:p>
            <a:pPr algn="just">
              <a:spcBef>
                <a:spcPts val="800"/>
              </a:spcBef>
              <a:buSzTx/>
              <a:buNone/>
              <a:defRPr sz="2200"/>
            </a:pPr>
            <a:r>
              <a:t>	b. dispoziţia defineşte conduita oamenilor stabilind acţiunile care sunt impuse, interzise sau permise în cadrul condiţiilor prevăzute  de ipoteză, determinându-le calificarea juridică.</a:t>
            </a:r>
            <a:endParaRPr sz="1800"/>
          </a:p>
          <a:p>
            <a:pPr algn="just">
              <a:spcBef>
                <a:spcPts val="500"/>
              </a:spcBef>
              <a:buSzTx/>
              <a:buNone/>
              <a:defRPr sz="2200"/>
            </a:pPr>
            <a:r>
              <a:t>	c. sancţiunea normei juridice constă în măsura represivă care va opera în cazul în care prevederile dispoziţiei au fost desconsiderate.</a:t>
            </a:r>
          </a:p>
        </p:txBody>
      </p:sp>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 name="Title 1"/>
          <p:cNvSpPr txBox="1">
            <a:spLocks noGrp="1"/>
          </p:cNvSpPr>
          <p:nvPr>
            <p:ph type="title"/>
          </p:nvPr>
        </p:nvSpPr>
        <p:spPr>
          <a:xfrm>
            <a:off x="457200" y="274639"/>
            <a:ext cx="8229600" cy="528926"/>
          </a:xfrm>
          <a:prstGeom prst="rect">
            <a:avLst/>
          </a:prstGeom>
        </p:spPr>
        <p:txBody>
          <a:bodyPr>
            <a:normAutofit/>
          </a:bodyPr>
          <a:lstStyle/>
          <a:p>
            <a:pPr defTabSz="859536">
              <a:defRPr sz="2068" b="1"/>
            </a:pPr>
            <a:r>
              <a:rPr dirty="0"/>
              <a:t>NORMA </a:t>
            </a:r>
            <a:r>
              <a:rPr dirty="0" smtClean="0"/>
              <a:t>JURIDICĂ</a:t>
            </a:r>
            <a:r>
              <a:rPr lang="ro-RO" dirty="0" smtClean="0"/>
              <a:t>. </a:t>
            </a:r>
            <a:r>
              <a:rPr dirty="0" err="1" smtClean="0"/>
              <a:t>Clasificarea</a:t>
            </a:r>
            <a:r>
              <a:rPr dirty="0" smtClean="0"/>
              <a:t> </a:t>
            </a:r>
            <a:r>
              <a:rPr dirty="0" err="1"/>
              <a:t>normelor</a:t>
            </a:r>
            <a:r>
              <a:rPr dirty="0"/>
              <a:t> </a:t>
            </a:r>
            <a:r>
              <a:rPr dirty="0" err="1"/>
              <a:t>juridice</a:t>
            </a:r>
            <a:endParaRPr dirty="0"/>
          </a:p>
        </p:txBody>
      </p:sp>
      <p:sp>
        <p:nvSpPr>
          <p:cNvPr id="137" name="Content Placeholder 2"/>
          <p:cNvSpPr txBox="1">
            <a:spLocks noGrp="1"/>
          </p:cNvSpPr>
          <p:nvPr>
            <p:ph type="body" idx="1"/>
          </p:nvPr>
        </p:nvSpPr>
        <p:spPr>
          <a:xfrm>
            <a:off x="457200" y="928255"/>
            <a:ext cx="8492836" cy="5548745"/>
          </a:xfrm>
          <a:prstGeom prst="rect">
            <a:avLst/>
          </a:prstGeom>
        </p:spPr>
        <p:txBody>
          <a:bodyPr>
            <a:noAutofit/>
          </a:bodyPr>
          <a:lstStyle/>
          <a:p>
            <a:pPr marL="0" indent="0" algn="just" defTabSz="896111">
              <a:lnSpc>
                <a:spcPts val="2200"/>
              </a:lnSpc>
              <a:spcBef>
                <a:spcPts val="0"/>
              </a:spcBef>
              <a:buSzTx/>
              <a:buNone/>
              <a:defRPr sz="2548"/>
            </a:pPr>
            <a:r>
              <a:rPr sz="2000" dirty="0" smtClean="0"/>
              <a:t>a</a:t>
            </a:r>
            <a:r>
              <a:rPr sz="2000" dirty="0"/>
              <a:t>) In </a:t>
            </a:r>
            <a:r>
              <a:rPr sz="2000" dirty="0" err="1"/>
              <a:t>funcţie</a:t>
            </a:r>
            <a:r>
              <a:rPr sz="2000" dirty="0"/>
              <a:t> de </a:t>
            </a:r>
            <a:r>
              <a:rPr sz="2000" dirty="0" err="1"/>
              <a:t>criteriul</a:t>
            </a:r>
            <a:r>
              <a:rPr sz="2000" dirty="0"/>
              <a:t> </a:t>
            </a:r>
            <a:r>
              <a:rPr sz="2000" dirty="0" err="1"/>
              <a:t>obiectului</a:t>
            </a:r>
            <a:r>
              <a:rPr sz="2000" dirty="0"/>
              <a:t> </a:t>
            </a:r>
            <a:r>
              <a:rPr sz="2000" dirty="0" err="1"/>
              <a:t>reglementării</a:t>
            </a:r>
            <a:r>
              <a:rPr sz="2000" dirty="0"/>
              <a:t>, </a:t>
            </a:r>
            <a:r>
              <a:rPr sz="2000" dirty="0" err="1"/>
              <a:t>normele</a:t>
            </a:r>
            <a:r>
              <a:rPr sz="2000" dirty="0"/>
              <a:t> </a:t>
            </a:r>
            <a:r>
              <a:rPr sz="2000" dirty="0" err="1"/>
              <a:t>juridice</a:t>
            </a:r>
            <a:r>
              <a:rPr sz="2000" dirty="0"/>
              <a:t> se </a:t>
            </a:r>
            <a:r>
              <a:rPr sz="2000" dirty="0" err="1"/>
              <a:t>grupează</a:t>
            </a:r>
            <a:r>
              <a:rPr sz="2000" dirty="0"/>
              <a:t> </a:t>
            </a:r>
            <a:r>
              <a:rPr sz="2000" dirty="0" err="1"/>
              <a:t>în</a:t>
            </a:r>
            <a:r>
              <a:rPr sz="2000" dirty="0"/>
              <a:t>:</a:t>
            </a:r>
          </a:p>
          <a:p>
            <a:pPr marL="0" indent="0" algn="just" defTabSz="896111">
              <a:lnSpc>
                <a:spcPts val="2200"/>
              </a:lnSpc>
              <a:spcBef>
                <a:spcPts val="0"/>
              </a:spcBef>
              <a:buSzTx/>
              <a:buNone/>
              <a:defRPr sz="2548"/>
            </a:pPr>
            <a:r>
              <a:rPr sz="2000" dirty="0" smtClean="0"/>
              <a:t>- </a:t>
            </a:r>
            <a:r>
              <a:rPr sz="2000" dirty="0" err="1"/>
              <a:t>instituţii</a:t>
            </a:r>
            <a:r>
              <a:rPr sz="2000" dirty="0"/>
              <a:t> ale </a:t>
            </a:r>
            <a:r>
              <a:rPr sz="2000" dirty="0" err="1"/>
              <a:t>dreptului</a:t>
            </a:r>
            <a:r>
              <a:rPr sz="2000" dirty="0"/>
              <a:t>,</a:t>
            </a:r>
          </a:p>
          <a:p>
            <a:pPr marL="0" indent="0" algn="just" defTabSz="896111">
              <a:lnSpc>
                <a:spcPts val="2200"/>
              </a:lnSpc>
              <a:spcBef>
                <a:spcPts val="0"/>
              </a:spcBef>
              <a:buSzTx/>
              <a:buNone/>
              <a:defRPr sz="2548"/>
            </a:pPr>
            <a:r>
              <a:rPr sz="2000" dirty="0" smtClean="0"/>
              <a:t>- </a:t>
            </a:r>
            <a:r>
              <a:rPr sz="2000" dirty="0" err="1"/>
              <a:t>ramuri</a:t>
            </a:r>
            <a:r>
              <a:rPr sz="2000" dirty="0"/>
              <a:t> ale </a:t>
            </a:r>
            <a:r>
              <a:rPr sz="2000" dirty="0" err="1"/>
              <a:t>dreptului</a:t>
            </a:r>
            <a:r>
              <a:rPr sz="2000" dirty="0"/>
              <a:t>, </a:t>
            </a:r>
            <a:r>
              <a:rPr sz="2000" dirty="0" err="1"/>
              <a:t>prezentându</a:t>
            </a:r>
            <a:r>
              <a:rPr sz="2000" dirty="0"/>
              <a:t>-se ca </a:t>
            </a:r>
            <a:r>
              <a:rPr sz="2000" dirty="0" err="1"/>
              <a:t>norme</a:t>
            </a:r>
            <a:r>
              <a:rPr sz="2000" dirty="0"/>
              <a:t> de </a:t>
            </a:r>
            <a:r>
              <a:rPr sz="2000" dirty="0" err="1"/>
              <a:t>drept</a:t>
            </a:r>
            <a:r>
              <a:rPr sz="2000" dirty="0"/>
              <a:t> </a:t>
            </a:r>
            <a:r>
              <a:rPr sz="2000" dirty="0" err="1"/>
              <a:t>constituţional</a:t>
            </a:r>
            <a:r>
              <a:rPr sz="2000" dirty="0"/>
              <a:t>, civil, </a:t>
            </a:r>
            <a:r>
              <a:rPr sz="2000" dirty="0" err="1"/>
              <a:t>administrativ</a:t>
            </a:r>
            <a:r>
              <a:rPr sz="2000" dirty="0"/>
              <a:t>, penal, </a:t>
            </a:r>
            <a:r>
              <a:rPr sz="2000" dirty="0" err="1"/>
              <a:t>procesual</a:t>
            </a:r>
            <a:r>
              <a:rPr sz="2000" dirty="0"/>
              <a:t>, </a:t>
            </a:r>
            <a:r>
              <a:rPr sz="2000" dirty="0" err="1"/>
              <a:t>financiar</a:t>
            </a:r>
            <a:r>
              <a:rPr sz="2000" dirty="0"/>
              <a:t> fiscal, </a:t>
            </a:r>
            <a:r>
              <a:rPr sz="2000" dirty="0" err="1"/>
              <a:t>internaţional</a:t>
            </a:r>
            <a:r>
              <a:rPr sz="2000" dirty="0"/>
              <a:t>, etc.</a:t>
            </a:r>
          </a:p>
          <a:p>
            <a:pPr marL="0" indent="0" algn="just" defTabSz="896111">
              <a:lnSpc>
                <a:spcPts val="2200"/>
              </a:lnSpc>
              <a:spcBef>
                <a:spcPts val="0"/>
              </a:spcBef>
              <a:buSzTx/>
              <a:buNone/>
              <a:defRPr sz="2548"/>
            </a:pPr>
            <a:endParaRPr sz="2000" dirty="0"/>
          </a:p>
          <a:p>
            <a:pPr marL="336042" indent="-672084" algn="just" defTabSz="896111">
              <a:lnSpc>
                <a:spcPts val="2200"/>
              </a:lnSpc>
              <a:spcBef>
                <a:spcPts val="0"/>
              </a:spcBef>
              <a:buSzTx/>
              <a:buNone/>
              <a:defRPr sz="2548"/>
            </a:pPr>
            <a:r>
              <a:rPr sz="2000" dirty="0" smtClean="0"/>
              <a:t>b</a:t>
            </a:r>
            <a:r>
              <a:rPr sz="2000" dirty="0"/>
              <a:t>) In </a:t>
            </a:r>
            <a:r>
              <a:rPr sz="2000" dirty="0" err="1"/>
              <a:t>funcţie</a:t>
            </a:r>
            <a:r>
              <a:rPr sz="2000" dirty="0"/>
              <a:t> de </a:t>
            </a:r>
            <a:r>
              <a:rPr sz="2000" dirty="0" err="1"/>
              <a:t>criteriul</a:t>
            </a:r>
            <a:r>
              <a:rPr sz="2000" dirty="0"/>
              <a:t> </a:t>
            </a:r>
            <a:r>
              <a:rPr sz="2000" dirty="0" err="1"/>
              <a:t>conduitei</a:t>
            </a:r>
            <a:r>
              <a:rPr sz="2000" dirty="0"/>
              <a:t> </a:t>
            </a:r>
            <a:r>
              <a:rPr sz="2000" dirty="0" err="1"/>
              <a:t>pe</a:t>
            </a:r>
            <a:r>
              <a:rPr sz="2000" dirty="0"/>
              <a:t> care o </a:t>
            </a:r>
            <a:r>
              <a:rPr sz="2000" dirty="0" err="1"/>
              <a:t>prescriu</a:t>
            </a:r>
            <a:r>
              <a:rPr sz="2000" dirty="0"/>
              <a:t>, </a:t>
            </a:r>
            <a:r>
              <a:rPr sz="2000" dirty="0" err="1"/>
              <a:t>normele</a:t>
            </a:r>
            <a:r>
              <a:rPr sz="2000" dirty="0"/>
              <a:t> </a:t>
            </a:r>
            <a:r>
              <a:rPr sz="2000" dirty="0" err="1"/>
              <a:t>juridice</a:t>
            </a:r>
            <a:r>
              <a:rPr sz="2000" dirty="0"/>
              <a:t> se </a:t>
            </a:r>
            <a:r>
              <a:rPr sz="2000" dirty="0" err="1"/>
              <a:t>clasifica</a:t>
            </a:r>
            <a:r>
              <a:rPr sz="2000" dirty="0"/>
              <a:t> </a:t>
            </a:r>
            <a:r>
              <a:rPr sz="2000" dirty="0" err="1" smtClean="0"/>
              <a:t>în</a:t>
            </a:r>
            <a:endParaRPr sz="2000" dirty="0"/>
          </a:p>
          <a:p>
            <a:pPr marL="336042" indent="-672084" algn="just" defTabSz="896111">
              <a:lnSpc>
                <a:spcPts val="2200"/>
              </a:lnSpc>
              <a:spcBef>
                <a:spcPts val="0"/>
              </a:spcBef>
              <a:buSzTx/>
              <a:buNone/>
              <a:defRPr sz="2548"/>
            </a:pPr>
            <a:r>
              <a:rPr sz="2000" dirty="0" smtClean="0"/>
              <a:t>- </a:t>
            </a:r>
            <a:r>
              <a:rPr sz="2000" dirty="0" err="1" smtClean="0"/>
              <a:t>onerative</a:t>
            </a:r>
            <a:r>
              <a:rPr lang="ro-RO" sz="2000" dirty="0" smtClean="0"/>
              <a:t>:</a:t>
            </a:r>
            <a:r>
              <a:rPr sz="2000" dirty="0" smtClean="0"/>
              <a:t> </a:t>
            </a:r>
            <a:r>
              <a:rPr lang="ro-RO" sz="2000" b="1" u="sng" dirty="0" smtClean="0"/>
              <a:t>p</a:t>
            </a:r>
            <a:r>
              <a:rPr sz="2000" b="1" u="sng" dirty="0" err="1" smtClean="0"/>
              <a:t>revăd</a:t>
            </a:r>
            <a:r>
              <a:rPr sz="2000" b="1" u="sng" dirty="0" smtClean="0"/>
              <a:t> </a:t>
            </a:r>
            <a:r>
              <a:rPr sz="2000" b="1" u="sng" dirty="0" err="1"/>
              <a:t>expres</a:t>
            </a:r>
            <a:r>
              <a:rPr sz="2000" b="1" u="sng" dirty="0"/>
              <a:t> </a:t>
            </a:r>
            <a:r>
              <a:rPr sz="2000" b="1" u="sng" dirty="0" err="1"/>
              <a:t>obligaţia</a:t>
            </a:r>
            <a:r>
              <a:rPr sz="2000" b="1" u="sng" dirty="0"/>
              <a:t> </a:t>
            </a:r>
            <a:r>
              <a:rPr sz="2000" b="1" u="sng" dirty="0" err="1"/>
              <a:t>pentru</a:t>
            </a:r>
            <a:r>
              <a:rPr sz="2000" b="1" u="sng" dirty="0"/>
              <a:t> </a:t>
            </a:r>
            <a:r>
              <a:rPr sz="2000" b="1" u="sng" dirty="0" err="1"/>
              <a:t>părţi</a:t>
            </a:r>
            <a:r>
              <a:rPr sz="2000" b="1" u="sng" dirty="0"/>
              <a:t> de a </a:t>
            </a:r>
            <a:r>
              <a:rPr sz="2000" b="1" u="sng" dirty="0" err="1"/>
              <a:t>avea</a:t>
            </a:r>
            <a:r>
              <a:rPr sz="2000" b="1" u="sng" dirty="0"/>
              <a:t> o </a:t>
            </a:r>
            <a:r>
              <a:rPr sz="2000" b="1" u="sng" dirty="0" err="1"/>
              <a:t>anumită</a:t>
            </a:r>
            <a:r>
              <a:rPr sz="2000" b="1" u="sng" dirty="0"/>
              <a:t> </a:t>
            </a:r>
            <a:r>
              <a:rPr sz="2000" b="1" u="sng" dirty="0" err="1" smtClean="0"/>
              <a:t>conduită</a:t>
            </a:r>
            <a:r>
              <a:rPr lang="ro-RO" sz="2000" dirty="0" smtClean="0"/>
              <a:t>. Exemplu:</a:t>
            </a:r>
            <a:r>
              <a:rPr sz="2000" dirty="0" smtClean="0"/>
              <a:t> </a:t>
            </a:r>
            <a:r>
              <a:rPr sz="2000" dirty="0"/>
              <a:t>art. 1011 </a:t>
            </a:r>
            <a:r>
              <a:rPr sz="2000" dirty="0" err="1"/>
              <a:t>alin</a:t>
            </a:r>
            <a:r>
              <a:rPr sz="2000" dirty="0"/>
              <a:t>. (1) </a:t>
            </a:r>
            <a:r>
              <a:rPr sz="2000" dirty="0" err="1"/>
              <a:t>C.civ</a:t>
            </a:r>
            <a:r>
              <a:rPr sz="2000" dirty="0"/>
              <a:t>. care </a:t>
            </a:r>
            <a:r>
              <a:rPr sz="2000" dirty="0" err="1"/>
              <a:t>stabileşte</a:t>
            </a:r>
            <a:r>
              <a:rPr sz="2000" dirty="0"/>
              <a:t> </a:t>
            </a:r>
            <a:r>
              <a:rPr sz="2000" dirty="0" err="1"/>
              <a:t>că</a:t>
            </a:r>
            <a:r>
              <a:rPr sz="2000" dirty="0"/>
              <a:t> „</a:t>
            </a:r>
            <a:r>
              <a:rPr sz="2000" i="1" dirty="0" err="1"/>
              <a:t>donaţia</a:t>
            </a:r>
            <a:r>
              <a:rPr sz="2000" i="1" dirty="0"/>
              <a:t> se </a:t>
            </a:r>
            <a:r>
              <a:rPr sz="2000" i="1" dirty="0" err="1"/>
              <a:t>încheie</a:t>
            </a:r>
            <a:r>
              <a:rPr sz="2000" i="1" dirty="0"/>
              <a:t> </a:t>
            </a:r>
            <a:r>
              <a:rPr sz="2000" i="1" dirty="0" err="1"/>
              <a:t>prin</a:t>
            </a:r>
            <a:r>
              <a:rPr sz="2000" i="1" dirty="0"/>
              <a:t> </a:t>
            </a:r>
            <a:r>
              <a:rPr sz="2000" i="1" dirty="0" err="1"/>
              <a:t>înscris</a:t>
            </a:r>
            <a:r>
              <a:rPr sz="2000" i="1" dirty="0"/>
              <a:t> </a:t>
            </a:r>
            <a:r>
              <a:rPr sz="2000" i="1" dirty="0" err="1"/>
              <a:t>autentic</a:t>
            </a:r>
            <a:r>
              <a:rPr sz="2000" i="1" dirty="0"/>
              <a:t>, sub </a:t>
            </a:r>
            <a:r>
              <a:rPr sz="2000" i="1" dirty="0" err="1"/>
              <a:t>sancţiunea</a:t>
            </a:r>
            <a:r>
              <a:rPr sz="2000" i="1" dirty="0"/>
              <a:t> </a:t>
            </a:r>
            <a:r>
              <a:rPr sz="2000" i="1" dirty="0" err="1"/>
              <a:t>nulităţii</a:t>
            </a:r>
            <a:r>
              <a:rPr sz="2000" i="1" dirty="0"/>
              <a:t> absolute</a:t>
            </a:r>
            <a:r>
              <a:rPr sz="2000" dirty="0"/>
              <a:t>”.</a:t>
            </a:r>
          </a:p>
          <a:p>
            <a:pPr marL="336042" indent="-672084" algn="just" defTabSz="896111">
              <a:lnSpc>
                <a:spcPts val="2200"/>
              </a:lnSpc>
              <a:spcBef>
                <a:spcPts val="0"/>
              </a:spcBef>
              <a:buSzTx/>
              <a:buNone/>
              <a:defRPr sz="2548"/>
            </a:pPr>
            <a:r>
              <a:rPr sz="2000" dirty="0" smtClean="0"/>
              <a:t>- prohibitive</a:t>
            </a:r>
            <a:r>
              <a:rPr lang="ro-RO" sz="2000" dirty="0" smtClean="0"/>
              <a:t>: </a:t>
            </a:r>
            <a:r>
              <a:rPr lang="ro-RO" sz="2000" b="1" u="sng" dirty="0" smtClean="0"/>
              <a:t>interzic în mod expres o anumită conduită</a:t>
            </a:r>
            <a:r>
              <a:rPr lang="ro-RO" sz="2000" dirty="0" smtClean="0"/>
              <a:t>. Exemplu: prin lege, se interzice fumatul în locuri publice; </a:t>
            </a:r>
            <a:endParaRPr sz="2000" dirty="0"/>
          </a:p>
          <a:p>
            <a:pPr marL="336042" indent="-672084" algn="just" defTabSz="896111">
              <a:lnSpc>
                <a:spcPts val="2200"/>
              </a:lnSpc>
              <a:spcBef>
                <a:spcPts val="0"/>
              </a:spcBef>
              <a:buSzTx/>
              <a:buNone/>
              <a:defRPr sz="2548"/>
            </a:pPr>
            <a:r>
              <a:rPr sz="2000" dirty="0" smtClean="0"/>
              <a:t>- </a:t>
            </a:r>
            <a:r>
              <a:rPr sz="2000" dirty="0" err="1" smtClean="0"/>
              <a:t>permisive</a:t>
            </a:r>
            <a:r>
              <a:rPr lang="ro-RO" sz="2000" dirty="0" smtClean="0"/>
              <a:t>: </a:t>
            </a:r>
            <a:r>
              <a:rPr lang="ro-RO" sz="2000" b="1" u="sng" dirty="0"/>
              <a:t>acele norme care nici nu obliga, nici nu interzic o anumita </a:t>
            </a:r>
            <a:r>
              <a:rPr lang="ro-RO" sz="2000" b="1" u="sng" dirty="0" smtClean="0"/>
              <a:t>conduita ci</a:t>
            </a:r>
            <a:r>
              <a:rPr lang="ro-RO" sz="2000" dirty="0" smtClean="0"/>
              <a:t> lasă </a:t>
            </a:r>
            <a:r>
              <a:rPr lang="ro-RO" sz="2000" dirty="0"/>
              <a:t>la aprecierea subiectului alegerea unei conduite, cu </a:t>
            </a:r>
            <a:r>
              <a:rPr lang="ro-RO" sz="2000" dirty="0" smtClean="0"/>
              <a:t>condiția </a:t>
            </a:r>
            <a:r>
              <a:rPr lang="ro-RO" sz="2000" dirty="0"/>
              <a:t>de a nu </a:t>
            </a:r>
            <a:r>
              <a:rPr lang="ro-RO" sz="2000" dirty="0" smtClean="0"/>
              <a:t>încălca </a:t>
            </a:r>
            <a:r>
              <a:rPr lang="ro-RO" sz="2000" dirty="0"/>
              <a:t>ordinea de </a:t>
            </a:r>
            <a:r>
              <a:rPr lang="ro-RO" sz="2000" dirty="0" smtClean="0"/>
              <a:t>drept. Exemplu: la </a:t>
            </a:r>
            <a:r>
              <a:rPr lang="ro-RO" sz="2000" dirty="0"/>
              <a:t>desfacerea casatoriei prin divort, sotii se pot invoi ca sotul care a purtat in timpul casatoriei, numele celuilalt sot, sa poarte acest nume si dupa desfacerea casatoriei</a:t>
            </a:r>
            <a:endParaRPr sz="2000" dirty="0"/>
          </a:p>
          <a:p>
            <a:pPr marL="336042" indent="-672084" algn="just" defTabSz="896111">
              <a:lnSpc>
                <a:spcPts val="2200"/>
              </a:lnSpc>
              <a:spcBef>
                <a:spcPts val="0"/>
              </a:spcBef>
              <a:buSzTx/>
              <a:buNone/>
              <a:defRPr sz="2548"/>
            </a:pPr>
            <a:endParaRPr lang="ro-RO" sz="2000" dirty="0" smtClean="0"/>
          </a:p>
          <a:p>
            <a:pPr marL="336042" indent="-672084" algn="just" defTabSz="896111">
              <a:lnSpc>
                <a:spcPts val="2200"/>
              </a:lnSpc>
              <a:spcBef>
                <a:spcPts val="0"/>
              </a:spcBef>
              <a:buSzTx/>
              <a:buNone/>
              <a:defRPr sz="2548"/>
            </a:pPr>
            <a:r>
              <a:rPr sz="2000" dirty="0" err="1" smtClean="0"/>
              <a:t>Normele</a:t>
            </a:r>
            <a:r>
              <a:rPr sz="2000" dirty="0" smtClean="0"/>
              <a:t> </a:t>
            </a:r>
            <a:r>
              <a:rPr sz="2000" dirty="0" err="1"/>
              <a:t>onerative</a:t>
            </a:r>
            <a:r>
              <a:rPr sz="2000" dirty="0"/>
              <a:t> </a:t>
            </a:r>
            <a:r>
              <a:rPr sz="2000" dirty="0" err="1"/>
              <a:t>şi</a:t>
            </a:r>
            <a:r>
              <a:rPr sz="2000" dirty="0"/>
              <a:t> prohibitive </a:t>
            </a:r>
            <a:r>
              <a:rPr sz="2000" dirty="0" err="1"/>
              <a:t>sunt</a:t>
            </a:r>
            <a:r>
              <a:rPr sz="2000" dirty="0"/>
              <a:t> </a:t>
            </a:r>
            <a:r>
              <a:rPr sz="2000" dirty="0" err="1"/>
              <a:t>norme</a:t>
            </a:r>
            <a:r>
              <a:rPr sz="2000" dirty="0"/>
              <a:t> imperative.</a:t>
            </a:r>
          </a:p>
        </p:txBody>
      </p:sp>
    </p:spTree>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itle 1"/>
          <p:cNvSpPr txBox="1">
            <a:spLocks noGrp="1"/>
          </p:cNvSpPr>
          <p:nvPr>
            <p:ph type="title"/>
          </p:nvPr>
        </p:nvSpPr>
        <p:spPr>
          <a:xfrm>
            <a:off x="457200" y="274638"/>
            <a:ext cx="8229600" cy="715963"/>
          </a:xfrm>
          <a:prstGeom prst="rect">
            <a:avLst/>
          </a:prstGeom>
        </p:spPr>
        <p:txBody>
          <a:bodyPr>
            <a:normAutofit fontScale="90000"/>
          </a:bodyPr>
          <a:lstStyle/>
          <a:p>
            <a:pPr defTabSz="859536">
              <a:defRPr sz="2068" b="1"/>
            </a:pPr>
            <a:r>
              <a:t>NORMA JURIDICĂ</a:t>
            </a:r>
            <a:br/>
            <a:r>
              <a:t>Clasificarea normelor juridice</a:t>
            </a:r>
          </a:p>
        </p:txBody>
      </p:sp>
      <p:sp>
        <p:nvSpPr>
          <p:cNvPr id="140" name="Content Placeholder 2"/>
          <p:cNvSpPr txBox="1">
            <a:spLocks noGrp="1"/>
          </p:cNvSpPr>
          <p:nvPr>
            <p:ph type="body" idx="1"/>
          </p:nvPr>
        </p:nvSpPr>
        <p:spPr>
          <a:xfrm>
            <a:off x="457200" y="1205346"/>
            <a:ext cx="8229600" cy="5306290"/>
          </a:xfrm>
          <a:prstGeom prst="rect">
            <a:avLst/>
          </a:prstGeom>
        </p:spPr>
        <p:txBody>
          <a:bodyPr>
            <a:normAutofit fontScale="92500"/>
          </a:bodyPr>
          <a:lstStyle/>
          <a:p>
            <a:pPr indent="-685800" algn="just">
              <a:lnSpc>
                <a:spcPts val="2300"/>
              </a:lnSpc>
              <a:spcBef>
                <a:spcPts val="0"/>
              </a:spcBef>
              <a:buSzTx/>
              <a:buNone/>
              <a:defRPr sz="2500"/>
            </a:pPr>
            <a:r>
              <a:rPr sz="2500" dirty="0"/>
              <a:t>	</a:t>
            </a:r>
          </a:p>
          <a:p>
            <a:pPr indent="-685800" algn="just">
              <a:lnSpc>
                <a:spcPts val="2300"/>
              </a:lnSpc>
              <a:spcBef>
                <a:spcPts val="0"/>
              </a:spcBef>
              <a:buSzTx/>
              <a:buNone/>
              <a:defRPr sz="2500"/>
            </a:pPr>
            <a:r>
              <a:rPr sz="2500" dirty="0"/>
              <a:t>	c) In </a:t>
            </a:r>
            <a:r>
              <a:rPr sz="2500" dirty="0" err="1"/>
              <a:t>funcţie</a:t>
            </a:r>
            <a:r>
              <a:rPr sz="2500" dirty="0"/>
              <a:t> de </a:t>
            </a:r>
            <a:r>
              <a:rPr sz="2500" dirty="0" err="1"/>
              <a:t>criteriul</a:t>
            </a:r>
            <a:r>
              <a:rPr sz="2500" dirty="0"/>
              <a:t> </a:t>
            </a:r>
            <a:r>
              <a:rPr sz="2500" dirty="0" err="1"/>
              <a:t>sferei</a:t>
            </a:r>
            <a:r>
              <a:rPr sz="2500" dirty="0"/>
              <a:t> </a:t>
            </a:r>
            <a:r>
              <a:rPr sz="2500" dirty="0" err="1"/>
              <a:t>lor</a:t>
            </a:r>
            <a:r>
              <a:rPr sz="2500" dirty="0"/>
              <a:t> de </a:t>
            </a:r>
            <a:r>
              <a:rPr sz="2500" dirty="0" err="1"/>
              <a:t>aplicare</a:t>
            </a:r>
            <a:r>
              <a:rPr sz="2500" dirty="0"/>
              <a:t>, </a:t>
            </a:r>
            <a:r>
              <a:rPr sz="2500" dirty="0" err="1"/>
              <a:t>normele</a:t>
            </a:r>
            <a:r>
              <a:rPr sz="2500" dirty="0"/>
              <a:t> </a:t>
            </a:r>
            <a:r>
              <a:rPr sz="2500" dirty="0" err="1"/>
              <a:t>juridice</a:t>
            </a:r>
            <a:r>
              <a:rPr sz="2500" dirty="0"/>
              <a:t> pot fi </a:t>
            </a:r>
            <a:r>
              <a:rPr sz="2500" dirty="0" err="1"/>
              <a:t>împărţite</a:t>
            </a:r>
            <a:r>
              <a:rPr sz="2500" dirty="0"/>
              <a:t> </a:t>
            </a:r>
            <a:r>
              <a:rPr sz="2500" dirty="0" err="1"/>
              <a:t>în</a:t>
            </a:r>
            <a:r>
              <a:rPr sz="2500" dirty="0"/>
              <a:t>:</a:t>
            </a:r>
          </a:p>
          <a:p>
            <a:pPr indent="-685800" algn="just">
              <a:lnSpc>
                <a:spcPts val="2300"/>
              </a:lnSpc>
              <a:spcBef>
                <a:spcPts val="0"/>
              </a:spcBef>
              <a:buSzTx/>
              <a:buNone/>
              <a:defRPr sz="2500"/>
            </a:pPr>
            <a:r>
              <a:rPr sz="2500" dirty="0"/>
              <a:t>	- </a:t>
            </a:r>
            <a:r>
              <a:rPr sz="2500" dirty="0" err="1"/>
              <a:t>norme</a:t>
            </a:r>
            <a:r>
              <a:rPr sz="2500" dirty="0"/>
              <a:t> </a:t>
            </a:r>
            <a:r>
              <a:rPr sz="2500" dirty="0" err="1" smtClean="0"/>
              <a:t>generale</a:t>
            </a:r>
            <a:r>
              <a:rPr lang="ro-RO" sz="2500" dirty="0" smtClean="0"/>
              <a:t>. Sunt cele mai des întâlnite. </a:t>
            </a:r>
            <a:r>
              <a:rPr lang="en-US" sz="2500" dirty="0" smtClean="0"/>
              <a:t>“</a:t>
            </a:r>
            <a:r>
              <a:rPr lang="en-US" sz="2500" i="1" dirty="0" smtClean="0"/>
              <a:t>c</a:t>
            </a:r>
            <a:r>
              <a:rPr lang="ro-RO" i="1" dirty="0" smtClean="0"/>
              <a:t>ăsătoria </a:t>
            </a:r>
            <a:r>
              <a:rPr lang="ro-RO" i="1" dirty="0"/>
              <a:t>este uniunea liber consimțită între un bărbat și o femeie, încheiată în condițiile legii</a:t>
            </a:r>
            <a:r>
              <a:rPr lang="ro-RO" i="1" dirty="0" smtClean="0"/>
              <a:t>.</a:t>
            </a:r>
            <a:r>
              <a:rPr lang="en-US" dirty="0" smtClean="0"/>
              <a:t>”</a:t>
            </a:r>
            <a:endParaRPr sz="2500" dirty="0"/>
          </a:p>
          <a:p>
            <a:pPr indent="-685800" algn="just">
              <a:lnSpc>
                <a:spcPts val="2300"/>
              </a:lnSpc>
              <a:spcBef>
                <a:spcPts val="0"/>
              </a:spcBef>
              <a:buSzTx/>
              <a:buNone/>
              <a:defRPr sz="2500"/>
            </a:pPr>
            <a:r>
              <a:rPr sz="2500" dirty="0"/>
              <a:t>	- </a:t>
            </a:r>
            <a:r>
              <a:rPr sz="2500" dirty="0" err="1"/>
              <a:t>norme</a:t>
            </a:r>
            <a:r>
              <a:rPr sz="2500" dirty="0"/>
              <a:t> </a:t>
            </a:r>
            <a:r>
              <a:rPr sz="2500" dirty="0" err="1" smtClean="0"/>
              <a:t>special</a:t>
            </a:r>
            <a:r>
              <a:rPr lang="en-US" sz="2500" dirty="0" err="1" smtClean="0"/>
              <a:t>e</a:t>
            </a:r>
            <a:r>
              <a:rPr lang="en-US" sz="2500" dirty="0" smtClean="0"/>
              <a:t>: “</a:t>
            </a:r>
            <a:r>
              <a:rPr lang="ro-RO" i="1" dirty="0"/>
              <a:t>Căsătoria încetează prin decesul sau prin declararea judecătorească a morții unuia dintre </a:t>
            </a:r>
            <a:r>
              <a:rPr lang="ro-RO" i="1" dirty="0" smtClean="0"/>
              <a:t>soți</a:t>
            </a:r>
            <a:r>
              <a:rPr lang="en-US" dirty="0" smtClean="0"/>
              <a:t>”</a:t>
            </a:r>
            <a:endParaRPr lang="ro-RO" sz="2500" dirty="0" smtClean="0"/>
          </a:p>
          <a:p>
            <a:pPr indent="-685800" algn="just">
              <a:lnSpc>
                <a:spcPts val="2300"/>
              </a:lnSpc>
              <a:spcBef>
                <a:spcPts val="0"/>
              </a:spcBef>
              <a:buSzTx/>
              <a:buNone/>
              <a:defRPr sz="2500"/>
            </a:pPr>
            <a:r>
              <a:rPr lang="ro-RO" sz="2500" dirty="0" smtClean="0"/>
              <a:t>	- norme de excepție</a:t>
            </a:r>
            <a:r>
              <a:rPr lang="en-US" sz="2500" dirty="0" smtClean="0"/>
              <a:t>: “</a:t>
            </a:r>
            <a:r>
              <a:rPr lang="ro-RO" i="1" dirty="0"/>
              <a:t>Căsătoria poate fi desfăcută prin </a:t>
            </a:r>
            <a:r>
              <a:rPr lang="ro-RO" i="1" dirty="0" smtClean="0"/>
              <a:t>divorț</a:t>
            </a:r>
            <a:r>
              <a:rPr lang="en-US" dirty="0" smtClean="0"/>
              <a:t>”</a:t>
            </a:r>
            <a:endParaRPr sz="2500" dirty="0"/>
          </a:p>
          <a:p>
            <a:pPr indent="-685800" algn="just">
              <a:lnSpc>
                <a:spcPts val="2300"/>
              </a:lnSpc>
              <a:spcBef>
                <a:spcPts val="0"/>
              </a:spcBef>
              <a:buSzTx/>
              <a:buNone/>
              <a:defRPr sz="2500"/>
            </a:pPr>
            <a:r>
              <a:rPr sz="2500" dirty="0"/>
              <a:t>	</a:t>
            </a:r>
          </a:p>
          <a:p>
            <a:pPr indent="-685800" algn="just">
              <a:lnSpc>
                <a:spcPts val="2300"/>
              </a:lnSpc>
              <a:spcBef>
                <a:spcPts val="0"/>
              </a:spcBef>
              <a:buSzTx/>
              <a:buNone/>
              <a:defRPr sz="2500"/>
            </a:pPr>
            <a:r>
              <a:rPr sz="2500" dirty="0"/>
              <a:t>	d) In </a:t>
            </a:r>
            <a:r>
              <a:rPr sz="2500" dirty="0" err="1"/>
              <a:t>funcţie</a:t>
            </a:r>
            <a:r>
              <a:rPr sz="2500" dirty="0"/>
              <a:t> de </a:t>
            </a:r>
            <a:r>
              <a:rPr sz="2500" dirty="0" err="1"/>
              <a:t>criteriul</a:t>
            </a:r>
            <a:r>
              <a:rPr sz="2500" dirty="0"/>
              <a:t> </a:t>
            </a:r>
            <a:r>
              <a:rPr sz="2500" dirty="0" err="1"/>
              <a:t>forţei</a:t>
            </a:r>
            <a:r>
              <a:rPr sz="2500" dirty="0"/>
              <a:t> </a:t>
            </a:r>
            <a:r>
              <a:rPr sz="2500" dirty="0" err="1"/>
              <a:t>lor</a:t>
            </a:r>
            <a:r>
              <a:rPr sz="2500" dirty="0"/>
              <a:t> </a:t>
            </a:r>
            <a:r>
              <a:rPr sz="2500" dirty="0" err="1"/>
              <a:t>juridice</a:t>
            </a:r>
            <a:r>
              <a:rPr sz="2500" dirty="0"/>
              <a:t>, </a:t>
            </a:r>
            <a:r>
              <a:rPr sz="2500" dirty="0" err="1"/>
              <a:t>normele</a:t>
            </a:r>
            <a:r>
              <a:rPr sz="2500" dirty="0"/>
              <a:t> </a:t>
            </a:r>
            <a:r>
              <a:rPr sz="2500" dirty="0" err="1"/>
              <a:t>juridice</a:t>
            </a:r>
            <a:r>
              <a:rPr sz="2500" dirty="0"/>
              <a:t> pot fi </a:t>
            </a:r>
            <a:r>
              <a:rPr sz="2500" dirty="0" err="1"/>
              <a:t>clasificate</a:t>
            </a:r>
            <a:r>
              <a:rPr sz="2500" dirty="0"/>
              <a:t> </a:t>
            </a:r>
            <a:r>
              <a:rPr sz="2500" dirty="0" err="1"/>
              <a:t>în</a:t>
            </a:r>
            <a:r>
              <a:rPr sz="2500" dirty="0"/>
              <a:t> </a:t>
            </a:r>
            <a:r>
              <a:rPr sz="2500" dirty="0" err="1"/>
              <a:t>raport</a:t>
            </a:r>
            <a:r>
              <a:rPr sz="2500" dirty="0"/>
              <a:t> de </a:t>
            </a:r>
            <a:r>
              <a:rPr sz="2500" dirty="0" err="1"/>
              <a:t>ierarhia</a:t>
            </a:r>
            <a:r>
              <a:rPr sz="2500" dirty="0"/>
              <a:t> </a:t>
            </a:r>
            <a:r>
              <a:rPr sz="2500" dirty="0" err="1"/>
              <a:t>organelor</a:t>
            </a:r>
            <a:r>
              <a:rPr sz="2500" dirty="0"/>
              <a:t> de la  care </a:t>
            </a:r>
            <a:r>
              <a:rPr sz="2500" dirty="0" err="1"/>
              <a:t>emană</a:t>
            </a:r>
            <a:r>
              <a:rPr sz="2500" dirty="0"/>
              <a:t>: </a:t>
            </a:r>
          </a:p>
          <a:p>
            <a:pPr indent="-685800" algn="just">
              <a:lnSpc>
                <a:spcPts val="2300"/>
              </a:lnSpc>
              <a:spcBef>
                <a:spcPts val="0"/>
              </a:spcBef>
              <a:buSzTx/>
              <a:buNone/>
              <a:defRPr sz="2500"/>
            </a:pPr>
            <a:r>
              <a:rPr sz="2500" dirty="0"/>
              <a:t>	- </a:t>
            </a:r>
            <a:r>
              <a:rPr sz="2500" dirty="0" err="1"/>
              <a:t>legi</a:t>
            </a:r>
            <a:r>
              <a:rPr sz="2500" dirty="0"/>
              <a:t>,</a:t>
            </a:r>
          </a:p>
          <a:p>
            <a:pPr indent="-685800" algn="just">
              <a:lnSpc>
                <a:spcPts val="2300"/>
              </a:lnSpc>
              <a:spcBef>
                <a:spcPts val="0"/>
              </a:spcBef>
              <a:buSzTx/>
              <a:buNone/>
              <a:defRPr sz="2500"/>
            </a:pPr>
            <a:r>
              <a:rPr sz="2500" dirty="0"/>
              <a:t>	- </a:t>
            </a:r>
            <a:r>
              <a:rPr sz="2500" dirty="0" err="1"/>
              <a:t>decrete</a:t>
            </a:r>
            <a:r>
              <a:rPr sz="2500" dirty="0"/>
              <a:t> </a:t>
            </a:r>
            <a:r>
              <a:rPr sz="2500" dirty="0" err="1"/>
              <a:t>prezidenţiale</a:t>
            </a:r>
            <a:r>
              <a:rPr sz="2500" dirty="0"/>
              <a:t>, </a:t>
            </a:r>
          </a:p>
          <a:p>
            <a:pPr indent="-685800" algn="just">
              <a:lnSpc>
                <a:spcPts val="2300"/>
              </a:lnSpc>
              <a:spcBef>
                <a:spcPts val="0"/>
              </a:spcBef>
              <a:buSzTx/>
              <a:buNone/>
              <a:defRPr sz="2500"/>
            </a:pPr>
            <a:r>
              <a:rPr sz="2500" dirty="0"/>
              <a:t>	- </a:t>
            </a:r>
            <a:r>
              <a:rPr sz="2500" dirty="0" err="1"/>
              <a:t>hotărâri</a:t>
            </a:r>
            <a:r>
              <a:rPr sz="2500" dirty="0"/>
              <a:t> </a:t>
            </a:r>
            <a:r>
              <a:rPr sz="2500" dirty="0" err="1"/>
              <a:t>guvernamentale</a:t>
            </a:r>
            <a:r>
              <a:rPr sz="2500" dirty="0"/>
              <a:t>, </a:t>
            </a:r>
          </a:p>
          <a:p>
            <a:pPr indent="-685800" algn="just">
              <a:lnSpc>
                <a:spcPts val="2300"/>
              </a:lnSpc>
              <a:spcBef>
                <a:spcPts val="0"/>
              </a:spcBef>
              <a:buSzTx/>
              <a:buNone/>
              <a:defRPr sz="2500"/>
            </a:pPr>
            <a:r>
              <a:rPr sz="2500" dirty="0"/>
              <a:t>	- </a:t>
            </a:r>
            <a:r>
              <a:rPr lang="ro-RO" sz="2500" dirty="0" smtClean="0"/>
              <a:t>O</a:t>
            </a:r>
            <a:r>
              <a:rPr sz="2500" dirty="0" err="1" smtClean="0"/>
              <a:t>rdonanţe</a:t>
            </a:r>
            <a:r>
              <a:rPr sz="2500" dirty="0" smtClean="0"/>
              <a:t> </a:t>
            </a:r>
            <a:r>
              <a:rPr sz="2500" dirty="0"/>
              <a:t>de </a:t>
            </a:r>
            <a:r>
              <a:rPr lang="ro-RO" sz="2500" dirty="0" smtClean="0"/>
              <a:t>G</a:t>
            </a:r>
            <a:r>
              <a:rPr sz="2500" dirty="0" err="1" smtClean="0"/>
              <a:t>uvern</a:t>
            </a:r>
            <a:r>
              <a:rPr sz="2500" dirty="0"/>
              <a:t>, </a:t>
            </a:r>
          </a:p>
          <a:p>
            <a:pPr indent="-685800" algn="just">
              <a:lnSpc>
                <a:spcPts val="2300"/>
              </a:lnSpc>
              <a:spcBef>
                <a:spcPts val="0"/>
              </a:spcBef>
              <a:buSzTx/>
              <a:buNone/>
              <a:defRPr sz="2500"/>
            </a:pPr>
            <a:r>
              <a:rPr sz="2500" dirty="0"/>
              <a:t>	- </a:t>
            </a:r>
            <a:r>
              <a:rPr sz="2500" dirty="0" err="1"/>
              <a:t>ordine</a:t>
            </a:r>
            <a:r>
              <a:rPr sz="2500" dirty="0"/>
              <a:t> </a:t>
            </a:r>
            <a:r>
              <a:rPr sz="2500" dirty="0" err="1"/>
              <a:t>şi</a:t>
            </a:r>
            <a:r>
              <a:rPr sz="2500" dirty="0"/>
              <a:t> </a:t>
            </a:r>
            <a:r>
              <a:rPr sz="2500" dirty="0" err="1"/>
              <a:t>instrucţiuni</a:t>
            </a:r>
            <a:r>
              <a:rPr sz="2500" dirty="0"/>
              <a:t> ale </a:t>
            </a:r>
            <a:r>
              <a:rPr sz="2500" dirty="0" err="1"/>
              <a:t>miniştrilor</a:t>
            </a:r>
            <a:r>
              <a:rPr sz="2500" dirty="0"/>
              <a:t>, etc.</a:t>
            </a:r>
          </a:p>
        </p:txBody>
      </p:sp>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 name="Title 1"/>
          <p:cNvSpPr txBox="1">
            <a:spLocks noGrp="1"/>
          </p:cNvSpPr>
          <p:nvPr>
            <p:ph type="title"/>
          </p:nvPr>
        </p:nvSpPr>
        <p:spPr>
          <a:xfrm>
            <a:off x="457200" y="274638"/>
            <a:ext cx="8229600" cy="639763"/>
          </a:xfrm>
          <a:prstGeom prst="rect">
            <a:avLst/>
          </a:prstGeom>
        </p:spPr>
        <p:txBody>
          <a:bodyPr>
            <a:normAutofit fontScale="90000"/>
          </a:bodyPr>
          <a:lstStyle/>
          <a:p>
            <a:pPr defTabSz="768095">
              <a:defRPr sz="1848" b="1"/>
            </a:pPr>
            <a:r>
              <a:t>NORMA JURIDICĂ</a:t>
            </a:r>
            <a:br/>
            <a:r>
              <a:rPr b="0"/>
              <a:t>Aplicarea normelor juridice</a:t>
            </a:r>
          </a:p>
        </p:txBody>
      </p:sp>
      <p:sp>
        <p:nvSpPr>
          <p:cNvPr id="143" name="Content Placeholder 2"/>
          <p:cNvSpPr txBox="1">
            <a:spLocks noGrp="1"/>
          </p:cNvSpPr>
          <p:nvPr>
            <p:ph type="body" idx="1"/>
          </p:nvPr>
        </p:nvSpPr>
        <p:spPr>
          <a:xfrm>
            <a:off x="457200" y="1066800"/>
            <a:ext cx="8229600" cy="5486400"/>
          </a:xfrm>
          <a:prstGeom prst="rect">
            <a:avLst/>
          </a:prstGeom>
        </p:spPr>
        <p:txBody>
          <a:bodyPr/>
          <a:lstStyle/>
          <a:p>
            <a:pPr marL="833246" indent="-833246" algn="just" defTabSz="877823">
              <a:lnSpc>
                <a:spcPts val="2000"/>
              </a:lnSpc>
              <a:spcBef>
                <a:spcPts val="0"/>
              </a:spcBef>
              <a:buFontTx/>
              <a:buAutoNum type="alphaLcPeriod"/>
              <a:defRPr sz="2400"/>
            </a:pPr>
            <a:endParaRPr/>
          </a:p>
          <a:p>
            <a:pPr marL="833246" indent="-833246" algn="just" defTabSz="877823">
              <a:lnSpc>
                <a:spcPts val="2000"/>
              </a:lnSpc>
              <a:spcBef>
                <a:spcPts val="0"/>
              </a:spcBef>
              <a:buFontTx/>
              <a:buAutoNum type="alphaUcPeriod"/>
              <a:defRPr sz="2400"/>
            </a:pPr>
            <a:r>
              <a:t>aplicarea normelor juridice în timp;</a:t>
            </a:r>
            <a:endParaRPr sz="1536"/>
          </a:p>
          <a:p>
            <a:pPr marL="833246" indent="-833246" algn="just" defTabSz="877823">
              <a:lnSpc>
                <a:spcPts val="2000"/>
              </a:lnSpc>
              <a:spcBef>
                <a:spcPts val="0"/>
              </a:spcBef>
              <a:buFontTx/>
              <a:buAutoNum type="alphaUcPeriod"/>
              <a:defRPr sz="2400"/>
            </a:pPr>
            <a:endParaRPr sz="1536"/>
          </a:p>
          <a:p>
            <a:pPr marL="833246" indent="-833246" algn="just" defTabSz="877823">
              <a:lnSpc>
                <a:spcPts val="2000"/>
              </a:lnSpc>
              <a:spcBef>
                <a:spcPts val="0"/>
              </a:spcBef>
              <a:buFontTx/>
              <a:buAutoNum type="alphaUcPeriod" startAt="2"/>
              <a:defRPr sz="2400"/>
            </a:pPr>
            <a:r>
              <a:t>aplicarea normelor juridice în spaţiu;</a:t>
            </a:r>
            <a:endParaRPr sz="1536"/>
          </a:p>
          <a:p>
            <a:pPr marL="833246" indent="-833246" algn="just" defTabSz="877823">
              <a:lnSpc>
                <a:spcPts val="2000"/>
              </a:lnSpc>
              <a:spcBef>
                <a:spcPts val="0"/>
              </a:spcBef>
              <a:buFontTx/>
              <a:buAutoNum type="alphaUcPeriod" startAt="2"/>
              <a:defRPr sz="2400"/>
            </a:pPr>
            <a:endParaRPr sz="1536"/>
          </a:p>
          <a:p>
            <a:pPr marL="833246" indent="-833246" algn="just" defTabSz="877823">
              <a:lnSpc>
                <a:spcPts val="2000"/>
              </a:lnSpc>
              <a:spcBef>
                <a:spcPts val="0"/>
              </a:spcBef>
              <a:buFontTx/>
              <a:buAutoNum type="alphaUcPeriod" startAt="3"/>
              <a:defRPr sz="2400"/>
            </a:pPr>
            <a:r>
              <a:t>aplicarea normelor juridice asupra persoanelor</a:t>
            </a:r>
            <a:endParaRPr sz="1536"/>
          </a:p>
          <a:p>
            <a:pPr marL="329184" indent="-329184" algn="just" defTabSz="877823">
              <a:lnSpc>
                <a:spcPts val="2000"/>
              </a:lnSpc>
              <a:spcBef>
                <a:spcPts val="0"/>
              </a:spcBef>
              <a:buSzTx/>
              <a:buNone/>
              <a:defRPr sz="2400"/>
            </a:pPr>
            <a:endParaRPr sz="1536"/>
          </a:p>
          <a:p>
            <a:pPr marL="329184" indent="-329184" algn="just" defTabSz="877823">
              <a:lnSpc>
                <a:spcPts val="2000"/>
              </a:lnSpc>
              <a:spcBef>
                <a:spcPts val="0"/>
              </a:spcBef>
              <a:buSzTx/>
              <a:buNone/>
              <a:defRPr sz="2400"/>
            </a:pPr>
            <a:r>
              <a:t>		A. Aplicarea normelor juridice în timp. </a:t>
            </a:r>
            <a:endParaRPr sz="1536"/>
          </a:p>
          <a:p>
            <a:pPr marL="329184" indent="-329184" algn="just" defTabSz="877823">
              <a:lnSpc>
                <a:spcPts val="2000"/>
              </a:lnSpc>
              <a:spcBef>
                <a:spcPts val="0"/>
              </a:spcBef>
              <a:buSzTx/>
              <a:buNone/>
              <a:defRPr sz="2400"/>
            </a:pPr>
            <a:endParaRPr sz="1536"/>
          </a:p>
          <a:p>
            <a:pPr marL="555497" indent="-555497" algn="just" defTabSz="877823">
              <a:lnSpc>
                <a:spcPts val="2000"/>
              </a:lnSpc>
              <a:spcBef>
                <a:spcPts val="0"/>
              </a:spcBef>
              <a:buFont typeface="Helvetica"/>
              <a:buChar char="➢"/>
              <a:defRPr sz="2400"/>
            </a:pPr>
            <a:r>
              <a:t>Norma juridică se aplică în intervalul de timp cât ea este în vigoare.</a:t>
            </a:r>
          </a:p>
          <a:p>
            <a:pPr marL="555497" indent="-555497" algn="just" defTabSz="877823">
              <a:lnSpc>
                <a:spcPts val="2000"/>
              </a:lnSpc>
              <a:spcBef>
                <a:spcPts val="0"/>
              </a:spcBef>
              <a:buFont typeface="Helvetica"/>
              <a:buChar char="➢"/>
              <a:defRPr sz="2400"/>
            </a:pPr>
            <a:endParaRPr/>
          </a:p>
          <a:p>
            <a:pPr marL="555497" indent="-555497" algn="just" defTabSz="877823">
              <a:lnSpc>
                <a:spcPts val="2000"/>
              </a:lnSpc>
              <a:spcBef>
                <a:spcPts val="0"/>
              </a:spcBef>
              <a:buFont typeface="Helvetica"/>
              <a:buChar char="➢"/>
              <a:defRPr sz="2400"/>
            </a:pPr>
            <a:r>
              <a:t>Acţiunea normelor juridice în timp este delimitata de doua momente:</a:t>
            </a:r>
            <a:endParaRPr sz="1536"/>
          </a:p>
          <a:p>
            <a:pPr marL="555497" indent="-555497" algn="just" defTabSz="877823">
              <a:lnSpc>
                <a:spcPts val="2000"/>
              </a:lnSpc>
              <a:spcBef>
                <a:spcPts val="0"/>
              </a:spcBef>
              <a:defRPr sz="2400"/>
            </a:pPr>
            <a:r>
              <a:t>momentul intrării lor în vigoare şi </a:t>
            </a:r>
            <a:endParaRPr sz="1536"/>
          </a:p>
          <a:p>
            <a:pPr marL="555497" indent="-555497" algn="just" defTabSz="877823">
              <a:lnSpc>
                <a:spcPts val="2000"/>
              </a:lnSpc>
              <a:spcBef>
                <a:spcPts val="0"/>
              </a:spcBef>
              <a:defRPr sz="2400"/>
            </a:pPr>
            <a:r>
              <a:t>momentul ieşirii lor din vigoare.</a:t>
            </a:r>
            <a:endParaRPr sz="1536"/>
          </a:p>
          <a:p>
            <a:pPr marL="548640" indent="-548640" algn="just" defTabSz="877823">
              <a:lnSpc>
                <a:spcPts val="2000"/>
              </a:lnSpc>
              <a:spcBef>
                <a:spcPts val="0"/>
              </a:spcBef>
              <a:buFont typeface="Helvetica"/>
              <a:buChar char="➢"/>
              <a:defRPr sz="2400"/>
            </a:pPr>
            <a:endParaRPr sz="1536"/>
          </a:p>
          <a:p>
            <a:pPr marL="548640" indent="-548640" algn="just" defTabSz="877823">
              <a:lnSpc>
                <a:spcPts val="2000"/>
              </a:lnSpc>
              <a:spcBef>
                <a:spcPts val="0"/>
              </a:spcBef>
              <a:buFont typeface="Helvetica"/>
              <a:buChar char="➢"/>
              <a:defRPr sz="2400"/>
            </a:pPr>
            <a:r>
              <a:t>Intrarea în vigoare a normelor juridice are loc fie la data publicării lor în Monitorul Oficial, fie la o dată certă stabilită de legiuitor şi menţionată în cuprinsul lor.</a:t>
            </a:r>
          </a:p>
        </p:txBody>
      </p:sp>
    </p:spTree>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 name="Title 1"/>
          <p:cNvSpPr txBox="1">
            <a:spLocks noGrp="1"/>
          </p:cNvSpPr>
          <p:nvPr>
            <p:ph type="title"/>
          </p:nvPr>
        </p:nvSpPr>
        <p:spPr>
          <a:xfrm>
            <a:off x="457200" y="274638"/>
            <a:ext cx="8229600" cy="639763"/>
          </a:xfrm>
          <a:prstGeom prst="rect">
            <a:avLst/>
          </a:prstGeom>
        </p:spPr>
        <p:txBody>
          <a:bodyPr>
            <a:normAutofit fontScale="90000"/>
          </a:bodyPr>
          <a:lstStyle/>
          <a:p>
            <a:pPr defTabSz="768095">
              <a:defRPr sz="1848" b="1"/>
            </a:pPr>
            <a:r>
              <a:t>NORMA JURIDICĂ</a:t>
            </a:r>
            <a:br/>
            <a:r>
              <a:rPr b="0"/>
              <a:t>Aplicarea normelor juridice</a:t>
            </a:r>
          </a:p>
        </p:txBody>
      </p:sp>
      <p:sp>
        <p:nvSpPr>
          <p:cNvPr id="146" name="Content Placeholder 2"/>
          <p:cNvSpPr txBox="1">
            <a:spLocks noGrp="1"/>
          </p:cNvSpPr>
          <p:nvPr>
            <p:ph type="body" idx="1"/>
          </p:nvPr>
        </p:nvSpPr>
        <p:spPr>
          <a:xfrm>
            <a:off x="457200" y="914400"/>
            <a:ext cx="8229600" cy="5638800"/>
          </a:xfrm>
          <a:prstGeom prst="rect">
            <a:avLst/>
          </a:prstGeom>
        </p:spPr>
        <p:txBody>
          <a:bodyPr/>
          <a:lstStyle/>
          <a:p>
            <a:pPr marL="571500" indent="-571500" algn="just">
              <a:lnSpc>
                <a:spcPts val="2400"/>
              </a:lnSpc>
              <a:spcBef>
                <a:spcPts val="0"/>
              </a:spcBef>
              <a:buFont typeface="Helvetica"/>
              <a:buChar char="➢"/>
              <a:defRPr sz="2500"/>
            </a:pPr>
            <a:endParaRPr/>
          </a:p>
          <a:p>
            <a:pPr marL="571500" indent="-571500" algn="just">
              <a:lnSpc>
                <a:spcPts val="2400"/>
              </a:lnSpc>
              <a:spcBef>
                <a:spcPts val="0"/>
              </a:spcBef>
              <a:buFont typeface="Helvetica"/>
              <a:buChar char="➢"/>
              <a:defRPr sz="2500"/>
            </a:pPr>
            <a:r>
              <a:t>Ieşirea din vigoare a normelor juridice civile se produce prin abrogarea lor. </a:t>
            </a:r>
            <a:endParaRPr sz="1800"/>
          </a:p>
          <a:p>
            <a:pPr marL="342900" indent="-342900" algn="just">
              <a:lnSpc>
                <a:spcPts val="2400"/>
              </a:lnSpc>
              <a:spcBef>
                <a:spcPts val="0"/>
              </a:spcBef>
              <a:buFont typeface="Helvetica"/>
              <a:buChar char="➢"/>
              <a:defRPr sz="2500"/>
            </a:pPr>
            <a:endParaRPr sz="1800"/>
          </a:p>
          <a:p>
            <a:pPr marL="571500" indent="-571500" algn="just">
              <a:lnSpc>
                <a:spcPts val="2400"/>
              </a:lnSpc>
              <a:spcBef>
                <a:spcPts val="0"/>
              </a:spcBef>
              <a:buFont typeface="Helvetica"/>
              <a:buChar char="➢"/>
              <a:defRPr sz="2500"/>
            </a:pPr>
            <a:r>
              <a:t>Abrogarea poate fi:</a:t>
            </a:r>
            <a:endParaRPr sz="1800"/>
          </a:p>
          <a:p>
            <a:pPr marL="571500" indent="-571500" algn="just">
              <a:lnSpc>
                <a:spcPts val="2400"/>
              </a:lnSpc>
              <a:spcBef>
                <a:spcPts val="0"/>
              </a:spcBef>
              <a:defRPr sz="2500"/>
            </a:pPr>
            <a:r>
              <a:t>expresă directă;</a:t>
            </a:r>
            <a:endParaRPr sz="1800"/>
          </a:p>
          <a:p>
            <a:pPr marL="571500" indent="-571500" algn="just">
              <a:lnSpc>
                <a:spcPts val="2400"/>
              </a:lnSpc>
              <a:spcBef>
                <a:spcPts val="0"/>
              </a:spcBef>
              <a:defRPr sz="2500"/>
            </a:pPr>
            <a:r>
              <a:t>expresă indirectă</a:t>
            </a:r>
            <a:endParaRPr sz="1800"/>
          </a:p>
          <a:p>
            <a:pPr marL="571500" indent="-571500" algn="just">
              <a:lnSpc>
                <a:spcPts val="2400"/>
              </a:lnSpc>
              <a:spcBef>
                <a:spcPts val="0"/>
              </a:spcBef>
              <a:defRPr sz="2500"/>
            </a:pPr>
            <a:r>
              <a:t>tacită (implicită).</a:t>
            </a:r>
            <a:endParaRPr sz="1800"/>
          </a:p>
          <a:p>
            <a:pPr marL="448055" indent="-448055" algn="just" defTabSz="896111">
              <a:lnSpc>
                <a:spcPts val="2400"/>
              </a:lnSpc>
              <a:spcBef>
                <a:spcPts val="600"/>
              </a:spcBef>
              <a:buFont typeface="Helvetica"/>
              <a:buChar char="➢"/>
              <a:defRPr sz="2500"/>
            </a:pPr>
            <a:r>
              <a:t>Acţiunea în timp a normelor juridice este guvernată de două </a:t>
            </a:r>
            <a:r>
              <a:rPr b="1" i="1"/>
              <a:t>principii: </a:t>
            </a:r>
          </a:p>
          <a:p>
            <a:pPr marL="336041" indent="-336041" algn="just" defTabSz="896111">
              <a:lnSpc>
                <a:spcPts val="2400"/>
              </a:lnSpc>
              <a:spcBef>
                <a:spcPts val="600"/>
              </a:spcBef>
              <a:buSzTx/>
              <a:buNone/>
              <a:defRPr sz="2500"/>
            </a:pPr>
            <a:r>
              <a:t>	- principiul neretroactivităţii legii: normele de drept se aplică raporturilor sociale care vor lua naştere în viitor.</a:t>
            </a:r>
            <a:endParaRPr sz="1700"/>
          </a:p>
          <a:p>
            <a:pPr marL="336041" indent="-336041" algn="just" defTabSz="896111">
              <a:lnSpc>
                <a:spcPts val="2400"/>
              </a:lnSpc>
              <a:spcBef>
                <a:spcPts val="600"/>
              </a:spcBef>
              <a:buSzTx/>
              <a:buNone/>
              <a:defRPr sz="2500"/>
            </a:pPr>
            <a:r>
              <a:t>	- principiul aplicării imediate a legii: legea nouă urmează să se aplice tuturor raporturilor juridice care vor lua naştere, se vor modifica sau stinge după momentul intrării ei în vigoare.</a:t>
            </a:r>
          </a:p>
        </p:txBody>
      </p:sp>
    </p:spTree>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Title 1"/>
          <p:cNvSpPr txBox="1">
            <a:spLocks noGrp="1"/>
          </p:cNvSpPr>
          <p:nvPr>
            <p:ph type="title"/>
          </p:nvPr>
        </p:nvSpPr>
        <p:spPr>
          <a:xfrm>
            <a:off x="457200" y="274638"/>
            <a:ext cx="8229600" cy="792163"/>
          </a:xfrm>
          <a:prstGeom prst="rect">
            <a:avLst/>
          </a:prstGeom>
        </p:spPr>
        <p:txBody>
          <a:bodyPr/>
          <a:lstStyle/>
          <a:p>
            <a:pPr>
              <a:defRPr sz="2200" b="1"/>
            </a:pPr>
            <a:r>
              <a:t>NORMA JURIDICĂ</a:t>
            </a:r>
            <a:br/>
            <a:r>
              <a:rPr b="0"/>
              <a:t>Aplicarea normelor juridice</a:t>
            </a:r>
          </a:p>
        </p:txBody>
      </p:sp>
      <p:sp>
        <p:nvSpPr>
          <p:cNvPr id="149" name="Content Placeholder 2"/>
          <p:cNvSpPr txBox="1">
            <a:spLocks noGrp="1"/>
          </p:cNvSpPr>
          <p:nvPr>
            <p:ph type="body" idx="1"/>
          </p:nvPr>
        </p:nvSpPr>
        <p:spPr>
          <a:xfrm>
            <a:off x="457200" y="1066800"/>
            <a:ext cx="8229600" cy="5562600"/>
          </a:xfrm>
          <a:prstGeom prst="rect">
            <a:avLst/>
          </a:prstGeom>
        </p:spPr>
        <p:txBody>
          <a:bodyPr/>
          <a:lstStyle/>
          <a:p>
            <a:pPr marL="336041" indent="-336041" algn="just" defTabSz="896111">
              <a:lnSpc>
                <a:spcPct val="90000"/>
              </a:lnSpc>
              <a:spcBef>
                <a:spcPts val="600"/>
              </a:spcBef>
              <a:buSzTx/>
              <a:buNone/>
              <a:defRPr sz="2000" b="1"/>
            </a:pPr>
            <a:r>
              <a:t>B. APLICAREA NORMEI JURIDICE ÎN SPAŢIU:</a:t>
            </a:r>
          </a:p>
          <a:p>
            <a:pPr marL="448055" indent="-448055" algn="just" defTabSz="896111">
              <a:lnSpc>
                <a:spcPct val="90000"/>
              </a:lnSpc>
              <a:spcBef>
                <a:spcPts val="600"/>
              </a:spcBef>
              <a:defRPr sz="2000"/>
            </a:pPr>
            <a:r>
              <a:t>Se întemeiază pe </a:t>
            </a:r>
            <a:r>
              <a:rPr u="sng"/>
              <a:t>principiul teritorialităţii legii:</a:t>
            </a:r>
            <a:r>
              <a:t> norma juridică, de regulă, se aplică pe teritoriul statului al cărui organ a edictat-o, excluzându-se acţiunea legilor altor state.</a:t>
            </a:r>
            <a:endParaRPr sz="1700"/>
          </a:p>
          <a:p>
            <a:pPr marL="448055" indent="-448055" algn="just" defTabSz="896111">
              <a:lnSpc>
                <a:spcPct val="90000"/>
              </a:lnSpc>
              <a:spcBef>
                <a:spcPts val="600"/>
              </a:spcBef>
              <a:defRPr sz="2000"/>
            </a:pPr>
            <a:r>
              <a:t>Prin teritoriu se înţelege întinderea de pământ şi apele cuprinse între frontiere, cu subsolul şi spaţiul aerian, precum şi marea teritorială cu solul, subsolul şi spaţiul aerian al acesteia.</a:t>
            </a:r>
          </a:p>
          <a:p>
            <a:pPr marL="231671" indent="-231671" algn="just" defTabSz="859536">
              <a:spcBef>
                <a:spcPts val="600"/>
              </a:spcBef>
              <a:defRPr sz="2000"/>
            </a:pPr>
            <a:r>
              <a:t>De la principiul teritorialităţii normelor juridice există unele </a:t>
            </a:r>
            <a:r>
              <a:rPr b="1" u="sng"/>
              <a:t>excepţii de restrângere şi altele de extindere</a:t>
            </a:r>
            <a:r>
              <a:t>:</a:t>
            </a:r>
          </a:p>
          <a:p>
            <a:pPr marL="231671" indent="-231671" algn="just" defTabSz="859536">
              <a:spcBef>
                <a:spcPts val="600"/>
              </a:spcBef>
              <a:defRPr sz="2000"/>
            </a:pPr>
            <a:r>
              <a:t> reprezentanţilor diplomaţi străini în România şi altor persoane, în conformitate cu convenţiile internaţionale, nu li se aplică legile penale ale statului nostru pentru faptele penale săvârşite în ţara noastră, aceştia bucurându-se de imunitate penală. Totodată, se aplică şi inviolabilitatea clădirilor pe care le ocupă şi a mijloacelor de transport pe care le deţin; </a:t>
            </a:r>
            <a:endParaRPr sz="3000"/>
          </a:p>
          <a:p>
            <a:pPr marL="231671" indent="-231671" algn="just" defTabSz="859536">
              <a:spcBef>
                <a:spcPts val="600"/>
              </a:spcBef>
              <a:defRPr sz="2000"/>
            </a:pPr>
            <a:r>
              <a:t>echipajul unei nave/aeronave străine nu este supus legilor ţării noastre pentru infracţiunile săvârşite pe acea navă când se află în apele teritoriale româneşti. </a:t>
            </a:r>
          </a:p>
        </p:txBody>
      </p:sp>
    </p:spTree>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 name="Title 1"/>
          <p:cNvSpPr txBox="1">
            <a:spLocks noGrp="1"/>
          </p:cNvSpPr>
          <p:nvPr>
            <p:ph type="title"/>
          </p:nvPr>
        </p:nvSpPr>
        <p:spPr>
          <a:xfrm>
            <a:off x="457200" y="274638"/>
            <a:ext cx="8229600" cy="639763"/>
          </a:xfrm>
          <a:prstGeom prst="rect">
            <a:avLst/>
          </a:prstGeom>
        </p:spPr>
        <p:txBody>
          <a:bodyPr>
            <a:normAutofit fontScale="90000"/>
          </a:bodyPr>
          <a:lstStyle/>
          <a:p>
            <a:pPr defTabSz="850391">
              <a:defRPr sz="1860" b="1"/>
            </a:pPr>
            <a:r>
              <a:t>NORMA JURIDICĂ</a:t>
            </a:r>
            <a:br/>
            <a:r>
              <a:rPr b="0"/>
              <a:t>Aplicarea normelor juridice</a:t>
            </a:r>
          </a:p>
        </p:txBody>
      </p:sp>
      <p:sp>
        <p:nvSpPr>
          <p:cNvPr id="152" name="Content Placeholder 2"/>
          <p:cNvSpPr txBox="1">
            <a:spLocks noGrp="1"/>
          </p:cNvSpPr>
          <p:nvPr>
            <p:ph type="body" idx="1"/>
          </p:nvPr>
        </p:nvSpPr>
        <p:spPr>
          <a:xfrm>
            <a:off x="457200" y="914400"/>
            <a:ext cx="8458200" cy="5715000"/>
          </a:xfrm>
          <a:prstGeom prst="rect">
            <a:avLst/>
          </a:prstGeom>
        </p:spPr>
        <p:txBody>
          <a:bodyPr>
            <a:normAutofit/>
          </a:bodyPr>
          <a:lstStyle/>
          <a:p>
            <a:pPr marL="365125" indent="-365125" algn="just">
              <a:lnSpc>
                <a:spcPct val="80000"/>
              </a:lnSpc>
              <a:spcBef>
                <a:spcPts val="500"/>
              </a:spcBef>
              <a:buFont typeface="Helvetica"/>
              <a:buChar char="➢"/>
              <a:defRPr sz="2400" u="sng"/>
            </a:pPr>
            <a:r>
              <a:rPr lang="ro-RO" sz="2200" dirty="0" smtClean="0"/>
              <a:t>Excepţiile de extindere a aplicarii normelor juridice in spatiu</a:t>
            </a:r>
            <a:r>
              <a:rPr lang="ro-RO" sz="2200" u="none" dirty="0" smtClean="0"/>
              <a:t> sunt cele prevăzute de Codul penal:</a:t>
            </a:r>
          </a:p>
          <a:p>
            <a:pPr marL="438150" indent="-438150" algn="just">
              <a:lnSpc>
                <a:spcPct val="80000"/>
              </a:lnSpc>
              <a:spcBef>
                <a:spcPts val="500"/>
              </a:spcBef>
              <a:defRPr sz="2400"/>
            </a:pPr>
            <a:r>
              <a:rPr lang="ro-RO" sz="2200" dirty="0" smtClean="0"/>
              <a:t>legea penală</a:t>
            </a:r>
            <a:r>
              <a:rPr lang="en-US" sz="2200" dirty="0" smtClean="0"/>
              <a:t> </a:t>
            </a:r>
            <a:r>
              <a:rPr lang="ro-RO" sz="2200" dirty="0" smtClean="0"/>
              <a:t>română </a:t>
            </a:r>
            <a:r>
              <a:rPr lang="ro-RO" sz="2200" u="sng" dirty="0" smtClean="0"/>
              <a:t>se aplică</a:t>
            </a:r>
            <a:r>
              <a:rPr lang="en-US" sz="2200" u="sng" dirty="0" smtClean="0"/>
              <a:t>:</a:t>
            </a:r>
            <a:endParaRPr lang="ro-RO" sz="2200" u="sng" dirty="0" smtClean="0"/>
          </a:p>
          <a:p>
            <a:pPr marL="0" indent="0" algn="just">
              <a:lnSpc>
                <a:spcPct val="80000"/>
              </a:lnSpc>
              <a:spcBef>
                <a:spcPts val="500"/>
              </a:spcBef>
              <a:buNone/>
              <a:defRPr sz="2400"/>
            </a:pPr>
            <a:endParaRPr lang="ro-RO" sz="2200" dirty="0" smtClean="0"/>
          </a:p>
          <a:p>
            <a:pPr marL="0" indent="0" algn="just">
              <a:lnSpc>
                <a:spcPct val="80000"/>
              </a:lnSpc>
              <a:spcBef>
                <a:spcPts val="500"/>
              </a:spcBef>
              <a:buNone/>
              <a:defRPr sz="2400"/>
            </a:pPr>
            <a:r>
              <a:rPr lang="en-US" sz="2200" dirty="0" smtClean="0"/>
              <a:t>- </a:t>
            </a:r>
            <a:r>
              <a:rPr lang="ro-RO" sz="2200" u="sng" dirty="0" smtClean="0"/>
              <a:t>infracţiunilor săvârşite în afara teritoriului  ţării</a:t>
            </a:r>
            <a:r>
              <a:rPr lang="ro-RO" sz="2200" dirty="0" smtClean="0"/>
              <a:t>, dacă </a:t>
            </a:r>
            <a:r>
              <a:rPr lang="ro-RO" sz="2200" u="sng" dirty="0" smtClean="0"/>
              <a:t>făptuitorul este cetăţean roman sau</a:t>
            </a:r>
            <a:r>
              <a:rPr lang="ro-RO" sz="2200" dirty="0" smtClean="0"/>
              <a:t>, dacă nu are nicio cetăţenie, </a:t>
            </a:r>
            <a:r>
              <a:rPr lang="ro-RO" sz="2200" u="sng" dirty="0" smtClean="0"/>
              <a:t>are domiciliul în ţară</a:t>
            </a:r>
            <a:r>
              <a:rPr lang="ro-RO" sz="2200" dirty="0" smtClean="0"/>
              <a:t>.</a:t>
            </a:r>
            <a:endParaRPr lang="en-US" sz="2200" dirty="0" smtClean="0"/>
          </a:p>
          <a:p>
            <a:pPr marL="0" indent="0" algn="just">
              <a:lnSpc>
                <a:spcPct val="80000"/>
              </a:lnSpc>
              <a:spcBef>
                <a:spcPts val="500"/>
              </a:spcBef>
              <a:buNone/>
              <a:defRPr sz="2400"/>
            </a:pPr>
            <a:endParaRPr lang="en-US" sz="2200" dirty="0" smtClean="0"/>
          </a:p>
          <a:p>
            <a:pPr marL="0" indent="0" algn="just">
              <a:lnSpc>
                <a:spcPct val="80000"/>
              </a:lnSpc>
              <a:spcBef>
                <a:spcPts val="500"/>
              </a:spcBef>
              <a:buNone/>
              <a:defRPr sz="2400"/>
            </a:pPr>
            <a:r>
              <a:rPr lang="en-US" sz="2200" dirty="0" smtClean="0"/>
              <a:t>- </a:t>
            </a:r>
            <a:r>
              <a:rPr lang="ro-RO" sz="2200" u="sng" dirty="0" smtClean="0"/>
              <a:t>infracţiunilor săvârşite în afara teritoriului  ţării</a:t>
            </a:r>
            <a:r>
              <a:rPr lang="ro-RO" sz="2200" dirty="0" smtClean="0"/>
              <a:t>, dacă acestea </a:t>
            </a:r>
            <a:r>
              <a:rPr lang="ro-RO" sz="2200" u="sng" dirty="0" smtClean="0"/>
              <a:t>sunt îndreptate contra securităţii statului român</a:t>
            </a:r>
            <a:r>
              <a:rPr lang="ro-RO" sz="2200" dirty="0" smtClean="0"/>
              <a:t> sau </a:t>
            </a:r>
            <a:r>
              <a:rPr lang="ro-RO" sz="2200" u="sng" dirty="0" smtClean="0"/>
              <a:t>contra vieţii unui cetăţean român</a:t>
            </a:r>
            <a:r>
              <a:rPr lang="ro-RO" sz="2200" dirty="0" smtClean="0"/>
              <a:t>, când sunt comise de un cetăţean străin sau de o persoană fără cetăţenie care nu domiciliază pe teritoriul ţării.</a:t>
            </a:r>
          </a:p>
          <a:p>
            <a:pPr marL="438150" indent="-438150" algn="just">
              <a:lnSpc>
                <a:spcPct val="80000"/>
              </a:lnSpc>
              <a:spcBef>
                <a:spcPts val="500"/>
              </a:spcBef>
              <a:defRPr sz="2400"/>
            </a:pPr>
            <a:endParaRPr lang="en-US" sz="2200" dirty="0" smtClean="0"/>
          </a:p>
          <a:p>
            <a:pPr marL="0" indent="0" algn="just">
              <a:lnSpc>
                <a:spcPct val="80000"/>
              </a:lnSpc>
              <a:spcBef>
                <a:spcPts val="500"/>
              </a:spcBef>
              <a:buNone/>
              <a:defRPr sz="2400"/>
            </a:pPr>
            <a:r>
              <a:rPr lang="en-US" sz="2200" dirty="0" smtClean="0"/>
              <a:t>- </a:t>
            </a:r>
            <a:r>
              <a:rPr lang="ro-RO" sz="2200" u="sng" dirty="0" smtClean="0"/>
              <a:t>şi altor infracţiuni săvârşite în afara teritoriului  ţării, de un cetăţean străin sau de o persoană fără cetăţenie</a:t>
            </a:r>
            <a:r>
              <a:rPr lang="ro-RO" sz="2200" dirty="0" smtClean="0"/>
              <a:t>, care nu domiciliază pe teritoriul ţării noastre;</a:t>
            </a:r>
          </a:p>
          <a:p>
            <a:pPr marL="438150" indent="-438150" algn="just">
              <a:lnSpc>
                <a:spcPct val="80000"/>
              </a:lnSpc>
              <a:spcBef>
                <a:spcPts val="500"/>
              </a:spcBef>
              <a:defRPr sz="2400"/>
            </a:pPr>
            <a:endParaRPr lang="en-US" sz="2200" dirty="0" smtClean="0"/>
          </a:p>
          <a:p>
            <a:pPr marL="0" indent="0" algn="just">
              <a:lnSpc>
                <a:spcPct val="80000"/>
              </a:lnSpc>
              <a:spcBef>
                <a:spcPts val="500"/>
              </a:spcBef>
              <a:buNone/>
              <a:defRPr sz="2400"/>
            </a:pPr>
            <a:r>
              <a:rPr lang="en-US" sz="2200" dirty="0" smtClean="0"/>
              <a:t>- </a:t>
            </a:r>
            <a:r>
              <a:rPr lang="ro-RO" sz="2200" u="sng" dirty="0" smtClean="0"/>
              <a:t>infracţiunilor </a:t>
            </a:r>
            <a:r>
              <a:rPr lang="ro-RO" sz="2200" u="sng" dirty="0"/>
              <a:t>săvârşite în afara teritoriului  ţării </a:t>
            </a:r>
            <a:r>
              <a:rPr lang="ro-RO" sz="2200" dirty="0" smtClean="0"/>
              <a:t>fapta săvârşită este prevăzută ca infracţiune de legea noastră penală.</a:t>
            </a:r>
            <a:endParaRPr lang="ro-RO" sz="2200" dirty="0"/>
          </a:p>
        </p:txBody>
      </p:sp>
    </p:spTree>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 name="Title 1"/>
          <p:cNvSpPr txBox="1">
            <a:spLocks noGrp="1"/>
          </p:cNvSpPr>
          <p:nvPr>
            <p:ph type="title"/>
          </p:nvPr>
        </p:nvSpPr>
        <p:spPr>
          <a:xfrm>
            <a:off x="457200" y="274638"/>
            <a:ext cx="8229600" cy="411163"/>
          </a:xfrm>
          <a:prstGeom prst="rect">
            <a:avLst/>
          </a:prstGeom>
        </p:spPr>
        <p:txBody>
          <a:bodyPr/>
          <a:lstStyle>
            <a:lvl1pPr>
              <a:defRPr sz="2000" b="1"/>
            </a:lvl1pPr>
          </a:lstStyle>
          <a:p>
            <a:r>
              <a:t>NORMA JURIDICĂ</a:t>
            </a:r>
          </a:p>
        </p:txBody>
      </p:sp>
      <p:sp>
        <p:nvSpPr>
          <p:cNvPr id="155" name="Content Placeholder 2"/>
          <p:cNvSpPr txBox="1">
            <a:spLocks noGrp="1"/>
          </p:cNvSpPr>
          <p:nvPr>
            <p:ph type="body" idx="1"/>
          </p:nvPr>
        </p:nvSpPr>
        <p:spPr>
          <a:xfrm>
            <a:off x="457200" y="838200"/>
            <a:ext cx="8229600" cy="5791200"/>
          </a:xfrm>
          <a:prstGeom prst="rect">
            <a:avLst/>
          </a:prstGeom>
        </p:spPr>
        <p:txBody>
          <a:bodyPr>
            <a:normAutofit/>
          </a:bodyPr>
          <a:lstStyle/>
          <a:p>
            <a:pPr marL="0" indent="0" algn="just" defTabSz="905255">
              <a:spcBef>
                <a:spcPts val="500"/>
              </a:spcBef>
              <a:buSzTx/>
              <a:buNone/>
              <a:defRPr sz="2277" b="1"/>
            </a:pPr>
            <a:r>
              <a:rPr sz="2200" dirty="0"/>
              <a:t>C. APLICAREA NORMEI JURIDICE ASUPRA PERSOANELOR:</a:t>
            </a:r>
          </a:p>
          <a:p>
            <a:pPr marL="0" indent="0" algn="just" defTabSz="905255">
              <a:buSzTx/>
              <a:buNone/>
              <a:defRPr sz="2277" b="1"/>
            </a:pPr>
            <a:endParaRPr sz="2200" dirty="0"/>
          </a:p>
          <a:p>
            <a:pPr marL="339470" indent="-339470" algn="just" defTabSz="896202">
              <a:lnSpc>
                <a:spcPct val="90000"/>
              </a:lnSpc>
              <a:spcBef>
                <a:spcPts val="500"/>
              </a:spcBef>
              <a:buFontTx/>
              <a:buChar char="➢"/>
              <a:defRPr sz="2277"/>
            </a:pPr>
            <a:r>
              <a:rPr sz="2200" dirty="0"/>
              <a:t>Norma </a:t>
            </a:r>
            <a:r>
              <a:rPr sz="2200" dirty="0" err="1"/>
              <a:t>juridică</a:t>
            </a:r>
            <a:r>
              <a:rPr sz="2200" dirty="0"/>
              <a:t> se </a:t>
            </a:r>
            <a:r>
              <a:rPr sz="2200" dirty="0" err="1"/>
              <a:t>aplică</a:t>
            </a:r>
            <a:r>
              <a:rPr sz="2200" dirty="0"/>
              <a:t> </a:t>
            </a:r>
            <a:r>
              <a:rPr sz="2200" dirty="0" err="1"/>
              <a:t>în</a:t>
            </a:r>
            <a:r>
              <a:rPr sz="2200" dirty="0"/>
              <a:t> mod </a:t>
            </a:r>
            <a:r>
              <a:rPr sz="2200" dirty="0" err="1"/>
              <a:t>egal</a:t>
            </a:r>
            <a:r>
              <a:rPr sz="2200" dirty="0"/>
              <a:t> </a:t>
            </a:r>
            <a:r>
              <a:rPr sz="2200" dirty="0" err="1"/>
              <a:t>faţă</a:t>
            </a:r>
            <a:r>
              <a:rPr sz="2200" dirty="0"/>
              <a:t> de </a:t>
            </a:r>
            <a:r>
              <a:rPr sz="2200" dirty="0" err="1"/>
              <a:t>toate</a:t>
            </a:r>
            <a:r>
              <a:rPr sz="2200" dirty="0"/>
              <a:t> </a:t>
            </a:r>
            <a:r>
              <a:rPr sz="2200" dirty="0" err="1"/>
              <a:t>persoanele</a:t>
            </a:r>
            <a:r>
              <a:rPr sz="2200" dirty="0"/>
              <a:t>, </a:t>
            </a:r>
            <a:r>
              <a:rPr sz="2200" dirty="0" err="1"/>
              <a:t>indiferent</a:t>
            </a:r>
            <a:r>
              <a:rPr sz="2200" dirty="0"/>
              <a:t> de </a:t>
            </a:r>
            <a:r>
              <a:rPr sz="2200" dirty="0" err="1"/>
              <a:t>naţionalitate</a:t>
            </a:r>
            <a:r>
              <a:rPr sz="2200" dirty="0"/>
              <a:t>, </a:t>
            </a:r>
            <a:r>
              <a:rPr sz="2200" dirty="0" err="1"/>
              <a:t>cetatenie</a:t>
            </a:r>
            <a:r>
              <a:rPr sz="2200" dirty="0"/>
              <a:t>, </a:t>
            </a:r>
            <a:r>
              <a:rPr sz="2200" dirty="0" err="1"/>
              <a:t>rasă</a:t>
            </a:r>
            <a:r>
              <a:rPr sz="2200" dirty="0"/>
              <a:t>, sex, </a:t>
            </a:r>
            <a:r>
              <a:rPr sz="2200" dirty="0" err="1"/>
              <a:t>religie</a:t>
            </a:r>
            <a:r>
              <a:rPr sz="2200" dirty="0"/>
              <a:t>, </a:t>
            </a:r>
            <a:r>
              <a:rPr sz="2200" dirty="0" err="1"/>
              <a:t>apartenenţă</a:t>
            </a:r>
            <a:r>
              <a:rPr sz="2200" dirty="0"/>
              <a:t> </a:t>
            </a:r>
            <a:r>
              <a:rPr sz="2200" dirty="0" err="1"/>
              <a:t>politică</a:t>
            </a:r>
            <a:r>
              <a:rPr sz="2200" dirty="0"/>
              <a:t>, stare </a:t>
            </a:r>
            <a:r>
              <a:rPr sz="2200" dirty="0" err="1"/>
              <a:t>socială</a:t>
            </a:r>
            <a:r>
              <a:rPr sz="2200" dirty="0"/>
              <a:t> etc.</a:t>
            </a:r>
          </a:p>
          <a:p>
            <a:pPr marL="339470" indent="-339470" algn="just" defTabSz="896202">
              <a:lnSpc>
                <a:spcPct val="90000"/>
              </a:lnSpc>
              <a:spcBef>
                <a:spcPts val="500"/>
              </a:spcBef>
              <a:buFontTx/>
              <a:buChar char="➢"/>
              <a:defRPr sz="2277"/>
            </a:pPr>
            <a:r>
              <a:rPr sz="2200" dirty="0"/>
              <a:t>Are la </a:t>
            </a:r>
            <a:r>
              <a:rPr sz="2200" dirty="0" err="1"/>
              <a:t>bază</a:t>
            </a:r>
            <a:r>
              <a:rPr sz="2200" dirty="0"/>
              <a:t> </a:t>
            </a:r>
            <a:r>
              <a:rPr sz="2200" dirty="0" err="1"/>
              <a:t>principiul</a:t>
            </a:r>
            <a:r>
              <a:rPr sz="2200" dirty="0"/>
              <a:t> </a:t>
            </a:r>
            <a:r>
              <a:rPr sz="2200" dirty="0" err="1"/>
              <a:t>egalităţii</a:t>
            </a:r>
            <a:r>
              <a:rPr sz="2200" dirty="0"/>
              <a:t> </a:t>
            </a:r>
            <a:r>
              <a:rPr sz="2200" dirty="0" err="1"/>
              <a:t>în</a:t>
            </a:r>
            <a:r>
              <a:rPr sz="2200" dirty="0"/>
              <a:t> </a:t>
            </a:r>
            <a:r>
              <a:rPr sz="2200" dirty="0" err="1"/>
              <a:t>drepturi</a:t>
            </a:r>
            <a:r>
              <a:rPr sz="2200" dirty="0"/>
              <a:t> a </a:t>
            </a:r>
            <a:r>
              <a:rPr sz="2200" dirty="0" err="1"/>
              <a:t>tuturor</a:t>
            </a:r>
            <a:r>
              <a:rPr sz="2200" dirty="0"/>
              <a:t> </a:t>
            </a:r>
            <a:r>
              <a:rPr sz="2200" dirty="0" err="1"/>
              <a:t>cetăţenilor</a:t>
            </a:r>
            <a:r>
              <a:rPr sz="2200" dirty="0"/>
              <a:t> </a:t>
            </a:r>
            <a:r>
              <a:rPr sz="2200" dirty="0" err="1"/>
              <a:t>în</a:t>
            </a:r>
            <a:r>
              <a:rPr sz="2200" dirty="0"/>
              <a:t> </a:t>
            </a:r>
            <a:r>
              <a:rPr sz="2200" dirty="0" err="1"/>
              <a:t>România</a:t>
            </a:r>
            <a:r>
              <a:rPr sz="2200" dirty="0" smtClean="0"/>
              <a:t>.</a:t>
            </a:r>
            <a:r>
              <a:rPr lang="ro-RO" sz="2200" dirty="0" smtClean="0"/>
              <a:t> Art. 16 din Constituție: </a:t>
            </a:r>
            <a:r>
              <a:rPr lang="en-US" sz="2200" dirty="0" smtClean="0"/>
              <a:t>“</a:t>
            </a:r>
            <a:r>
              <a:rPr lang="ro-RO" sz="2200" i="1" dirty="0"/>
              <a:t>Cetăţenii sunt egali în faţa legii şi a autorităţilor publice, fără privilegii şi fără </a:t>
            </a:r>
            <a:r>
              <a:rPr lang="ro-RO" sz="2200" i="1" dirty="0" smtClean="0"/>
              <a:t>discriminări.</a:t>
            </a:r>
            <a:r>
              <a:rPr lang="en-US" sz="2200" i="1" dirty="0" smtClean="0"/>
              <a:t> </a:t>
            </a:r>
            <a:r>
              <a:rPr lang="ro-RO" sz="2200" i="1" dirty="0" smtClean="0"/>
              <a:t>Nimeni </a:t>
            </a:r>
            <a:r>
              <a:rPr lang="ro-RO" sz="2200" i="1" dirty="0"/>
              <a:t>nu este mai presus de lege</a:t>
            </a:r>
            <a:r>
              <a:rPr lang="ro-RO" sz="2200" i="1" dirty="0" smtClean="0"/>
              <a:t>.</a:t>
            </a:r>
            <a:r>
              <a:rPr lang="en-US" sz="2200" dirty="0" smtClean="0"/>
              <a:t>”</a:t>
            </a:r>
            <a:endParaRPr sz="2200" dirty="0"/>
          </a:p>
          <a:p>
            <a:pPr marL="339470" indent="-339470" algn="just" defTabSz="896202">
              <a:lnSpc>
                <a:spcPct val="90000"/>
              </a:lnSpc>
              <a:spcBef>
                <a:spcPts val="500"/>
              </a:spcBef>
              <a:buFontTx/>
              <a:buChar char="➢"/>
              <a:defRPr sz="2277"/>
            </a:pPr>
            <a:r>
              <a:rPr sz="2200" dirty="0" err="1"/>
              <a:t>Dreptul</a:t>
            </a:r>
            <a:r>
              <a:rPr sz="2200" dirty="0"/>
              <a:t> </a:t>
            </a:r>
            <a:r>
              <a:rPr sz="2200" dirty="0" err="1"/>
              <a:t>român</a:t>
            </a:r>
            <a:r>
              <a:rPr sz="2200" dirty="0"/>
              <a:t> </a:t>
            </a:r>
            <a:r>
              <a:rPr sz="2200" dirty="0" err="1"/>
              <a:t>consacră</a:t>
            </a:r>
            <a:r>
              <a:rPr sz="2200" dirty="0"/>
              <a:t> </a:t>
            </a:r>
            <a:r>
              <a:rPr sz="2200" dirty="0" err="1"/>
              <a:t>principiul</a:t>
            </a:r>
            <a:r>
              <a:rPr sz="2200" dirty="0"/>
              <a:t> </a:t>
            </a:r>
            <a:r>
              <a:rPr sz="2200" b="1" u="sng" dirty="0" err="1"/>
              <a:t>regimului</a:t>
            </a:r>
            <a:r>
              <a:rPr sz="2200" b="1" u="sng" dirty="0"/>
              <a:t> </a:t>
            </a:r>
            <a:r>
              <a:rPr sz="2200" b="1" u="sng" dirty="0" err="1"/>
              <a:t>naţional</a:t>
            </a:r>
            <a:r>
              <a:rPr sz="2200" b="1" u="sng" dirty="0"/>
              <a:t> al </a:t>
            </a:r>
            <a:r>
              <a:rPr sz="2200" b="1" u="sng" dirty="0" err="1"/>
              <a:t>străinilor</a:t>
            </a:r>
            <a:r>
              <a:rPr sz="2200" dirty="0"/>
              <a:t>, </a:t>
            </a:r>
            <a:r>
              <a:rPr sz="2200" dirty="0" err="1"/>
              <a:t>potrivit</a:t>
            </a:r>
            <a:r>
              <a:rPr sz="2200" dirty="0"/>
              <a:t> </a:t>
            </a:r>
            <a:r>
              <a:rPr sz="2200" dirty="0" err="1"/>
              <a:t>căruia</a:t>
            </a:r>
            <a:r>
              <a:rPr sz="2200" dirty="0"/>
              <a:t> </a:t>
            </a:r>
            <a:r>
              <a:rPr sz="2200" b="1" u="sng" dirty="0" err="1"/>
              <a:t>străinii</a:t>
            </a:r>
            <a:r>
              <a:rPr sz="2200" b="1" u="sng" dirty="0"/>
              <a:t> au </a:t>
            </a:r>
            <a:r>
              <a:rPr sz="2200" b="1" u="sng" dirty="0" err="1"/>
              <a:t>drepturile</a:t>
            </a:r>
            <a:r>
              <a:rPr sz="2200" b="1" u="sng" dirty="0"/>
              <a:t> </a:t>
            </a:r>
            <a:r>
              <a:rPr sz="2200" b="1" u="sng" dirty="0" err="1"/>
              <a:t>fundamentale</a:t>
            </a:r>
            <a:r>
              <a:rPr sz="2200" b="1" u="sng" dirty="0"/>
              <a:t> ale </a:t>
            </a:r>
            <a:r>
              <a:rPr sz="2200" b="1" u="sng" dirty="0" err="1"/>
              <a:t>cetăţenilor</a:t>
            </a:r>
            <a:r>
              <a:rPr sz="2200" b="1" u="sng" dirty="0"/>
              <a:t> </a:t>
            </a:r>
            <a:r>
              <a:rPr sz="2200" b="1" u="sng" dirty="0" err="1"/>
              <a:t>români</a:t>
            </a:r>
            <a:r>
              <a:rPr sz="2200" dirty="0"/>
              <a:t> (</a:t>
            </a:r>
            <a:r>
              <a:rPr sz="2200" dirty="0" err="1"/>
              <a:t>drepturi</a:t>
            </a:r>
            <a:r>
              <a:rPr sz="2200" dirty="0"/>
              <a:t> </a:t>
            </a:r>
            <a:r>
              <a:rPr sz="2200" dirty="0" err="1"/>
              <a:t>civile</a:t>
            </a:r>
            <a:r>
              <a:rPr sz="2200" dirty="0"/>
              <a:t>, </a:t>
            </a:r>
            <a:r>
              <a:rPr sz="2200" dirty="0" err="1"/>
              <a:t>dreptul</a:t>
            </a:r>
            <a:r>
              <a:rPr sz="2200" dirty="0"/>
              <a:t> la </a:t>
            </a:r>
            <a:r>
              <a:rPr sz="2200" dirty="0" err="1"/>
              <a:t>muncă</a:t>
            </a:r>
            <a:r>
              <a:rPr sz="2200" dirty="0"/>
              <a:t> </a:t>
            </a:r>
            <a:r>
              <a:rPr sz="2200" dirty="0" err="1"/>
              <a:t>şi</a:t>
            </a:r>
            <a:r>
              <a:rPr sz="2200" dirty="0"/>
              <a:t> </a:t>
            </a:r>
            <a:r>
              <a:rPr sz="2200" dirty="0" err="1"/>
              <a:t>alte</a:t>
            </a:r>
            <a:r>
              <a:rPr sz="2200" dirty="0"/>
              <a:t> </a:t>
            </a:r>
            <a:r>
              <a:rPr sz="2200" dirty="0" err="1"/>
              <a:t>drepturi</a:t>
            </a:r>
            <a:r>
              <a:rPr sz="2200" dirty="0"/>
              <a:t> </a:t>
            </a:r>
            <a:r>
              <a:rPr sz="2200" dirty="0" err="1"/>
              <a:t>recunoscute</a:t>
            </a:r>
            <a:r>
              <a:rPr sz="2200" dirty="0"/>
              <a:t> </a:t>
            </a:r>
            <a:r>
              <a:rPr sz="2200" dirty="0" err="1"/>
              <a:t>în</a:t>
            </a:r>
            <a:r>
              <a:rPr sz="2200" dirty="0"/>
              <a:t> </a:t>
            </a:r>
            <a:r>
              <a:rPr sz="2200" dirty="0" err="1"/>
              <a:t>baza</a:t>
            </a:r>
            <a:r>
              <a:rPr sz="2200" dirty="0"/>
              <a:t> </a:t>
            </a:r>
            <a:r>
              <a:rPr sz="2200" dirty="0" err="1"/>
              <a:t>unor</a:t>
            </a:r>
            <a:r>
              <a:rPr sz="2200" dirty="0"/>
              <a:t> </a:t>
            </a:r>
            <a:r>
              <a:rPr sz="2200" dirty="0" err="1"/>
              <a:t>acorduri</a:t>
            </a:r>
            <a:r>
              <a:rPr sz="2200" dirty="0"/>
              <a:t> </a:t>
            </a:r>
            <a:r>
              <a:rPr sz="2200" dirty="0" err="1"/>
              <a:t>internaţionale</a:t>
            </a:r>
            <a:r>
              <a:rPr sz="2200" dirty="0"/>
              <a:t>), cu </a:t>
            </a:r>
            <a:r>
              <a:rPr sz="2200" dirty="0" err="1"/>
              <a:t>excepţii</a:t>
            </a:r>
            <a:r>
              <a:rPr sz="2200" dirty="0"/>
              <a:t>: ex: </a:t>
            </a:r>
            <a:r>
              <a:rPr sz="2200" dirty="0" err="1"/>
              <a:t>dreptul</a:t>
            </a:r>
            <a:r>
              <a:rPr sz="2200" dirty="0"/>
              <a:t> de </a:t>
            </a:r>
            <a:r>
              <a:rPr sz="2200" dirty="0" err="1"/>
              <a:t>proprietate</a:t>
            </a:r>
            <a:r>
              <a:rPr sz="2200" dirty="0"/>
              <a:t> </a:t>
            </a:r>
            <a:r>
              <a:rPr sz="2200" dirty="0" err="1"/>
              <a:t>asupra</a:t>
            </a:r>
            <a:r>
              <a:rPr sz="2200" dirty="0"/>
              <a:t> </a:t>
            </a:r>
            <a:r>
              <a:rPr lang="ro-RO" sz="2200" dirty="0" smtClean="0"/>
              <a:t>terenurilor</a:t>
            </a:r>
            <a:r>
              <a:rPr lang="en-US" sz="2200" dirty="0" smtClean="0"/>
              <a:t>.</a:t>
            </a:r>
            <a:endParaRPr sz="2200" dirty="0"/>
          </a:p>
          <a:p>
            <a:pPr marL="339470" indent="-339470" algn="just" defTabSz="896202">
              <a:lnSpc>
                <a:spcPct val="90000"/>
              </a:lnSpc>
              <a:spcBef>
                <a:spcPts val="500"/>
              </a:spcBef>
              <a:buFontTx/>
              <a:buChar char="➢"/>
              <a:defRPr sz="2277"/>
            </a:pPr>
            <a:r>
              <a:rPr sz="2200" dirty="0" err="1"/>
              <a:t>Regimul</a:t>
            </a:r>
            <a:r>
              <a:rPr sz="2200" dirty="0"/>
              <a:t> </a:t>
            </a:r>
            <a:r>
              <a:rPr sz="2200" dirty="0" err="1"/>
              <a:t>cetăţenilor</a:t>
            </a:r>
            <a:r>
              <a:rPr sz="2200" dirty="0"/>
              <a:t> </a:t>
            </a:r>
            <a:r>
              <a:rPr sz="2200" dirty="0" err="1"/>
              <a:t>străini</a:t>
            </a:r>
            <a:r>
              <a:rPr sz="2200" dirty="0"/>
              <a:t> se </a:t>
            </a:r>
            <a:r>
              <a:rPr sz="2200" dirty="0" err="1"/>
              <a:t>întemeiază</a:t>
            </a:r>
            <a:r>
              <a:rPr sz="2200" dirty="0"/>
              <a:t> </a:t>
            </a:r>
            <a:r>
              <a:rPr sz="2200" dirty="0" err="1"/>
              <a:t>pe</a:t>
            </a:r>
            <a:r>
              <a:rPr sz="2200" dirty="0"/>
              <a:t> </a:t>
            </a:r>
            <a:r>
              <a:rPr sz="2200" b="1" u="sng" dirty="0" err="1"/>
              <a:t>principiul</a:t>
            </a:r>
            <a:r>
              <a:rPr sz="2200" b="1" u="sng" dirty="0"/>
              <a:t> </a:t>
            </a:r>
            <a:r>
              <a:rPr sz="2200" b="1" u="sng" dirty="0" err="1"/>
              <a:t>reciprocităţii</a:t>
            </a:r>
            <a:r>
              <a:rPr sz="2200" dirty="0"/>
              <a:t>, </a:t>
            </a:r>
            <a:r>
              <a:rPr sz="2200" dirty="0" err="1"/>
              <a:t>pretinzând</a:t>
            </a:r>
            <a:r>
              <a:rPr sz="2200" dirty="0"/>
              <a:t> ca </a:t>
            </a:r>
            <a:r>
              <a:rPr sz="2200" dirty="0" err="1"/>
              <a:t>şi</a:t>
            </a:r>
            <a:r>
              <a:rPr sz="2200" dirty="0"/>
              <a:t> </a:t>
            </a:r>
            <a:r>
              <a:rPr sz="2200" dirty="0" err="1"/>
              <a:t>cetăţenilor</a:t>
            </a:r>
            <a:r>
              <a:rPr sz="2200" dirty="0"/>
              <a:t> </a:t>
            </a:r>
            <a:r>
              <a:rPr sz="2200" dirty="0" err="1"/>
              <a:t>români</a:t>
            </a:r>
            <a:r>
              <a:rPr sz="2200" dirty="0"/>
              <a:t> </a:t>
            </a:r>
            <a:r>
              <a:rPr sz="2200" dirty="0" err="1"/>
              <a:t>aflaţi</a:t>
            </a:r>
            <a:r>
              <a:rPr sz="2200" dirty="0"/>
              <a:t> </a:t>
            </a:r>
            <a:r>
              <a:rPr sz="2200" dirty="0" err="1"/>
              <a:t>pe</a:t>
            </a:r>
            <a:r>
              <a:rPr sz="2200" dirty="0"/>
              <a:t> </a:t>
            </a:r>
            <a:r>
              <a:rPr sz="2200" dirty="0" err="1"/>
              <a:t>teritoriul</a:t>
            </a:r>
            <a:r>
              <a:rPr sz="2200" dirty="0"/>
              <a:t> </a:t>
            </a:r>
            <a:r>
              <a:rPr sz="2200" dirty="0" err="1"/>
              <a:t>altor</a:t>
            </a:r>
            <a:r>
              <a:rPr sz="2200" dirty="0"/>
              <a:t> state </a:t>
            </a:r>
            <a:r>
              <a:rPr sz="2200" dirty="0" err="1"/>
              <a:t>să</a:t>
            </a:r>
            <a:r>
              <a:rPr sz="2200" dirty="0"/>
              <a:t> li se </a:t>
            </a:r>
            <a:r>
              <a:rPr sz="2200" dirty="0" err="1"/>
              <a:t>recunoască</a:t>
            </a:r>
            <a:r>
              <a:rPr sz="2200" dirty="0"/>
              <a:t> </a:t>
            </a:r>
            <a:r>
              <a:rPr sz="2200" dirty="0" err="1"/>
              <a:t>drepturile</a:t>
            </a:r>
            <a:r>
              <a:rPr sz="2200" dirty="0"/>
              <a:t> </a:t>
            </a:r>
            <a:r>
              <a:rPr sz="2200" dirty="0" err="1"/>
              <a:t>acordate</a:t>
            </a:r>
            <a:r>
              <a:rPr sz="2200" dirty="0"/>
              <a:t> </a:t>
            </a:r>
            <a:r>
              <a:rPr sz="2200" dirty="0" err="1"/>
              <a:t>străinilor</a:t>
            </a:r>
            <a:r>
              <a:rPr sz="2200" dirty="0"/>
              <a:t> </a:t>
            </a:r>
            <a:r>
              <a:rPr sz="2200" dirty="0" err="1"/>
              <a:t>în</a:t>
            </a:r>
            <a:r>
              <a:rPr sz="2200" dirty="0"/>
              <a:t> </a:t>
            </a:r>
            <a:r>
              <a:rPr sz="2200" dirty="0" err="1"/>
              <a:t>ţara</a:t>
            </a:r>
            <a:r>
              <a:rPr sz="2200" dirty="0"/>
              <a:t> </a:t>
            </a:r>
            <a:r>
              <a:rPr sz="2200" dirty="0" err="1"/>
              <a:t>noastră</a:t>
            </a:r>
            <a:r>
              <a:rPr sz="2200" dirty="0"/>
              <a:t>.</a:t>
            </a:r>
          </a:p>
        </p:txBody>
      </p:sp>
    </p:spTree>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 name="Title 1"/>
          <p:cNvSpPr txBox="1">
            <a:spLocks noGrp="1"/>
          </p:cNvSpPr>
          <p:nvPr>
            <p:ph type="title"/>
          </p:nvPr>
        </p:nvSpPr>
        <p:spPr>
          <a:xfrm>
            <a:off x="457200" y="274638"/>
            <a:ext cx="8229600" cy="715963"/>
          </a:xfrm>
          <a:prstGeom prst="rect">
            <a:avLst/>
          </a:prstGeom>
        </p:spPr>
        <p:txBody>
          <a:bodyPr>
            <a:normAutofit fontScale="90000"/>
          </a:bodyPr>
          <a:lstStyle/>
          <a:p>
            <a:pPr defTabSz="859536">
              <a:defRPr sz="2068" b="1"/>
            </a:pPr>
            <a:r>
              <a:t>NORMA JURIDICĂ</a:t>
            </a:r>
            <a:br/>
            <a:r>
              <a:rPr b="0"/>
              <a:t>Interpretarea normelor de drept civil</a:t>
            </a:r>
          </a:p>
        </p:txBody>
      </p:sp>
      <p:sp>
        <p:nvSpPr>
          <p:cNvPr id="158" name="Content Placeholder 2"/>
          <p:cNvSpPr txBox="1">
            <a:spLocks noGrp="1"/>
          </p:cNvSpPr>
          <p:nvPr>
            <p:ph type="body" idx="1"/>
          </p:nvPr>
        </p:nvSpPr>
        <p:spPr>
          <a:xfrm>
            <a:off x="457200" y="1143000"/>
            <a:ext cx="8458200" cy="5486400"/>
          </a:xfrm>
          <a:prstGeom prst="rect">
            <a:avLst/>
          </a:prstGeom>
        </p:spPr>
        <p:txBody>
          <a:bodyPr/>
          <a:lstStyle/>
          <a:p>
            <a:pPr marL="0" indent="0" algn="just" defTabSz="868680">
              <a:lnSpc>
                <a:spcPct val="90000"/>
              </a:lnSpc>
              <a:spcBef>
                <a:spcPts val="500"/>
              </a:spcBef>
              <a:buSzTx/>
              <a:buNone/>
              <a:defRPr sz="2090"/>
            </a:pPr>
            <a:r>
              <a:rPr dirty="0"/>
              <a:t>a. </a:t>
            </a:r>
            <a:r>
              <a:rPr b="1" u="sng" dirty="0" err="1"/>
              <a:t>oficială</a:t>
            </a:r>
            <a:r>
              <a:rPr b="1" u="sng" dirty="0"/>
              <a:t> </a:t>
            </a:r>
            <a:r>
              <a:rPr b="1" u="sng" dirty="0" err="1"/>
              <a:t>sau</a:t>
            </a:r>
            <a:r>
              <a:rPr b="1" u="sng" dirty="0"/>
              <a:t> </a:t>
            </a:r>
            <a:r>
              <a:rPr b="1" u="sng" dirty="0" err="1"/>
              <a:t>obligatorie</a:t>
            </a:r>
            <a:r>
              <a:rPr b="1" dirty="0"/>
              <a:t>:</a:t>
            </a:r>
            <a:r>
              <a:rPr dirty="0"/>
              <a:t> </a:t>
            </a:r>
            <a:r>
              <a:rPr dirty="0" err="1"/>
              <a:t>provine</a:t>
            </a:r>
            <a:r>
              <a:rPr dirty="0"/>
              <a:t> de la un organ de stat competent.</a:t>
            </a:r>
          </a:p>
          <a:p>
            <a:pPr marL="0" indent="0" algn="just" defTabSz="868680">
              <a:lnSpc>
                <a:spcPct val="90000"/>
              </a:lnSpc>
              <a:spcBef>
                <a:spcPts val="500"/>
              </a:spcBef>
              <a:buSzTx/>
              <a:buNone/>
              <a:defRPr sz="2090"/>
            </a:pPr>
            <a:r>
              <a:rPr dirty="0"/>
              <a:t>	</a:t>
            </a:r>
            <a:r>
              <a:rPr dirty="0" err="1"/>
              <a:t>Interpretarea</a:t>
            </a:r>
            <a:r>
              <a:rPr dirty="0"/>
              <a:t> </a:t>
            </a:r>
            <a:r>
              <a:rPr dirty="0" err="1"/>
              <a:t>oficială</a:t>
            </a:r>
            <a:r>
              <a:rPr dirty="0"/>
              <a:t>, la </a:t>
            </a:r>
            <a:r>
              <a:rPr dirty="0" err="1"/>
              <a:t>rându-i</a:t>
            </a:r>
            <a:r>
              <a:rPr dirty="0"/>
              <a:t> </a:t>
            </a:r>
            <a:r>
              <a:rPr dirty="0" err="1"/>
              <a:t>este</a:t>
            </a:r>
            <a:r>
              <a:rPr dirty="0"/>
              <a:t> </a:t>
            </a:r>
            <a:r>
              <a:rPr b="1" u="sng" dirty="0" err="1"/>
              <a:t>generală</a:t>
            </a:r>
            <a:r>
              <a:rPr dirty="0"/>
              <a:t> </a:t>
            </a:r>
            <a:r>
              <a:rPr dirty="0" err="1"/>
              <a:t>şi</a:t>
            </a:r>
            <a:r>
              <a:rPr dirty="0"/>
              <a:t> </a:t>
            </a:r>
            <a:r>
              <a:rPr b="1" u="sng" dirty="0" err="1"/>
              <a:t>cazuală</a:t>
            </a:r>
            <a:r>
              <a:rPr dirty="0"/>
              <a:t>.</a:t>
            </a:r>
          </a:p>
          <a:p>
            <a:pPr marL="0" indent="0" algn="just" defTabSz="868680">
              <a:lnSpc>
                <a:spcPct val="90000"/>
              </a:lnSpc>
              <a:buSzTx/>
              <a:buNone/>
              <a:defRPr sz="2090"/>
            </a:pPr>
            <a:endParaRPr dirty="0"/>
          </a:p>
          <a:p>
            <a:pPr marL="0" indent="0" algn="just" defTabSz="868680">
              <a:lnSpc>
                <a:spcPct val="90000"/>
              </a:lnSpc>
              <a:spcBef>
                <a:spcPts val="500"/>
              </a:spcBef>
              <a:buSzTx/>
              <a:buNone/>
              <a:defRPr sz="2090"/>
            </a:pPr>
            <a:r>
              <a:rPr dirty="0"/>
              <a:t>	</a:t>
            </a:r>
            <a:r>
              <a:rPr dirty="0" err="1"/>
              <a:t>Interpretarea</a:t>
            </a:r>
            <a:r>
              <a:rPr dirty="0"/>
              <a:t> </a:t>
            </a:r>
            <a:r>
              <a:rPr u="sng" dirty="0" err="1"/>
              <a:t>generală</a:t>
            </a:r>
            <a:r>
              <a:rPr dirty="0"/>
              <a:t> se </a:t>
            </a:r>
            <a:r>
              <a:rPr dirty="0" err="1"/>
              <a:t>caracterizează</a:t>
            </a:r>
            <a:r>
              <a:rPr dirty="0"/>
              <a:t> </a:t>
            </a:r>
            <a:r>
              <a:rPr dirty="0" err="1"/>
              <a:t>prin</a:t>
            </a:r>
            <a:r>
              <a:rPr dirty="0"/>
              <a:t> </a:t>
            </a:r>
            <a:r>
              <a:rPr dirty="0" err="1"/>
              <a:t>faptul</a:t>
            </a:r>
            <a:r>
              <a:rPr dirty="0"/>
              <a:t> </a:t>
            </a:r>
            <a:r>
              <a:rPr dirty="0" err="1"/>
              <a:t>că</a:t>
            </a:r>
            <a:r>
              <a:rPr dirty="0"/>
              <a:t> </a:t>
            </a:r>
            <a:r>
              <a:rPr dirty="0" err="1"/>
              <a:t>este</a:t>
            </a:r>
            <a:r>
              <a:rPr dirty="0"/>
              <a:t> </a:t>
            </a:r>
            <a:r>
              <a:rPr dirty="0" err="1"/>
              <a:t>dată</a:t>
            </a:r>
            <a:r>
              <a:rPr dirty="0"/>
              <a:t> </a:t>
            </a:r>
            <a:r>
              <a:rPr dirty="0" err="1"/>
              <a:t>în</a:t>
            </a:r>
            <a:r>
              <a:rPr dirty="0"/>
              <a:t> forma </a:t>
            </a:r>
            <a:r>
              <a:rPr dirty="0" err="1"/>
              <a:t>unui</a:t>
            </a:r>
            <a:r>
              <a:rPr dirty="0"/>
              <a:t> act </a:t>
            </a:r>
            <a:r>
              <a:rPr dirty="0" err="1"/>
              <a:t>normativ</a:t>
            </a:r>
            <a:r>
              <a:rPr dirty="0"/>
              <a:t> </a:t>
            </a:r>
            <a:r>
              <a:rPr dirty="0" err="1"/>
              <a:t>ce</a:t>
            </a:r>
            <a:r>
              <a:rPr dirty="0"/>
              <a:t> face </a:t>
            </a:r>
            <a:r>
              <a:rPr dirty="0" err="1"/>
              <a:t>corp</a:t>
            </a:r>
            <a:r>
              <a:rPr dirty="0"/>
              <a:t> </a:t>
            </a:r>
            <a:r>
              <a:rPr dirty="0" err="1"/>
              <a:t>comun</a:t>
            </a:r>
            <a:r>
              <a:rPr dirty="0"/>
              <a:t> cu </a:t>
            </a:r>
            <a:r>
              <a:rPr dirty="0" err="1"/>
              <a:t>prevederile</a:t>
            </a:r>
            <a:r>
              <a:rPr dirty="0"/>
              <a:t> </a:t>
            </a:r>
            <a:r>
              <a:rPr dirty="0" err="1"/>
              <a:t>normei</a:t>
            </a:r>
            <a:r>
              <a:rPr dirty="0"/>
              <a:t> </a:t>
            </a:r>
            <a:r>
              <a:rPr dirty="0" err="1"/>
              <a:t>interpretate</a:t>
            </a:r>
            <a:r>
              <a:rPr dirty="0"/>
              <a:t>. O </a:t>
            </a:r>
            <a:r>
              <a:rPr dirty="0" err="1"/>
              <a:t>deosebită</a:t>
            </a:r>
            <a:r>
              <a:rPr dirty="0"/>
              <a:t> </a:t>
            </a:r>
            <a:r>
              <a:rPr dirty="0" err="1"/>
              <a:t>însemnătate</a:t>
            </a:r>
            <a:r>
              <a:rPr dirty="0"/>
              <a:t> o </a:t>
            </a:r>
            <a:r>
              <a:rPr dirty="0" err="1"/>
              <a:t>prezintă</a:t>
            </a:r>
            <a:r>
              <a:rPr dirty="0"/>
              <a:t> </a:t>
            </a:r>
            <a:r>
              <a:rPr dirty="0" err="1"/>
              <a:t>interpretarea</a:t>
            </a:r>
            <a:r>
              <a:rPr dirty="0"/>
              <a:t> </a:t>
            </a:r>
            <a:r>
              <a:rPr dirty="0" err="1"/>
              <a:t>generală</a:t>
            </a:r>
            <a:r>
              <a:rPr dirty="0"/>
              <a:t> a </a:t>
            </a:r>
            <a:r>
              <a:rPr dirty="0" err="1"/>
              <a:t>legilor</a:t>
            </a:r>
            <a:r>
              <a:rPr dirty="0"/>
              <a:t> care </a:t>
            </a:r>
            <a:r>
              <a:rPr dirty="0" err="1"/>
              <a:t>este</a:t>
            </a:r>
            <a:r>
              <a:rPr dirty="0"/>
              <a:t> </a:t>
            </a:r>
            <a:r>
              <a:rPr dirty="0" err="1"/>
              <a:t>făcută</a:t>
            </a:r>
            <a:r>
              <a:rPr dirty="0"/>
              <a:t> </a:t>
            </a:r>
            <a:r>
              <a:rPr dirty="0" err="1"/>
              <a:t>în</a:t>
            </a:r>
            <a:r>
              <a:rPr dirty="0"/>
              <a:t> </a:t>
            </a:r>
            <a:r>
              <a:rPr dirty="0" err="1"/>
              <a:t>sistemul</a:t>
            </a:r>
            <a:r>
              <a:rPr dirty="0"/>
              <a:t> </a:t>
            </a:r>
            <a:r>
              <a:rPr dirty="0" err="1"/>
              <a:t>nostru</a:t>
            </a:r>
            <a:r>
              <a:rPr dirty="0"/>
              <a:t> de </a:t>
            </a:r>
            <a:r>
              <a:rPr dirty="0" err="1"/>
              <a:t>drept</a:t>
            </a:r>
            <a:r>
              <a:rPr dirty="0"/>
              <a:t> conform </a:t>
            </a:r>
            <a:r>
              <a:rPr dirty="0" err="1"/>
              <a:t>prevederilor</a:t>
            </a:r>
            <a:r>
              <a:rPr dirty="0"/>
              <a:t> </a:t>
            </a:r>
            <a:r>
              <a:rPr dirty="0" err="1"/>
              <a:t>legale</a:t>
            </a:r>
            <a:r>
              <a:rPr dirty="0"/>
              <a:t> </a:t>
            </a:r>
            <a:r>
              <a:rPr dirty="0" err="1"/>
              <a:t>printr</a:t>
            </a:r>
            <a:r>
              <a:rPr dirty="0"/>
              <a:t>-un act </a:t>
            </a:r>
            <a:r>
              <a:rPr dirty="0" err="1"/>
              <a:t>normativ</a:t>
            </a:r>
            <a:r>
              <a:rPr dirty="0"/>
              <a:t> al </a:t>
            </a:r>
            <a:r>
              <a:rPr dirty="0" err="1"/>
              <a:t>parlamentului</a:t>
            </a:r>
            <a:r>
              <a:rPr dirty="0"/>
              <a:t>, </a:t>
            </a:r>
            <a:r>
              <a:rPr dirty="0" err="1"/>
              <a:t>printr</a:t>
            </a:r>
            <a:r>
              <a:rPr dirty="0"/>
              <a:t>-o </a:t>
            </a:r>
            <a:r>
              <a:rPr dirty="0" err="1"/>
              <a:t>lege</a:t>
            </a:r>
            <a:r>
              <a:rPr dirty="0"/>
              <a:t>. </a:t>
            </a:r>
          </a:p>
          <a:p>
            <a:pPr marL="0" indent="0" algn="just" defTabSz="868680">
              <a:lnSpc>
                <a:spcPct val="90000"/>
              </a:lnSpc>
              <a:buSzTx/>
              <a:buNone/>
              <a:defRPr sz="2090"/>
            </a:pPr>
            <a:endParaRPr dirty="0"/>
          </a:p>
          <a:p>
            <a:pPr marL="0" indent="0" algn="just" defTabSz="868680">
              <a:lnSpc>
                <a:spcPct val="90000"/>
              </a:lnSpc>
              <a:spcBef>
                <a:spcPts val="500"/>
              </a:spcBef>
              <a:buSzTx/>
              <a:buNone/>
              <a:defRPr sz="2090"/>
            </a:pPr>
            <a:r>
              <a:rPr dirty="0"/>
              <a:t>	</a:t>
            </a:r>
            <a:r>
              <a:rPr dirty="0" err="1"/>
              <a:t>Interpretarea</a:t>
            </a:r>
            <a:r>
              <a:rPr dirty="0"/>
              <a:t> </a:t>
            </a:r>
            <a:r>
              <a:rPr u="sng" dirty="0" err="1"/>
              <a:t>cazuală</a:t>
            </a:r>
            <a:r>
              <a:rPr dirty="0"/>
              <a:t> </a:t>
            </a:r>
            <a:r>
              <a:rPr dirty="0" err="1"/>
              <a:t>intervine</a:t>
            </a:r>
            <a:r>
              <a:rPr dirty="0"/>
              <a:t> cu </a:t>
            </a:r>
            <a:r>
              <a:rPr dirty="0" err="1"/>
              <a:t>prilejul</a:t>
            </a:r>
            <a:r>
              <a:rPr dirty="0"/>
              <a:t> </a:t>
            </a:r>
            <a:r>
              <a:rPr dirty="0" err="1"/>
              <a:t>soluţionării</a:t>
            </a:r>
            <a:r>
              <a:rPr dirty="0"/>
              <a:t> </a:t>
            </a:r>
            <a:r>
              <a:rPr dirty="0" err="1"/>
              <a:t>unor</a:t>
            </a:r>
            <a:r>
              <a:rPr dirty="0"/>
              <a:t> </a:t>
            </a:r>
            <a:r>
              <a:rPr dirty="0" err="1"/>
              <a:t>cazuri</a:t>
            </a:r>
            <a:r>
              <a:rPr dirty="0"/>
              <a:t> concrete </a:t>
            </a:r>
            <a:r>
              <a:rPr dirty="0" err="1"/>
              <a:t>şi</a:t>
            </a:r>
            <a:r>
              <a:rPr dirty="0"/>
              <a:t> are </a:t>
            </a:r>
            <a:r>
              <a:rPr dirty="0" err="1"/>
              <a:t>putere</a:t>
            </a:r>
            <a:r>
              <a:rPr dirty="0"/>
              <a:t>/</a:t>
            </a:r>
            <a:r>
              <a:rPr dirty="0" err="1"/>
              <a:t>forţă</a:t>
            </a:r>
            <a:r>
              <a:rPr dirty="0"/>
              <a:t> </a:t>
            </a:r>
            <a:r>
              <a:rPr dirty="0" err="1"/>
              <a:t>juridică</a:t>
            </a:r>
            <a:r>
              <a:rPr dirty="0"/>
              <a:t> </a:t>
            </a:r>
            <a:r>
              <a:rPr dirty="0" err="1"/>
              <a:t>numai</a:t>
            </a:r>
            <a:r>
              <a:rPr dirty="0"/>
              <a:t> </a:t>
            </a:r>
            <a:r>
              <a:rPr dirty="0" err="1"/>
              <a:t>speţa</a:t>
            </a:r>
            <a:r>
              <a:rPr dirty="0"/>
              <a:t>/</a:t>
            </a:r>
            <a:r>
              <a:rPr dirty="0" err="1"/>
              <a:t>cauza</a:t>
            </a:r>
            <a:r>
              <a:rPr dirty="0"/>
              <a:t> </a:t>
            </a:r>
            <a:r>
              <a:rPr dirty="0" err="1"/>
              <a:t>respectivă</a:t>
            </a:r>
            <a:r>
              <a:rPr dirty="0"/>
              <a:t>. Nu se </a:t>
            </a:r>
            <a:r>
              <a:rPr dirty="0" err="1"/>
              <a:t>materializează</a:t>
            </a:r>
            <a:r>
              <a:rPr dirty="0"/>
              <a:t> </a:t>
            </a:r>
            <a:r>
              <a:rPr dirty="0" err="1"/>
              <a:t>într</a:t>
            </a:r>
            <a:r>
              <a:rPr dirty="0"/>
              <a:t>-un act de sine </a:t>
            </a:r>
            <a:r>
              <a:rPr dirty="0" err="1"/>
              <a:t>stătător</a:t>
            </a:r>
            <a:r>
              <a:rPr dirty="0"/>
              <a:t>, ci </a:t>
            </a:r>
            <a:r>
              <a:rPr dirty="0" err="1"/>
              <a:t>reprezintă</a:t>
            </a:r>
            <a:r>
              <a:rPr dirty="0"/>
              <a:t> o </a:t>
            </a:r>
            <a:r>
              <a:rPr dirty="0" err="1"/>
              <a:t>operaţiune</a:t>
            </a:r>
            <a:r>
              <a:rPr dirty="0"/>
              <a:t> </a:t>
            </a:r>
            <a:r>
              <a:rPr dirty="0" err="1"/>
              <a:t>anterioară</a:t>
            </a:r>
            <a:r>
              <a:rPr dirty="0"/>
              <a:t> </a:t>
            </a:r>
            <a:r>
              <a:rPr dirty="0" err="1"/>
              <a:t>emiterii</a:t>
            </a:r>
            <a:r>
              <a:rPr dirty="0"/>
              <a:t> </a:t>
            </a:r>
            <a:r>
              <a:rPr dirty="0" err="1"/>
              <a:t>oricărui</a:t>
            </a:r>
            <a:r>
              <a:rPr dirty="0"/>
              <a:t> act de </a:t>
            </a:r>
            <a:r>
              <a:rPr dirty="0" err="1"/>
              <a:t>aplicare</a:t>
            </a:r>
            <a:r>
              <a:rPr dirty="0"/>
              <a:t>;</a:t>
            </a:r>
          </a:p>
          <a:p>
            <a:pPr marL="0" indent="0" algn="just" defTabSz="868680">
              <a:lnSpc>
                <a:spcPct val="90000"/>
              </a:lnSpc>
              <a:buSzTx/>
              <a:buNone/>
              <a:defRPr sz="2090"/>
            </a:pPr>
            <a:endParaRPr dirty="0"/>
          </a:p>
          <a:p>
            <a:pPr marL="0" indent="0" algn="just" defTabSz="868680">
              <a:lnSpc>
                <a:spcPct val="90000"/>
              </a:lnSpc>
              <a:spcBef>
                <a:spcPts val="500"/>
              </a:spcBef>
              <a:buSzTx/>
              <a:buNone/>
              <a:defRPr sz="2090"/>
            </a:pPr>
            <a:r>
              <a:rPr dirty="0"/>
              <a:t>b. </a:t>
            </a:r>
            <a:r>
              <a:rPr b="1" u="sng" dirty="0" err="1"/>
              <a:t>neoficială</a:t>
            </a:r>
            <a:r>
              <a:rPr dirty="0"/>
              <a:t>: </a:t>
            </a:r>
            <a:r>
              <a:rPr dirty="0" err="1"/>
              <a:t>provine</a:t>
            </a:r>
            <a:r>
              <a:rPr dirty="0"/>
              <a:t> de la </a:t>
            </a:r>
            <a:r>
              <a:rPr dirty="0" err="1"/>
              <a:t>persoane</a:t>
            </a:r>
            <a:r>
              <a:rPr dirty="0"/>
              <a:t> </a:t>
            </a:r>
            <a:r>
              <a:rPr dirty="0" err="1"/>
              <a:t>neoficiale</a:t>
            </a:r>
            <a:r>
              <a:rPr dirty="0"/>
              <a:t>, </a:t>
            </a:r>
            <a:r>
              <a:rPr dirty="0" err="1"/>
              <a:t>specialişti</a:t>
            </a:r>
            <a:r>
              <a:rPr dirty="0"/>
              <a:t> in </a:t>
            </a:r>
            <a:r>
              <a:rPr dirty="0" err="1"/>
              <a:t>drept</a:t>
            </a:r>
            <a:r>
              <a:rPr dirty="0"/>
              <a:t>.</a:t>
            </a:r>
          </a:p>
        </p:txBody>
      </p:sp>
    </p:spTree>
  </p:cSld>
  <p:clrMapOvr>
    <a:masterClrMapping/>
  </p:clrMapOvr>
  <p:transition spd="med"/>
</p:sld>
</file>

<file path=ppt/theme/theme1.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8EABA703E5C824688E1676C4A83AB9C" ma:contentTypeVersion="4" ma:contentTypeDescription="Create a new document." ma:contentTypeScope="" ma:versionID="71b6184f84456cf794eb81e760cc40f4">
  <xsd:schema xmlns:xsd="http://www.w3.org/2001/XMLSchema" xmlns:xs="http://www.w3.org/2001/XMLSchema" xmlns:p="http://schemas.microsoft.com/office/2006/metadata/properties" xmlns:ns2="823061f9-d6e3-4a4e-893e-82c7df226277" targetNamespace="http://schemas.microsoft.com/office/2006/metadata/properties" ma:root="true" ma:fieldsID="16d90c358c6367961af33bf7698ac7a7" ns2:_="">
    <xsd:import namespace="823061f9-d6e3-4a4e-893e-82c7df226277"/>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23061f9-d6e3-4a4e-893e-82c7df22627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49CFFE43-04EF-4EA3-9EEE-1A36D02E2929}"/>
</file>

<file path=customXml/itemProps2.xml><?xml version="1.0" encoding="utf-8"?>
<ds:datastoreItem xmlns:ds="http://schemas.openxmlformats.org/officeDocument/2006/customXml" ds:itemID="{437FAC09-55A8-48CB-A596-C10EE9514A12}"/>
</file>

<file path=customXml/itemProps3.xml><?xml version="1.0" encoding="utf-8"?>
<ds:datastoreItem xmlns:ds="http://schemas.openxmlformats.org/officeDocument/2006/customXml" ds:itemID="{F4441167-3431-44CE-BBCE-83A5AA30F592}"/>
</file>

<file path=docProps/app.xml><?xml version="1.0" encoding="utf-8"?>
<Properties xmlns="http://schemas.openxmlformats.org/officeDocument/2006/extended-properties" xmlns:vt="http://schemas.openxmlformats.org/officeDocument/2006/docPropsVTypes">
  <TotalTime>36</TotalTime>
  <Words>2143</Words>
  <Application>Microsoft Office PowerPoint</Application>
  <PresentationFormat>On-screen Show (4:3)</PresentationFormat>
  <Paragraphs>173</Paragraphs>
  <Slides>18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Helvetica</vt:lpstr>
      <vt:lpstr>Office Theme</vt:lpstr>
      <vt:lpstr>DREPT</vt:lpstr>
      <vt:lpstr>Diviziunile dreptului</vt:lpstr>
      <vt:lpstr>Sistemul dreptului român</vt:lpstr>
      <vt:lpstr>Ramuri ale dreptului român</vt:lpstr>
      <vt:lpstr>DREPTUL CIVIL</vt:lpstr>
      <vt:lpstr>DREPTUL CIVIL Raportul juridic patrimonial</vt:lpstr>
      <vt:lpstr>DREPTUL CIVIL Raportul juridic NEpatrimonial</vt:lpstr>
      <vt:lpstr>DREPTUL CIVIL Principiile dreptului civil</vt:lpstr>
      <vt:lpstr>NORMA JURIDICĂ</vt:lpstr>
      <vt:lpstr>NORMA JURIDICĂ</vt:lpstr>
      <vt:lpstr>NORMA JURIDICĂ. Clasificarea normelor juridice</vt:lpstr>
      <vt:lpstr>NORMA JURIDICĂ Clasificarea normelor juridice</vt:lpstr>
      <vt:lpstr>NORMA JURIDICĂ Aplicarea normelor juridice</vt:lpstr>
      <vt:lpstr>NORMA JURIDICĂ Aplicarea normelor juridice</vt:lpstr>
      <vt:lpstr>NORMA JURIDICĂ Aplicarea normelor juridice</vt:lpstr>
      <vt:lpstr>NORMA JURIDICĂ Aplicarea normelor juridice</vt:lpstr>
      <vt:lpstr>NORMA JURIDICĂ</vt:lpstr>
      <vt:lpstr>NORMA JURIDICĂ Interpretarea normelor de drept civil</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Drept</dc:title>
  <dc:creator>Utilizator</dc:creator>
  <cp:lastModifiedBy>Cosmin</cp:lastModifiedBy>
  <cp:revision>18</cp:revision>
  <dcterms:modified xsi:type="dcterms:W3CDTF">2024-12-19T16:30:59Z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0x01010078EABA703E5C824688E1676C4A83AB9C</vt:lpwstr>
  </property>
</Properties>
</file>